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Liter" panose="020B0604020202020204" charset="0"/>
      <p:regular r:id="rId20"/>
    </p:embeddedFont>
    <p:embeddedFont>
      <p:font typeface="Quattrocento Sans" panose="020B0502050000020003" pitchFamily="34" charset="0"/>
      <p:regular r:id="rId21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329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6644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260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803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17689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0704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4796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9796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9586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39028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0078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3949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94437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52514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99793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2159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61102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06890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7728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1418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057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60a6d54597b5224fc8783cfc135c416523ade08b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202" r="20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596265"/>
            <a:ext cx="2179320" cy="388620"/>
          </a:xfrm>
          <a:custGeom>
            <a:avLst/>
            <a:gdLst/>
            <a:ahLst/>
            <a:cxnLst/>
            <a:rect l="l" t="t" r="r" b="b"/>
            <a:pathLst>
              <a:path w="2179320" h="388620">
                <a:moveTo>
                  <a:pt x="38100" y="0"/>
                </a:moveTo>
                <a:lnTo>
                  <a:pt x="2141220" y="0"/>
                </a:lnTo>
                <a:cubicBezTo>
                  <a:pt x="2162262" y="0"/>
                  <a:pt x="2179320" y="17058"/>
                  <a:pt x="2179320" y="38100"/>
                </a:cubicBezTo>
                <a:lnTo>
                  <a:pt x="2179320" y="350520"/>
                </a:lnTo>
                <a:cubicBezTo>
                  <a:pt x="2179320" y="371562"/>
                  <a:pt x="2162262" y="388620"/>
                  <a:pt x="2141220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4902"/>
            </a:srgbClr>
          </a:solidFill>
          <a:ln w="10160">
            <a:solidFill>
              <a:srgbClr val="3D8F8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721995"/>
            <a:ext cx="18561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Hackathon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93495"/>
            <a:ext cx="49911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Causal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Reasoning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4149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84395"/>
            <a:ext cx="4648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Enhancing LLM Reasoning Through Structured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Extraction and Verification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88454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04825" y="599884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1" name="Text 8"/>
          <p:cNvSpPr/>
          <p:nvPr/>
        </p:nvSpPr>
        <p:spPr>
          <a:xfrm>
            <a:off x="876300" y="5960745"/>
            <a:ext cx="40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669613" y="588454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783913" y="599884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4" name="Text 11"/>
          <p:cNvSpPr/>
          <p:nvPr/>
        </p:nvSpPr>
        <p:spPr>
          <a:xfrm>
            <a:off x="2164913" y="5960745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Systems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911" y="359911"/>
            <a:ext cx="53987" cy="359911"/>
          </a:xfrm>
          <a:custGeom>
            <a:avLst/>
            <a:gdLst/>
            <a:ahLst/>
            <a:cxnLst/>
            <a:rect l="l" t="t" r="r" b="b"/>
            <a:pathLst>
              <a:path w="53987" h="359911">
                <a:moveTo>
                  <a:pt x="26993" y="0"/>
                </a:moveTo>
                <a:lnTo>
                  <a:pt x="26993" y="0"/>
                </a:lnTo>
                <a:cubicBezTo>
                  <a:pt x="41891" y="0"/>
                  <a:pt x="53987" y="12095"/>
                  <a:pt x="53987" y="26993"/>
                </a:cubicBezTo>
                <a:lnTo>
                  <a:pt x="53987" y="332918"/>
                </a:lnTo>
                <a:cubicBezTo>
                  <a:pt x="53987" y="347826"/>
                  <a:pt x="41901" y="359911"/>
                  <a:pt x="26993" y="359911"/>
                </a:cubicBezTo>
                <a:lnTo>
                  <a:pt x="26993" y="359911"/>
                </a:lnTo>
                <a:cubicBezTo>
                  <a:pt x="12085" y="359911"/>
                  <a:pt x="0" y="347826"/>
                  <a:pt x="0" y="332918"/>
                </a:cubicBezTo>
                <a:lnTo>
                  <a:pt x="0" y="26993"/>
                </a:lnTo>
                <a:cubicBezTo>
                  <a:pt x="0" y="12095"/>
                  <a:pt x="12095" y="0"/>
                  <a:pt x="26993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" name="Text 1"/>
          <p:cNvSpPr/>
          <p:nvPr/>
        </p:nvSpPr>
        <p:spPr>
          <a:xfrm>
            <a:off x="521872" y="359911"/>
            <a:ext cx="3995017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Fundamental Question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5858" y="791805"/>
            <a:ext cx="11346208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LLMs Really Think?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7907" y="1151717"/>
            <a:ext cx="6613373" cy="2123477"/>
          </a:xfrm>
          <a:custGeom>
            <a:avLst/>
            <a:gdLst/>
            <a:ahLst/>
            <a:cxnLst/>
            <a:rect l="l" t="t" r="r" b="b"/>
            <a:pathLst>
              <a:path w="6613373" h="2123477">
                <a:moveTo>
                  <a:pt x="0" y="0"/>
                </a:moveTo>
                <a:lnTo>
                  <a:pt x="6541387" y="0"/>
                </a:lnTo>
                <a:cubicBezTo>
                  <a:pt x="6581144" y="0"/>
                  <a:pt x="6613373" y="32229"/>
                  <a:pt x="6613373" y="71986"/>
                </a:cubicBezTo>
                <a:lnTo>
                  <a:pt x="6613373" y="2051492"/>
                </a:lnTo>
                <a:cubicBezTo>
                  <a:pt x="6613373" y="2091248"/>
                  <a:pt x="6581144" y="2123477"/>
                  <a:pt x="6541387" y="2123477"/>
                </a:cubicBezTo>
                <a:lnTo>
                  <a:pt x="0" y="2123477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6" name="Shape 4"/>
          <p:cNvSpPr/>
          <p:nvPr/>
        </p:nvSpPr>
        <p:spPr>
          <a:xfrm>
            <a:off x="377907" y="1151717"/>
            <a:ext cx="35991" cy="2123477"/>
          </a:xfrm>
          <a:custGeom>
            <a:avLst/>
            <a:gdLst/>
            <a:ahLst/>
            <a:cxnLst/>
            <a:rect l="l" t="t" r="r" b="b"/>
            <a:pathLst>
              <a:path w="35991" h="2123477">
                <a:moveTo>
                  <a:pt x="0" y="0"/>
                </a:moveTo>
                <a:lnTo>
                  <a:pt x="35991" y="0"/>
                </a:lnTo>
                <a:lnTo>
                  <a:pt x="35991" y="2123477"/>
                </a:lnTo>
                <a:lnTo>
                  <a:pt x="0" y="2123477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562362" y="1331672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42177" y="19683"/>
                </a:moveTo>
                <a:cubicBezTo>
                  <a:pt x="42177" y="8822"/>
                  <a:pt x="50999" y="0"/>
                  <a:pt x="61860" y="0"/>
                </a:cubicBezTo>
                <a:lnTo>
                  <a:pt x="70295" y="0"/>
                </a:lnTo>
                <a:cubicBezTo>
                  <a:pt x="76516" y="0"/>
                  <a:pt x="81542" y="5026"/>
                  <a:pt x="81542" y="11247"/>
                </a:cubicBezTo>
                <a:lnTo>
                  <a:pt x="81542" y="168708"/>
                </a:lnTo>
                <a:cubicBezTo>
                  <a:pt x="81542" y="174930"/>
                  <a:pt x="76516" y="179956"/>
                  <a:pt x="70295" y="179956"/>
                </a:cubicBezTo>
                <a:lnTo>
                  <a:pt x="59048" y="179956"/>
                </a:lnTo>
                <a:cubicBezTo>
                  <a:pt x="48574" y="179956"/>
                  <a:pt x="39752" y="172786"/>
                  <a:pt x="37256" y="163085"/>
                </a:cubicBezTo>
                <a:cubicBezTo>
                  <a:pt x="37010" y="163085"/>
                  <a:pt x="36800" y="163085"/>
                  <a:pt x="36554" y="163085"/>
                </a:cubicBezTo>
                <a:cubicBezTo>
                  <a:pt x="21018" y="163085"/>
                  <a:pt x="8435" y="150502"/>
                  <a:pt x="8435" y="134967"/>
                </a:cubicBezTo>
                <a:cubicBezTo>
                  <a:pt x="8435" y="128640"/>
                  <a:pt x="10544" y="122806"/>
                  <a:pt x="14059" y="118096"/>
                </a:cubicBezTo>
                <a:cubicBezTo>
                  <a:pt x="7240" y="112964"/>
                  <a:pt x="2812" y="104810"/>
                  <a:pt x="2812" y="95601"/>
                </a:cubicBezTo>
                <a:cubicBezTo>
                  <a:pt x="2812" y="84741"/>
                  <a:pt x="8998" y="75286"/>
                  <a:pt x="17996" y="70612"/>
                </a:cubicBezTo>
                <a:cubicBezTo>
                  <a:pt x="15500" y="66394"/>
                  <a:pt x="14059" y="61473"/>
                  <a:pt x="14059" y="56236"/>
                </a:cubicBezTo>
                <a:cubicBezTo>
                  <a:pt x="14059" y="40701"/>
                  <a:pt x="26642" y="28118"/>
                  <a:pt x="42177" y="28118"/>
                </a:cubicBezTo>
                <a:lnTo>
                  <a:pt x="42177" y="19683"/>
                </a:lnTo>
                <a:close/>
                <a:moveTo>
                  <a:pt x="137779" y="19683"/>
                </a:moveTo>
                <a:lnTo>
                  <a:pt x="137779" y="28118"/>
                </a:lnTo>
                <a:cubicBezTo>
                  <a:pt x="153314" y="28118"/>
                  <a:pt x="165897" y="40701"/>
                  <a:pt x="165897" y="56236"/>
                </a:cubicBezTo>
                <a:cubicBezTo>
                  <a:pt x="165897" y="61508"/>
                  <a:pt x="164456" y="66429"/>
                  <a:pt x="161960" y="70612"/>
                </a:cubicBezTo>
                <a:cubicBezTo>
                  <a:pt x="170993" y="75286"/>
                  <a:pt x="177144" y="84706"/>
                  <a:pt x="177144" y="95601"/>
                </a:cubicBezTo>
                <a:cubicBezTo>
                  <a:pt x="177144" y="104810"/>
                  <a:pt x="172715" y="112964"/>
                  <a:pt x="165897" y="118096"/>
                </a:cubicBezTo>
                <a:cubicBezTo>
                  <a:pt x="169411" y="122806"/>
                  <a:pt x="171520" y="128640"/>
                  <a:pt x="171520" y="134967"/>
                </a:cubicBezTo>
                <a:cubicBezTo>
                  <a:pt x="171520" y="150502"/>
                  <a:pt x="158937" y="163085"/>
                  <a:pt x="143402" y="163085"/>
                </a:cubicBezTo>
                <a:cubicBezTo>
                  <a:pt x="143156" y="163085"/>
                  <a:pt x="142945" y="163085"/>
                  <a:pt x="142699" y="163085"/>
                </a:cubicBezTo>
                <a:cubicBezTo>
                  <a:pt x="140204" y="172786"/>
                  <a:pt x="131382" y="179956"/>
                  <a:pt x="120908" y="179956"/>
                </a:cubicBezTo>
                <a:lnTo>
                  <a:pt x="109661" y="179956"/>
                </a:lnTo>
                <a:cubicBezTo>
                  <a:pt x="103439" y="179956"/>
                  <a:pt x="98413" y="174930"/>
                  <a:pt x="98413" y="168708"/>
                </a:cubicBezTo>
                <a:lnTo>
                  <a:pt x="98413" y="11247"/>
                </a:lnTo>
                <a:cubicBezTo>
                  <a:pt x="98413" y="5026"/>
                  <a:pt x="103439" y="0"/>
                  <a:pt x="109661" y="0"/>
                </a:cubicBezTo>
                <a:lnTo>
                  <a:pt x="118096" y="0"/>
                </a:lnTo>
                <a:cubicBezTo>
                  <a:pt x="128957" y="0"/>
                  <a:pt x="137779" y="8822"/>
                  <a:pt x="137779" y="1968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" name="Text 6"/>
          <p:cNvSpPr/>
          <p:nvPr/>
        </p:nvSpPr>
        <p:spPr>
          <a:xfrm>
            <a:off x="764812" y="1295681"/>
            <a:ext cx="617248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vs. Understanding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867" y="1655593"/>
            <a:ext cx="6379430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Language Models are sophisticated probabilistic systems, not thinking entities.</a:t>
            </a:r>
            <a:r>
              <a:rPr lang="en-US" sz="1134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They predict the next token based on statistical patterns, simulating reasoning without possessing true understanding.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867" y="2231451"/>
            <a:ext cx="3095238" cy="899779"/>
          </a:xfrm>
          <a:custGeom>
            <a:avLst/>
            <a:gdLst/>
            <a:ahLst/>
            <a:cxnLst/>
            <a:rect l="l" t="t" r="r" b="b"/>
            <a:pathLst>
              <a:path w="3095238" h="899779">
                <a:moveTo>
                  <a:pt x="71982" y="0"/>
                </a:moveTo>
                <a:lnTo>
                  <a:pt x="3023256" y="0"/>
                </a:lnTo>
                <a:cubicBezTo>
                  <a:pt x="3063011" y="0"/>
                  <a:pt x="3095238" y="32228"/>
                  <a:pt x="3095238" y="71982"/>
                </a:cubicBezTo>
                <a:lnTo>
                  <a:pt x="3095238" y="827796"/>
                </a:lnTo>
                <a:cubicBezTo>
                  <a:pt x="3095238" y="867551"/>
                  <a:pt x="3063011" y="899779"/>
                  <a:pt x="3023256" y="899779"/>
                </a:cubicBezTo>
                <a:lnTo>
                  <a:pt x="71982" y="899779"/>
                </a:lnTo>
                <a:cubicBezTo>
                  <a:pt x="32228" y="899779"/>
                  <a:pt x="0" y="867551"/>
                  <a:pt x="0" y="827796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47841" y="2339424"/>
            <a:ext cx="2942276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kern="0" spc="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LLMs 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841" y="2555371"/>
            <a:ext cx="296027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Matching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841" y="2843300"/>
            <a:ext cx="2942276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 text to probability distributions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47015" y="2231451"/>
            <a:ext cx="3095238" cy="899779"/>
          </a:xfrm>
          <a:custGeom>
            <a:avLst/>
            <a:gdLst/>
            <a:ahLst/>
            <a:cxnLst/>
            <a:rect l="l" t="t" r="r" b="b"/>
            <a:pathLst>
              <a:path w="3095238" h="899779">
                <a:moveTo>
                  <a:pt x="71982" y="0"/>
                </a:moveTo>
                <a:lnTo>
                  <a:pt x="3023256" y="0"/>
                </a:lnTo>
                <a:cubicBezTo>
                  <a:pt x="3063011" y="0"/>
                  <a:pt x="3095238" y="32228"/>
                  <a:pt x="3095238" y="71982"/>
                </a:cubicBezTo>
                <a:lnTo>
                  <a:pt x="3095238" y="827796"/>
                </a:lnTo>
                <a:cubicBezTo>
                  <a:pt x="3095238" y="867551"/>
                  <a:pt x="3063011" y="899779"/>
                  <a:pt x="3023256" y="899779"/>
                </a:cubicBezTo>
                <a:lnTo>
                  <a:pt x="71982" y="899779"/>
                </a:lnTo>
                <a:cubicBezTo>
                  <a:pt x="32228" y="899779"/>
                  <a:pt x="0" y="867551"/>
                  <a:pt x="0" y="827796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3854989" y="2339424"/>
            <a:ext cx="2942276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kern="0" spc="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They Don't 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54989" y="2555371"/>
            <a:ext cx="296027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Reasoning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54989" y="2843300"/>
            <a:ext cx="2942276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internal models of reality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7907" y="3383168"/>
            <a:ext cx="6613373" cy="2087486"/>
          </a:xfrm>
          <a:custGeom>
            <a:avLst/>
            <a:gdLst/>
            <a:ahLst/>
            <a:cxnLst/>
            <a:rect l="l" t="t" r="r" b="b"/>
            <a:pathLst>
              <a:path w="6613373" h="2087486">
                <a:moveTo>
                  <a:pt x="0" y="0"/>
                </a:moveTo>
                <a:lnTo>
                  <a:pt x="6541396" y="0"/>
                </a:lnTo>
                <a:cubicBezTo>
                  <a:pt x="6581148" y="0"/>
                  <a:pt x="6613373" y="32225"/>
                  <a:pt x="6613373" y="71977"/>
                </a:cubicBezTo>
                <a:lnTo>
                  <a:pt x="6613373" y="2015510"/>
                </a:lnTo>
                <a:cubicBezTo>
                  <a:pt x="6613373" y="2055261"/>
                  <a:pt x="6581148" y="2087486"/>
                  <a:pt x="6541396" y="2087486"/>
                </a:cubicBezTo>
                <a:lnTo>
                  <a:pt x="0" y="2087486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19" name="Shape 17"/>
          <p:cNvSpPr/>
          <p:nvPr/>
        </p:nvSpPr>
        <p:spPr>
          <a:xfrm>
            <a:off x="377907" y="3383168"/>
            <a:ext cx="35991" cy="2087486"/>
          </a:xfrm>
          <a:custGeom>
            <a:avLst/>
            <a:gdLst/>
            <a:ahLst/>
            <a:cxnLst/>
            <a:rect l="l" t="t" r="r" b="b"/>
            <a:pathLst>
              <a:path w="35991" h="2087486">
                <a:moveTo>
                  <a:pt x="0" y="0"/>
                </a:moveTo>
                <a:lnTo>
                  <a:pt x="35991" y="0"/>
                </a:lnTo>
                <a:lnTo>
                  <a:pt x="35991" y="2087486"/>
                </a:lnTo>
                <a:lnTo>
                  <a:pt x="0" y="2087486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0" name="Shape 18"/>
          <p:cNvSpPr/>
          <p:nvPr/>
        </p:nvSpPr>
        <p:spPr>
          <a:xfrm>
            <a:off x="562362" y="3563123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22494" y="22494"/>
                </a:moveTo>
                <a:cubicBezTo>
                  <a:pt x="22494" y="16273"/>
                  <a:pt x="17468" y="11247"/>
                  <a:pt x="11247" y="11247"/>
                </a:cubicBezTo>
                <a:cubicBezTo>
                  <a:pt x="5026" y="11247"/>
                  <a:pt x="0" y="16273"/>
                  <a:pt x="0" y="22494"/>
                </a:cubicBezTo>
                <a:lnTo>
                  <a:pt x="0" y="140590"/>
                </a:lnTo>
                <a:cubicBezTo>
                  <a:pt x="0" y="156126"/>
                  <a:pt x="12583" y="168708"/>
                  <a:pt x="28118" y="168708"/>
                </a:cubicBezTo>
                <a:lnTo>
                  <a:pt x="168708" y="168708"/>
                </a:lnTo>
                <a:cubicBezTo>
                  <a:pt x="174930" y="168708"/>
                  <a:pt x="179956" y="163682"/>
                  <a:pt x="179956" y="157461"/>
                </a:cubicBezTo>
                <a:cubicBezTo>
                  <a:pt x="179956" y="151240"/>
                  <a:pt x="174930" y="146214"/>
                  <a:pt x="168708" y="146214"/>
                </a:cubicBezTo>
                <a:lnTo>
                  <a:pt x="28118" y="146214"/>
                </a:lnTo>
                <a:cubicBezTo>
                  <a:pt x="25025" y="146214"/>
                  <a:pt x="22494" y="143683"/>
                  <a:pt x="22494" y="140590"/>
                </a:cubicBezTo>
                <a:lnTo>
                  <a:pt x="22494" y="22494"/>
                </a:lnTo>
                <a:close/>
                <a:moveTo>
                  <a:pt x="165405" y="52932"/>
                </a:moveTo>
                <a:cubicBezTo>
                  <a:pt x="169798" y="48539"/>
                  <a:pt x="169798" y="41404"/>
                  <a:pt x="165405" y="37010"/>
                </a:cubicBezTo>
                <a:cubicBezTo>
                  <a:pt x="161011" y="32617"/>
                  <a:pt x="153876" y="32617"/>
                  <a:pt x="149483" y="37010"/>
                </a:cubicBezTo>
                <a:lnTo>
                  <a:pt x="112472" y="74056"/>
                </a:lnTo>
                <a:lnTo>
                  <a:pt x="92298" y="53916"/>
                </a:lnTo>
                <a:cubicBezTo>
                  <a:pt x="87904" y="49523"/>
                  <a:pt x="80769" y="49523"/>
                  <a:pt x="76376" y="53916"/>
                </a:cubicBezTo>
                <a:lnTo>
                  <a:pt x="42634" y="87658"/>
                </a:lnTo>
                <a:cubicBezTo>
                  <a:pt x="38241" y="92052"/>
                  <a:pt x="38241" y="99187"/>
                  <a:pt x="42634" y="103580"/>
                </a:cubicBezTo>
                <a:cubicBezTo>
                  <a:pt x="47027" y="107973"/>
                  <a:pt x="54162" y="107973"/>
                  <a:pt x="58556" y="103580"/>
                </a:cubicBezTo>
                <a:lnTo>
                  <a:pt x="84354" y="77782"/>
                </a:lnTo>
                <a:lnTo>
                  <a:pt x="104529" y="97956"/>
                </a:lnTo>
                <a:cubicBezTo>
                  <a:pt x="108922" y="102350"/>
                  <a:pt x="116057" y="102350"/>
                  <a:pt x="120451" y="97956"/>
                </a:cubicBezTo>
                <a:lnTo>
                  <a:pt x="165440" y="52967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1" name="Text 19"/>
          <p:cNvSpPr/>
          <p:nvPr/>
        </p:nvSpPr>
        <p:spPr>
          <a:xfrm>
            <a:off x="764812" y="3527132"/>
            <a:ext cx="617248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Evidence from Controlled Studies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867" y="3887044"/>
            <a:ext cx="6379430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Reasoning traces improve easy tasks but collapse on harder ones:</a:t>
            </a:r>
            <a:r>
              <a:rPr lang="en-US" sz="113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Studies show longer explanations don't translate to durable gains as complexity rises.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867" y="4390920"/>
            <a:ext cx="6379430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Smaller models + better scaffolding can beat bigger ones:</a:t>
            </a:r>
            <a:r>
              <a:rPr lang="en-US" sz="113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Hierarchical prompting and feedback loops allow compact systems to match enormous models on reasoning tasks.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867" y="4894796"/>
            <a:ext cx="6379430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Struggle to separate belief from fact:</a:t>
            </a:r>
            <a:r>
              <a:rPr lang="en-US" sz="113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Evaluations across thousands of questions show inconsistent handling of knowledge versus opinion.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34120" y="1169712"/>
            <a:ext cx="4696844" cy="4300942"/>
          </a:xfrm>
          <a:custGeom>
            <a:avLst/>
            <a:gdLst/>
            <a:ahLst/>
            <a:cxnLst/>
            <a:rect l="l" t="t" r="r" b="b"/>
            <a:pathLst>
              <a:path w="4696844" h="4300942">
                <a:moveTo>
                  <a:pt x="0" y="0"/>
                </a:moveTo>
                <a:lnTo>
                  <a:pt x="4696844" y="0"/>
                </a:lnTo>
                <a:lnTo>
                  <a:pt x="4696844" y="4228944"/>
                </a:lnTo>
                <a:cubicBezTo>
                  <a:pt x="4696844" y="4268707"/>
                  <a:pt x="4664610" y="4300942"/>
                  <a:pt x="4624847" y="4300942"/>
                </a:cubicBezTo>
                <a:lnTo>
                  <a:pt x="71998" y="4300942"/>
                </a:lnTo>
                <a:cubicBezTo>
                  <a:pt x="32234" y="4300942"/>
                  <a:pt x="0" y="4268707"/>
                  <a:pt x="0" y="4228944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4120" y="1169712"/>
            <a:ext cx="4696844" cy="35991"/>
          </a:xfrm>
          <a:custGeom>
            <a:avLst/>
            <a:gdLst/>
            <a:ahLst/>
            <a:cxnLst/>
            <a:rect l="l" t="t" r="r" b="b"/>
            <a:pathLst>
              <a:path w="4696844" h="35991">
                <a:moveTo>
                  <a:pt x="0" y="0"/>
                </a:moveTo>
                <a:lnTo>
                  <a:pt x="4696844" y="0"/>
                </a:lnTo>
                <a:lnTo>
                  <a:pt x="4696844" y="35991"/>
                </a:lnTo>
                <a:lnTo>
                  <a:pt x="0" y="35991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7" name="Shape 25"/>
          <p:cNvSpPr/>
          <p:nvPr/>
        </p:nvSpPr>
        <p:spPr>
          <a:xfrm>
            <a:off x="7300579" y="1376661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>
                <a:moveTo>
                  <a:pt x="131593" y="65796"/>
                </a:moveTo>
                <a:cubicBezTo>
                  <a:pt x="131593" y="80316"/>
                  <a:pt x="126879" y="93728"/>
                  <a:pt x="118939" y="104610"/>
                </a:cubicBezTo>
                <a:lnTo>
                  <a:pt x="158987" y="144689"/>
                </a:lnTo>
                <a:cubicBezTo>
                  <a:pt x="162941" y="148643"/>
                  <a:pt x="162941" y="155064"/>
                  <a:pt x="158987" y="159018"/>
                </a:cubicBezTo>
                <a:cubicBezTo>
                  <a:pt x="155033" y="162972"/>
                  <a:pt x="148611" y="162972"/>
                  <a:pt x="144657" y="159018"/>
                </a:cubicBezTo>
                <a:lnTo>
                  <a:pt x="104610" y="118939"/>
                </a:lnTo>
                <a:cubicBezTo>
                  <a:pt x="93728" y="126879"/>
                  <a:pt x="80316" y="131593"/>
                  <a:pt x="65796" y="131593"/>
                </a:cubicBezTo>
                <a:cubicBezTo>
                  <a:pt x="29450" y="131593"/>
                  <a:pt x="0" y="102142"/>
                  <a:pt x="0" y="65796"/>
                </a:cubicBezTo>
                <a:cubicBezTo>
                  <a:pt x="0" y="29450"/>
                  <a:pt x="29450" y="0"/>
                  <a:pt x="65796" y="0"/>
                </a:cubicBezTo>
                <a:cubicBezTo>
                  <a:pt x="102142" y="0"/>
                  <a:pt x="131593" y="29450"/>
                  <a:pt x="131593" y="65796"/>
                </a:cubicBezTo>
                <a:close/>
                <a:moveTo>
                  <a:pt x="65796" y="111348"/>
                </a:moveTo>
                <a:cubicBezTo>
                  <a:pt x="90937" y="111348"/>
                  <a:pt x="111348" y="90937"/>
                  <a:pt x="111348" y="65796"/>
                </a:cubicBezTo>
                <a:cubicBezTo>
                  <a:pt x="111348" y="40656"/>
                  <a:pt x="90937" y="20245"/>
                  <a:pt x="65796" y="20245"/>
                </a:cubicBezTo>
                <a:cubicBezTo>
                  <a:pt x="40656" y="20245"/>
                  <a:pt x="20245" y="40656"/>
                  <a:pt x="20245" y="65796"/>
                </a:cubicBezTo>
                <a:cubicBezTo>
                  <a:pt x="20245" y="90937"/>
                  <a:pt x="40656" y="111348"/>
                  <a:pt x="65796" y="111348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8" name="Text 26"/>
          <p:cNvSpPr/>
          <p:nvPr/>
        </p:nvSpPr>
        <p:spPr>
          <a:xfrm>
            <a:off x="7485033" y="1331672"/>
            <a:ext cx="4282946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"Lost in the Middle" Phenomenon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78084" y="1655593"/>
            <a:ext cx="4480897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is highest when relevant information is at the </a:t>
            </a:r>
            <a:r>
              <a:rPr lang="en-US" sz="1134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beginning or end</a:t>
            </a:r>
            <a:r>
              <a:rPr lang="en-US" sz="113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context, but drops dramatically when it's in the </a:t>
            </a:r>
            <a:r>
              <a:rPr lang="en-US" sz="1134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middle</a:t>
            </a:r>
            <a:r>
              <a:rPr lang="en-US" sz="113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pic>
        <p:nvPicPr>
          <p:cNvPr id="30" name="Image 0" descr="https://kimi-img.moonshot.cn/pub/slides/26-01-17-07:37:31-d5lcnets8fbanqqjlcug.png"/>
          <p:cNvPicPr>
            <a:picLocks noChangeAspect="1"/>
          </p:cNvPicPr>
          <p:nvPr/>
        </p:nvPicPr>
        <p:blipFill>
          <a:blip r:embed="rId3"/>
          <a:srcRect t="65" b="65"/>
          <a:stretch/>
        </p:blipFill>
        <p:spPr>
          <a:xfrm>
            <a:off x="7278084" y="2195460"/>
            <a:ext cx="4129984" cy="2267442"/>
          </a:xfrm>
          <a:prstGeom prst="roundRect">
            <a:avLst>
              <a:gd name="adj" fmla="val 0"/>
            </a:avLst>
          </a:prstGeom>
        </p:spPr>
      </p:pic>
      <p:sp>
        <p:nvSpPr>
          <p:cNvPr id="31" name="Shape 28"/>
          <p:cNvSpPr/>
          <p:nvPr/>
        </p:nvSpPr>
        <p:spPr>
          <a:xfrm>
            <a:off x="7278084" y="4534884"/>
            <a:ext cx="4408915" cy="791805"/>
          </a:xfrm>
          <a:custGeom>
            <a:avLst/>
            <a:gdLst/>
            <a:ahLst/>
            <a:cxnLst/>
            <a:rect l="l" t="t" r="r" b="b"/>
            <a:pathLst>
              <a:path w="4408915" h="791805">
                <a:moveTo>
                  <a:pt x="71983" y="0"/>
                </a:moveTo>
                <a:lnTo>
                  <a:pt x="4336932" y="0"/>
                </a:lnTo>
                <a:cubicBezTo>
                  <a:pt x="4376687" y="0"/>
                  <a:pt x="4408915" y="32228"/>
                  <a:pt x="4408915" y="71983"/>
                </a:cubicBezTo>
                <a:lnTo>
                  <a:pt x="4408915" y="719822"/>
                </a:lnTo>
                <a:cubicBezTo>
                  <a:pt x="4408915" y="759577"/>
                  <a:pt x="4376687" y="791805"/>
                  <a:pt x="4336932" y="791805"/>
                </a:cubicBezTo>
                <a:lnTo>
                  <a:pt x="71983" y="791805"/>
                </a:lnTo>
                <a:cubicBezTo>
                  <a:pt x="32255" y="791805"/>
                  <a:pt x="0" y="759551"/>
                  <a:pt x="0" y="719822"/>
                </a:cubicBezTo>
                <a:lnTo>
                  <a:pt x="0" y="71983"/>
                </a:lnTo>
                <a:cubicBezTo>
                  <a:pt x="0" y="32228"/>
                  <a:pt x="32228" y="0"/>
                  <a:pt x="7198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2" name="Text 29"/>
          <p:cNvSpPr/>
          <p:nvPr/>
        </p:nvSpPr>
        <p:spPr>
          <a:xfrm>
            <a:off x="7350066" y="4606866"/>
            <a:ext cx="432793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kern="0" spc="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U-Shaped Curve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350066" y="4822813"/>
            <a:ext cx="433693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Primacy + Recency Bias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350066" y="5074751"/>
            <a:ext cx="432793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Middle context often hurts performance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77907" y="5578627"/>
            <a:ext cx="11454182" cy="683832"/>
          </a:xfrm>
          <a:custGeom>
            <a:avLst/>
            <a:gdLst/>
            <a:ahLst/>
            <a:cxnLst/>
            <a:rect l="l" t="t" r="r" b="b"/>
            <a:pathLst>
              <a:path w="11454182" h="683832">
                <a:moveTo>
                  <a:pt x="35991" y="0"/>
                </a:moveTo>
                <a:lnTo>
                  <a:pt x="11382201" y="0"/>
                </a:lnTo>
                <a:cubicBezTo>
                  <a:pt x="11421955" y="0"/>
                  <a:pt x="11454182" y="32227"/>
                  <a:pt x="11454182" y="71980"/>
                </a:cubicBezTo>
                <a:lnTo>
                  <a:pt x="11454182" y="611852"/>
                </a:lnTo>
                <a:cubicBezTo>
                  <a:pt x="11454182" y="651605"/>
                  <a:pt x="11421955" y="683832"/>
                  <a:pt x="11382201" y="683832"/>
                </a:cubicBezTo>
                <a:lnTo>
                  <a:pt x="35991" y="683832"/>
                </a:lnTo>
                <a:cubicBezTo>
                  <a:pt x="16114" y="683832"/>
                  <a:pt x="0" y="667718"/>
                  <a:pt x="0" y="64784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50000">
                <a:srgbClr val="C5A57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6" name="Shape 33"/>
          <p:cNvSpPr/>
          <p:nvPr/>
        </p:nvSpPr>
        <p:spPr>
          <a:xfrm>
            <a:off x="377907" y="5578627"/>
            <a:ext cx="35991" cy="683832"/>
          </a:xfrm>
          <a:custGeom>
            <a:avLst/>
            <a:gdLst/>
            <a:ahLst/>
            <a:cxnLst/>
            <a:rect l="l" t="t" r="r" b="b"/>
            <a:pathLst>
              <a:path w="35991" h="683832">
                <a:moveTo>
                  <a:pt x="35991" y="0"/>
                </a:moveTo>
                <a:lnTo>
                  <a:pt x="35991" y="0"/>
                </a:lnTo>
                <a:lnTo>
                  <a:pt x="35991" y="683832"/>
                </a:lnTo>
                <a:lnTo>
                  <a:pt x="35991" y="683832"/>
                </a:lnTo>
                <a:cubicBezTo>
                  <a:pt x="16114" y="683832"/>
                  <a:pt x="0" y="667718"/>
                  <a:pt x="0" y="64784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7" name="Shape 34"/>
          <p:cNvSpPr/>
          <p:nvPr/>
        </p:nvSpPr>
        <p:spPr>
          <a:xfrm>
            <a:off x="539867" y="5722592"/>
            <a:ext cx="107973" cy="143965"/>
          </a:xfrm>
          <a:custGeom>
            <a:avLst/>
            <a:gdLst/>
            <a:ahLst/>
            <a:cxnLst/>
            <a:rect l="l" t="t" r="r" b="b"/>
            <a:pathLst>
              <a:path w="107973" h="143965">
                <a:moveTo>
                  <a:pt x="82358" y="107973"/>
                </a:moveTo>
                <a:cubicBezTo>
                  <a:pt x="84410" y="101703"/>
                  <a:pt x="88516" y="96023"/>
                  <a:pt x="93155" y="91131"/>
                </a:cubicBezTo>
                <a:cubicBezTo>
                  <a:pt x="102350" y="81458"/>
                  <a:pt x="107973" y="68383"/>
                  <a:pt x="107973" y="53987"/>
                </a:cubicBezTo>
                <a:cubicBezTo>
                  <a:pt x="107973" y="24182"/>
                  <a:pt x="83792" y="0"/>
                  <a:pt x="53987" y="0"/>
                </a:cubicBezTo>
                <a:cubicBezTo>
                  <a:pt x="24182" y="0"/>
                  <a:pt x="0" y="24182"/>
                  <a:pt x="0" y="53987"/>
                </a:cubicBezTo>
                <a:cubicBezTo>
                  <a:pt x="0" y="68383"/>
                  <a:pt x="5624" y="81458"/>
                  <a:pt x="14818" y="91131"/>
                </a:cubicBezTo>
                <a:cubicBezTo>
                  <a:pt x="19458" y="96023"/>
                  <a:pt x="23591" y="101703"/>
                  <a:pt x="25616" y="107973"/>
                </a:cubicBezTo>
                <a:lnTo>
                  <a:pt x="82330" y="107973"/>
                </a:lnTo>
                <a:close/>
                <a:moveTo>
                  <a:pt x="80980" y="121470"/>
                </a:moveTo>
                <a:lnTo>
                  <a:pt x="26993" y="121470"/>
                </a:lnTo>
                <a:lnTo>
                  <a:pt x="26993" y="125969"/>
                </a:lnTo>
                <a:cubicBezTo>
                  <a:pt x="26993" y="138397"/>
                  <a:pt x="37060" y="148463"/>
                  <a:pt x="49488" y="148463"/>
                </a:cubicBezTo>
                <a:lnTo>
                  <a:pt x="58486" y="148463"/>
                </a:lnTo>
                <a:cubicBezTo>
                  <a:pt x="70914" y="148463"/>
                  <a:pt x="80980" y="138397"/>
                  <a:pt x="80980" y="125969"/>
                </a:cubicBezTo>
                <a:lnTo>
                  <a:pt x="80980" y="121470"/>
                </a:lnTo>
                <a:close/>
                <a:moveTo>
                  <a:pt x="51737" y="31492"/>
                </a:moveTo>
                <a:cubicBezTo>
                  <a:pt x="40546" y="31492"/>
                  <a:pt x="31492" y="40546"/>
                  <a:pt x="31492" y="51737"/>
                </a:cubicBezTo>
                <a:cubicBezTo>
                  <a:pt x="31492" y="55477"/>
                  <a:pt x="28484" y="58486"/>
                  <a:pt x="24744" y="58486"/>
                </a:cubicBezTo>
                <a:cubicBezTo>
                  <a:pt x="21004" y="58486"/>
                  <a:pt x="17996" y="55477"/>
                  <a:pt x="17996" y="51737"/>
                </a:cubicBezTo>
                <a:cubicBezTo>
                  <a:pt x="17996" y="33095"/>
                  <a:pt x="33095" y="17996"/>
                  <a:pt x="51737" y="17996"/>
                </a:cubicBezTo>
                <a:cubicBezTo>
                  <a:pt x="55477" y="17996"/>
                  <a:pt x="58486" y="21004"/>
                  <a:pt x="58486" y="24744"/>
                </a:cubicBezTo>
                <a:cubicBezTo>
                  <a:pt x="58486" y="28484"/>
                  <a:pt x="55477" y="31492"/>
                  <a:pt x="51737" y="31492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8" name="Text 35"/>
          <p:cNvSpPr/>
          <p:nvPr/>
        </p:nvSpPr>
        <p:spPr>
          <a:xfrm>
            <a:off x="734830" y="5686601"/>
            <a:ext cx="11061267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Insight:</a:t>
            </a:r>
            <a:r>
              <a:rPr lang="en-US" sz="1134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Recognizing these limitations allows us to deploy AI where it excels (pattern matching, drafting) while keeping humans responsible for truth and logic in high-stakes environments.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391" y="353391"/>
            <a:ext cx="53009" cy="353391"/>
          </a:xfrm>
          <a:custGeom>
            <a:avLst/>
            <a:gdLst/>
            <a:ahLst/>
            <a:cxnLst/>
            <a:rect l="l" t="t" r="r" b="b"/>
            <a:pathLst>
              <a:path w="53009" h="353391">
                <a:moveTo>
                  <a:pt x="26504" y="0"/>
                </a:moveTo>
                <a:lnTo>
                  <a:pt x="26504" y="0"/>
                </a:lnTo>
                <a:cubicBezTo>
                  <a:pt x="41132" y="0"/>
                  <a:pt x="53009" y="11876"/>
                  <a:pt x="53009" y="26504"/>
                </a:cubicBezTo>
                <a:lnTo>
                  <a:pt x="53009" y="326887"/>
                </a:lnTo>
                <a:cubicBezTo>
                  <a:pt x="53009" y="341525"/>
                  <a:pt x="41142" y="353391"/>
                  <a:pt x="26504" y="353391"/>
                </a:cubicBezTo>
                <a:lnTo>
                  <a:pt x="26504" y="353391"/>
                </a:lnTo>
                <a:cubicBezTo>
                  <a:pt x="11866" y="353391"/>
                  <a:pt x="0" y="341525"/>
                  <a:pt x="0" y="326887"/>
                </a:cubicBezTo>
                <a:lnTo>
                  <a:pt x="0" y="26504"/>
                </a:lnTo>
                <a:cubicBezTo>
                  <a:pt x="0" y="11876"/>
                  <a:pt x="11876" y="0"/>
                  <a:pt x="26504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" name="Text 1"/>
          <p:cNvSpPr/>
          <p:nvPr/>
        </p:nvSpPr>
        <p:spPr>
          <a:xfrm>
            <a:off x="512417" y="353391"/>
            <a:ext cx="6007652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 Models &amp; The Future of AI Learning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061" y="848139"/>
            <a:ext cx="5654261" cy="2438400"/>
          </a:xfrm>
          <a:custGeom>
            <a:avLst/>
            <a:gdLst/>
            <a:ahLst/>
            <a:cxnLst/>
            <a:rect l="l" t="t" r="r" b="b"/>
            <a:pathLst>
              <a:path w="5654261" h="2438400">
                <a:moveTo>
                  <a:pt x="0" y="0"/>
                </a:moveTo>
                <a:lnTo>
                  <a:pt x="5583572" y="0"/>
                </a:lnTo>
                <a:cubicBezTo>
                  <a:pt x="5622586" y="0"/>
                  <a:pt x="5654261" y="31675"/>
                  <a:pt x="5654261" y="70689"/>
                </a:cubicBezTo>
                <a:lnTo>
                  <a:pt x="5654261" y="2367711"/>
                </a:lnTo>
                <a:cubicBezTo>
                  <a:pt x="5654261" y="2406725"/>
                  <a:pt x="5622586" y="2438400"/>
                  <a:pt x="5583572" y="2438400"/>
                </a:cubicBez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5" name="Shape 3"/>
          <p:cNvSpPr/>
          <p:nvPr/>
        </p:nvSpPr>
        <p:spPr>
          <a:xfrm>
            <a:off x="371061" y="848139"/>
            <a:ext cx="35339" cy="2438400"/>
          </a:xfrm>
          <a:custGeom>
            <a:avLst/>
            <a:gdLst/>
            <a:ahLst/>
            <a:cxnLst/>
            <a:rect l="l" t="t" r="r" b="b"/>
            <a:pathLst>
              <a:path w="35339" h="2438400">
                <a:moveTo>
                  <a:pt x="0" y="0"/>
                </a:moveTo>
                <a:lnTo>
                  <a:pt x="35339" y="0"/>
                </a:lnTo>
                <a:lnTo>
                  <a:pt x="35339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6" name="Shape 4"/>
          <p:cNvSpPr/>
          <p:nvPr/>
        </p:nvSpPr>
        <p:spPr>
          <a:xfrm>
            <a:off x="530087" y="989496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212035" y="0"/>
                </a:moveTo>
                <a:lnTo>
                  <a:pt x="212035" y="0"/>
                </a:lnTo>
                <a:cubicBezTo>
                  <a:pt x="329060" y="0"/>
                  <a:pt x="424070" y="95010"/>
                  <a:pt x="424070" y="212035"/>
                </a:cubicBezTo>
                <a:lnTo>
                  <a:pt x="424070" y="212035"/>
                </a:lnTo>
                <a:cubicBezTo>
                  <a:pt x="424070" y="329060"/>
                  <a:pt x="329060" y="424070"/>
                  <a:pt x="212035" y="424070"/>
                </a:cubicBezTo>
                <a:lnTo>
                  <a:pt x="212035" y="424070"/>
                </a:lnTo>
                <a:cubicBezTo>
                  <a:pt x="95010" y="424070"/>
                  <a:pt x="0" y="329060"/>
                  <a:pt x="0" y="212035"/>
                </a:cubicBezTo>
                <a:lnTo>
                  <a:pt x="0" y="212035"/>
                </a:lnTo>
                <a:cubicBezTo>
                  <a:pt x="0" y="95010"/>
                  <a:pt x="95010" y="0"/>
                  <a:pt x="212035" y="0"/>
                </a:cubicBezTo>
                <a:close/>
              </a:path>
            </a:pathLst>
          </a:custGeom>
          <a:solidFill>
            <a:srgbClr val="C5A57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4817" y="1113183"/>
            <a:ext cx="154609" cy="176696"/>
          </a:xfrm>
          <a:custGeom>
            <a:avLst/>
            <a:gdLst/>
            <a:ahLst/>
            <a:cxnLst/>
            <a:rect l="l" t="t" r="r" b="b"/>
            <a:pathLst>
              <a:path w="154609" h="176696">
                <a:moveTo>
                  <a:pt x="77304" y="85587"/>
                </a:moveTo>
                <a:cubicBezTo>
                  <a:pt x="54448" y="85587"/>
                  <a:pt x="35891" y="67030"/>
                  <a:pt x="35891" y="44174"/>
                </a:cubicBezTo>
                <a:cubicBezTo>
                  <a:pt x="35891" y="21317"/>
                  <a:pt x="54448" y="2761"/>
                  <a:pt x="77304" y="2761"/>
                </a:cubicBezTo>
                <a:cubicBezTo>
                  <a:pt x="100161" y="2761"/>
                  <a:pt x="118717" y="21317"/>
                  <a:pt x="118717" y="44174"/>
                </a:cubicBezTo>
                <a:cubicBezTo>
                  <a:pt x="118717" y="67030"/>
                  <a:pt x="100161" y="85587"/>
                  <a:pt x="77304" y="85587"/>
                </a:cubicBezTo>
                <a:close/>
                <a:moveTo>
                  <a:pt x="66779" y="104913"/>
                </a:moveTo>
                <a:lnTo>
                  <a:pt x="87830" y="104913"/>
                </a:lnTo>
                <a:cubicBezTo>
                  <a:pt x="91178" y="104913"/>
                  <a:pt x="93870" y="107605"/>
                  <a:pt x="93870" y="110952"/>
                </a:cubicBezTo>
                <a:cubicBezTo>
                  <a:pt x="93870" y="112402"/>
                  <a:pt x="93352" y="113782"/>
                  <a:pt x="92420" y="114887"/>
                </a:cubicBezTo>
                <a:lnTo>
                  <a:pt x="82964" y="125930"/>
                </a:lnTo>
                <a:lnTo>
                  <a:pt x="93662" y="165652"/>
                </a:lnTo>
                <a:lnTo>
                  <a:pt x="93870" y="165652"/>
                </a:lnTo>
                <a:lnTo>
                  <a:pt x="105810" y="117855"/>
                </a:lnTo>
                <a:cubicBezTo>
                  <a:pt x="106570" y="114852"/>
                  <a:pt x="109641" y="113023"/>
                  <a:pt x="112540" y="114127"/>
                </a:cubicBezTo>
                <a:cubicBezTo>
                  <a:pt x="133902" y="122272"/>
                  <a:pt x="149087" y="142979"/>
                  <a:pt x="149087" y="167205"/>
                </a:cubicBezTo>
                <a:cubicBezTo>
                  <a:pt x="149087" y="172416"/>
                  <a:pt x="144842" y="176661"/>
                  <a:pt x="139631" y="176661"/>
                </a:cubicBezTo>
                <a:lnTo>
                  <a:pt x="14978" y="176696"/>
                </a:lnTo>
                <a:cubicBezTo>
                  <a:pt x="9767" y="176696"/>
                  <a:pt x="5522" y="172451"/>
                  <a:pt x="5522" y="167240"/>
                </a:cubicBezTo>
                <a:cubicBezTo>
                  <a:pt x="5522" y="143013"/>
                  <a:pt x="20707" y="122307"/>
                  <a:pt x="42069" y="114162"/>
                </a:cubicBezTo>
                <a:cubicBezTo>
                  <a:pt x="44968" y="113058"/>
                  <a:pt x="48039" y="114887"/>
                  <a:pt x="48798" y="117889"/>
                </a:cubicBezTo>
                <a:lnTo>
                  <a:pt x="60739" y="165687"/>
                </a:lnTo>
                <a:lnTo>
                  <a:pt x="60946" y="165687"/>
                </a:lnTo>
                <a:lnTo>
                  <a:pt x="71645" y="125965"/>
                </a:lnTo>
                <a:lnTo>
                  <a:pt x="62189" y="114921"/>
                </a:lnTo>
                <a:cubicBezTo>
                  <a:pt x="61257" y="113817"/>
                  <a:pt x="60739" y="112436"/>
                  <a:pt x="60739" y="110987"/>
                </a:cubicBezTo>
                <a:cubicBezTo>
                  <a:pt x="60739" y="107639"/>
                  <a:pt x="63431" y="104948"/>
                  <a:pt x="66779" y="104948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8" name="Text 6"/>
          <p:cNvSpPr/>
          <p:nvPr/>
        </p:nvSpPr>
        <p:spPr>
          <a:xfrm>
            <a:off x="1060174" y="989496"/>
            <a:ext cx="169627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Yann LeCun's Thesis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174" y="1236870"/>
            <a:ext cx="166977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 AI Chief Scientist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087" y="1519583"/>
            <a:ext cx="5424557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are a dead end:</a:t>
            </a:r>
            <a:r>
              <a:rPr lang="en-US" sz="1113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path to true intelligence requires systems that learn by watching and interacting with the world, not just reading about it.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087" y="2014330"/>
            <a:ext cx="5424557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models as learned game engines:</a:t>
            </a:r>
            <a:r>
              <a:rPr lang="en-US" sz="1113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Systems that predict how environments evolve and what consequences actions might have—like a learned physics simulator.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087" y="2509078"/>
            <a:ext cx="5424557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113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Even a hypothetical GPT-5000 trained only on text could never figure out that if you put a book on a table and push the table, the book moves with it.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82360" y="848139"/>
            <a:ext cx="5654261" cy="2438400"/>
          </a:xfrm>
          <a:custGeom>
            <a:avLst/>
            <a:gdLst/>
            <a:ahLst/>
            <a:cxnLst/>
            <a:rect l="l" t="t" r="r" b="b"/>
            <a:pathLst>
              <a:path w="5654261" h="2438400">
                <a:moveTo>
                  <a:pt x="0" y="0"/>
                </a:moveTo>
                <a:lnTo>
                  <a:pt x="5583572" y="0"/>
                </a:lnTo>
                <a:cubicBezTo>
                  <a:pt x="5622586" y="0"/>
                  <a:pt x="5654261" y="31675"/>
                  <a:pt x="5654261" y="70689"/>
                </a:cubicBezTo>
                <a:lnTo>
                  <a:pt x="5654261" y="2367711"/>
                </a:lnTo>
                <a:cubicBezTo>
                  <a:pt x="5654261" y="2406725"/>
                  <a:pt x="5622586" y="2438400"/>
                  <a:pt x="5583572" y="2438400"/>
                </a:cubicBez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14" name="Shape 12"/>
          <p:cNvSpPr/>
          <p:nvPr/>
        </p:nvSpPr>
        <p:spPr>
          <a:xfrm>
            <a:off x="6182360" y="848139"/>
            <a:ext cx="35339" cy="2438400"/>
          </a:xfrm>
          <a:custGeom>
            <a:avLst/>
            <a:gdLst/>
            <a:ahLst/>
            <a:cxnLst/>
            <a:rect l="l" t="t" r="r" b="b"/>
            <a:pathLst>
              <a:path w="35339" h="2438400">
                <a:moveTo>
                  <a:pt x="0" y="0"/>
                </a:moveTo>
                <a:lnTo>
                  <a:pt x="35339" y="0"/>
                </a:lnTo>
                <a:lnTo>
                  <a:pt x="35339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41386" y="989496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212035" y="0"/>
                </a:moveTo>
                <a:lnTo>
                  <a:pt x="212035" y="0"/>
                </a:lnTo>
                <a:cubicBezTo>
                  <a:pt x="329060" y="0"/>
                  <a:pt x="424070" y="95010"/>
                  <a:pt x="424070" y="212035"/>
                </a:cubicBezTo>
                <a:lnTo>
                  <a:pt x="424070" y="212035"/>
                </a:lnTo>
                <a:cubicBezTo>
                  <a:pt x="424070" y="329060"/>
                  <a:pt x="329060" y="424070"/>
                  <a:pt x="212035" y="424070"/>
                </a:cubicBezTo>
                <a:lnTo>
                  <a:pt x="212035" y="424070"/>
                </a:lnTo>
                <a:cubicBezTo>
                  <a:pt x="95010" y="424070"/>
                  <a:pt x="0" y="329060"/>
                  <a:pt x="0" y="212035"/>
                </a:cubicBezTo>
                <a:lnTo>
                  <a:pt x="0" y="212035"/>
                </a:lnTo>
                <a:cubicBezTo>
                  <a:pt x="0" y="95010"/>
                  <a:pt x="95010" y="0"/>
                  <a:pt x="21203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42986" y="1113183"/>
            <a:ext cx="220870" cy="176696"/>
          </a:xfrm>
          <a:custGeom>
            <a:avLst/>
            <a:gdLst/>
            <a:ahLst/>
            <a:cxnLst/>
            <a:rect l="l" t="t" r="r" b="b"/>
            <a:pathLst>
              <a:path w="220870" h="176696">
                <a:moveTo>
                  <a:pt x="132522" y="11043"/>
                </a:moveTo>
                <a:lnTo>
                  <a:pt x="176696" y="11043"/>
                </a:lnTo>
                <a:cubicBezTo>
                  <a:pt x="182804" y="11043"/>
                  <a:pt x="187739" y="15979"/>
                  <a:pt x="187739" y="22087"/>
                </a:cubicBezTo>
                <a:cubicBezTo>
                  <a:pt x="187739" y="28195"/>
                  <a:pt x="182804" y="33130"/>
                  <a:pt x="176696" y="33130"/>
                </a:cubicBezTo>
                <a:lnTo>
                  <a:pt x="137491" y="33130"/>
                </a:lnTo>
                <a:cubicBezTo>
                  <a:pt x="135697" y="42034"/>
                  <a:pt x="129588" y="49385"/>
                  <a:pt x="121478" y="52905"/>
                </a:cubicBezTo>
                <a:lnTo>
                  <a:pt x="121478" y="154609"/>
                </a:lnTo>
                <a:lnTo>
                  <a:pt x="176696" y="154609"/>
                </a:lnTo>
                <a:cubicBezTo>
                  <a:pt x="182804" y="154609"/>
                  <a:pt x="187739" y="159544"/>
                  <a:pt x="187739" y="165652"/>
                </a:cubicBezTo>
                <a:cubicBezTo>
                  <a:pt x="187739" y="171761"/>
                  <a:pt x="182804" y="176696"/>
                  <a:pt x="176696" y="176696"/>
                </a:cubicBezTo>
                <a:lnTo>
                  <a:pt x="44174" y="176696"/>
                </a:lnTo>
                <a:cubicBezTo>
                  <a:pt x="38065" y="176696"/>
                  <a:pt x="33130" y="171761"/>
                  <a:pt x="33130" y="165652"/>
                </a:cubicBezTo>
                <a:cubicBezTo>
                  <a:pt x="33130" y="159544"/>
                  <a:pt x="38065" y="154609"/>
                  <a:pt x="44174" y="154609"/>
                </a:cubicBezTo>
                <a:lnTo>
                  <a:pt x="99391" y="154609"/>
                </a:lnTo>
                <a:lnTo>
                  <a:pt x="99391" y="52905"/>
                </a:lnTo>
                <a:cubicBezTo>
                  <a:pt x="91281" y="49351"/>
                  <a:pt x="85173" y="42000"/>
                  <a:pt x="83378" y="33130"/>
                </a:cubicBezTo>
                <a:lnTo>
                  <a:pt x="44174" y="33130"/>
                </a:lnTo>
                <a:cubicBezTo>
                  <a:pt x="38065" y="33130"/>
                  <a:pt x="33130" y="28195"/>
                  <a:pt x="33130" y="22087"/>
                </a:cubicBezTo>
                <a:cubicBezTo>
                  <a:pt x="33130" y="15979"/>
                  <a:pt x="38065" y="11043"/>
                  <a:pt x="44174" y="11043"/>
                </a:cubicBezTo>
                <a:lnTo>
                  <a:pt x="88348" y="11043"/>
                </a:lnTo>
                <a:cubicBezTo>
                  <a:pt x="93386" y="4348"/>
                  <a:pt x="101393" y="0"/>
                  <a:pt x="110435" y="0"/>
                </a:cubicBezTo>
                <a:cubicBezTo>
                  <a:pt x="119477" y="0"/>
                  <a:pt x="127483" y="4348"/>
                  <a:pt x="132522" y="11043"/>
                </a:cubicBezTo>
                <a:close/>
                <a:moveTo>
                  <a:pt x="151710" y="110435"/>
                </a:moveTo>
                <a:lnTo>
                  <a:pt x="201682" y="110435"/>
                </a:lnTo>
                <a:lnTo>
                  <a:pt x="176696" y="67572"/>
                </a:lnTo>
                <a:lnTo>
                  <a:pt x="151710" y="110435"/>
                </a:lnTo>
                <a:close/>
                <a:moveTo>
                  <a:pt x="176696" y="143565"/>
                </a:moveTo>
                <a:cubicBezTo>
                  <a:pt x="154988" y="143565"/>
                  <a:pt x="136939" y="131832"/>
                  <a:pt x="133212" y="116336"/>
                </a:cubicBezTo>
                <a:cubicBezTo>
                  <a:pt x="132315" y="112540"/>
                  <a:pt x="133557" y="108640"/>
                  <a:pt x="135524" y="105258"/>
                </a:cubicBezTo>
                <a:lnTo>
                  <a:pt x="168379" y="48936"/>
                </a:lnTo>
                <a:cubicBezTo>
                  <a:pt x="170104" y="45968"/>
                  <a:pt x="173279" y="44174"/>
                  <a:pt x="176696" y="44174"/>
                </a:cubicBezTo>
                <a:cubicBezTo>
                  <a:pt x="180112" y="44174"/>
                  <a:pt x="183287" y="46003"/>
                  <a:pt x="185013" y="48936"/>
                </a:cubicBezTo>
                <a:lnTo>
                  <a:pt x="217867" y="105258"/>
                </a:lnTo>
                <a:cubicBezTo>
                  <a:pt x="219834" y="108640"/>
                  <a:pt x="221077" y="112540"/>
                  <a:pt x="220179" y="116336"/>
                </a:cubicBezTo>
                <a:cubicBezTo>
                  <a:pt x="216452" y="131797"/>
                  <a:pt x="198403" y="143565"/>
                  <a:pt x="176696" y="143565"/>
                </a:cubicBezTo>
                <a:close/>
                <a:moveTo>
                  <a:pt x="43760" y="67572"/>
                </a:moveTo>
                <a:lnTo>
                  <a:pt x="18774" y="110435"/>
                </a:lnTo>
                <a:lnTo>
                  <a:pt x="68780" y="110435"/>
                </a:lnTo>
                <a:lnTo>
                  <a:pt x="43760" y="67572"/>
                </a:lnTo>
                <a:close/>
                <a:moveTo>
                  <a:pt x="311" y="116336"/>
                </a:moveTo>
                <a:cubicBezTo>
                  <a:pt x="-587" y="112540"/>
                  <a:pt x="656" y="108640"/>
                  <a:pt x="2623" y="105258"/>
                </a:cubicBezTo>
                <a:lnTo>
                  <a:pt x="35477" y="48936"/>
                </a:lnTo>
                <a:cubicBezTo>
                  <a:pt x="37203" y="45968"/>
                  <a:pt x="40378" y="44174"/>
                  <a:pt x="43794" y="44174"/>
                </a:cubicBezTo>
                <a:cubicBezTo>
                  <a:pt x="47211" y="44174"/>
                  <a:pt x="50386" y="46003"/>
                  <a:pt x="52111" y="48936"/>
                </a:cubicBezTo>
                <a:lnTo>
                  <a:pt x="84966" y="105258"/>
                </a:lnTo>
                <a:cubicBezTo>
                  <a:pt x="86933" y="108640"/>
                  <a:pt x="88175" y="112540"/>
                  <a:pt x="87278" y="116336"/>
                </a:cubicBezTo>
                <a:cubicBezTo>
                  <a:pt x="83551" y="131797"/>
                  <a:pt x="65502" y="143565"/>
                  <a:pt x="43794" y="143565"/>
                </a:cubicBezTo>
                <a:cubicBezTo>
                  <a:pt x="22087" y="143565"/>
                  <a:pt x="4038" y="131832"/>
                  <a:pt x="311" y="11633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7" name="Text 15"/>
          <p:cNvSpPr/>
          <p:nvPr/>
        </p:nvSpPr>
        <p:spPr>
          <a:xfrm>
            <a:off x="6871473" y="1077843"/>
            <a:ext cx="1554922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Counterarguments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1386" y="1519583"/>
            <a:ext cx="5424557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falsified:</a:t>
            </a:r>
            <a:r>
              <a:rPr lang="en-US" sz="1113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Modern LLMs already handle tabletop physics scenarios just fine, contrary to LeCun's predictions.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1386" y="2014330"/>
            <a:ext cx="5424557" cy="63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Frontier LLMs already have world models:</a:t>
            </a:r>
            <a:r>
              <a:rPr lang="en-US" sz="1113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They compress most of the internet into internal representations capturing facts about physics, software, history, and social norms.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41386" y="2721113"/>
            <a:ext cx="5424557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reality:</a:t>
            </a:r>
            <a:r>
              <a:rPr lang="en-US" sz="1113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Meta itself is pouring billions into Llama. OpenAI, Anthropic, Google—all betting heavily on language models.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3391" y="3410226"/>
            <a:ext cx="11485217" cy="2314713"/>
          </a:xfrm>
          <a:custGeom>
            <a:avLst/>
            <a:gdLst/>
            <a:ahLst/>
            <a:cxnLst/>
            <a:rect l="l" t="t" r="r" b="b"/>
            <a:pathLst>
              <a:path w="11485217" h="2314713">
                <a:moveTo>
                  <a:pt x="0" y="0"/>
                </a:moveTo>
                <a:lnTo>
                  <a:pt x="11485217" y="0"/>
                </a:lnTo>
                <a:lnTo>
                  <a:pt x="11485217" y="2244045"/>
                </a:lnTo>
                <a:cubicBezTo>
                  <a:pt x="11485217" y="2283074"/>
                  <a:pt x="11453578" y="2314713"/>
                  <a:pt x="11414549" y="2314713"/>
                </a:cubicBezTo>
                <a:lnTo>
                  <a:pt x="70668" y="2314713"/>
                </a:lnTo>
                <a:cubicBezTo>
                  <a:pt x="31639" y="2314713"/>
                  <a:pt x="0" y="2283074"/>
                  <a:pt x="0" y="2244045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22" name="Shape 20"/>
          <p:cNvSpPr/>
          <p:nvPr/>
        </p:nvSpPr>
        <p:spPr>
          <a:xfrm>
            <a:off x="353391" y="3410226"/>
            <a:ext cx="11485217" cy="35339"/>
          </a:xfrm>
          <a:custGeom>
            <a:avLst/>
            <a:gdLst/>
            <a:ahLst/>
            <a:cxnLst/>
            <a:rect l="l" t="t" r="r" b="b"/>
            <a:pathLst>
              <a:path w="11485217" h="35339">
                <a:moveTo>
                  <a:pt x="0" y="0"/>
                </a:moveTo>
                <a:lnTo>
                  <a:pt x="11485217" y="0"/>
                </a:lnTo>
                <a:lnTo>
                  <a:pt x="11485217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3" name="Shape 21"/>
          <p:cNvSpPr/>
          <p:nvPr/>
        </p:nvSpPr>
        <p:spPr>
          <a:xfrm>
            <a:off x="516835" y="3604591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80238" y="1795"/>
                </a:moveTo>
                <a:cubicBezTo>
                  <a:pt x="85380" y="-587"/>
                  <a:pt x="91316" y="-587"/>
                  <a:pt x="96458" y="1795"/>
                </a:cubicBezTo>
                <a:lnTo>
                  <a:pt x="171899" y="36651"/>
                </a:lnTo>
                <a:cubicBezTo>
                  <a:pt x="174832" y="37996"/>
                  <a:pt x="176696" y="40930"/>
                  <a:pt x="176696" y="44174"/>
                </a:cubicBezTo>
                <a:cubicBezTo>
                  <a:pt x="176696" y="47418"/>
                  <a:pt x="174832" y="50351"/>
                  <a:pt x="171899" y="51697"/>
                </a:cubicBezTo>
                <a:lnTo>
                  <a:pt x="96458" y="86553"/>
                </a:lnTo>
                <a:cubicBezTo>
                  <a:pt x="91316" y="88935"/>
                  <a:pt x="85380" y="88935"/>
                  <a:pt x="80238" y="86553"/>
                </a:cubicBezTo>
                <a:lnTo>
                  <a:pt x="4797" y="51697"/>
                </a:lnTo>
                <a:cubicBezTo>
                  <a:pt x="1864" y="50317"/>
                  <a:pt x="0" y="47383"/>
                  <a:pt x="0" y="44174"/>
                </a:cubicBezTo>
                <a:cubicBezTo>
                  <a:pt x="0" y="40964"/>
                  <a:pt x="1864" y="37996"/>
                  <a:pt x="4797" y="36651"/>
                </a:cubicBezTo>
                <a:lnTo>
                  <a:pt x="80238" y="1795"/>
                </a:lnTo>
                <a:close/>
                <a:moveTo>
                  <a:pt x="16600" y="75372"/>
                </a:moveTo>
                <a:lnTo>
                  <a:pt x="73301" y="101565"/>
                </a:lnTo>
                <a:cubicBezTo>
                  <a:pt x="82861" y="105983"/>
                  <a:pt x="93870" y="105983"/>
                  <a:pt x="103429" y="101565"/>
                </a:cubicBezTo>
                <a:lnTo>
                  <a:pt x="160130" y="75372"/>
                </a:lnTo>
                <a:lnTo>
                  <a:pt x="171899" y="80824"/>
                </a:lnTo>
                <a:cubicBezTo>
                  <a:pt x="174832" y="82170"/>
                  <a:pt x="176696" y="85104"/>
                  <a:pt x="176696" y="88348"/>
                </a:cubicBezTo>
                <a:cubicBezTo>
                  <a:pt x="176696" y="91592"/>
                  <a:pt x="174832" y="94525"/>
                  <a:pt x="171899" y="95871"/>
                </a:cubicBezTo>
                <a:lnTo>
                  <a:pt x="96458" y="130727"/>
                </a:lnTo>
                <a:cubicBezTo>
                  <a:pt x="91316" y="133108"/>
                  <a:pt x="85380" y="133108"/>
                  <a:pt x="80238" y="130727"/>
                </a:cubicBezTo>
                <a:lnTo>
                  <a:pt x="4797" y="95871"/>
                </a:lnTo>
                <a:cubicBezTo>
                  <a:pt x="1864" y="94491"/>
                  <a:pt x="0" y="91557"/>
                  <a:pt x="0" y="88348"/>
                </a:cubicBezTo>
                <a:cubicBezTo>
                  <a:pt x="0" y="85138"/>
                  <a:pt x="1864" y="82170"/>
                  <a:pt x="4797" y="80824"/>
                </a:cubicBezTo>
                <a:lnTo>
                  <a:pt x="16565" y="75372"/>
                </a:lnTo>
                <a:close/>
                <a:moveTo>
                  <a:pt x="4797" y="124998"/>
                </a:moveTo>
                <a:lnTo>
                  <a:pt x="16565" y="119546"/>
                </a:lnTo>
                <a:lnTo>
                  <a:pt x="73267" y="145739"/>
                </a:lnTo>
                <a:cubicBezTo>
                  <a:pt x="82826" y="150157"/>
                  <a:pt x="93835" y="150157"/>
                  <a:pt x="103395" y="145739"/>
                </a:cubicBezTo>
                <a:lnTo>
                  <a:pt x="160096" y="119546"/>
                </a:lnTo>
                <a:lnTo>
                  <a:pt x="171864" y="124998"/>
                </a:lnTo>
                <a:cubicBezTo>
                  <a:pt x="174798" y="126344"/>
                  <a:pt x="176661" y="129278"/>
                  <a:pt x="176661" y="132522"/>
                </a:cubicBezTo>
                <a:cubicBezTo>
                  <a:pt x="176661" y="135766"/>
                  <a:pt x="174798" y="138699"/>
                  <a:pt x="171864" y="140045"/>
                </a:cubicBezTo>
                <a:lnTo>
                  <a:pt x="96423" y="174901"/>
                </a:lnTo>
                <a:cubicBezTo>
                  <a:pt x="91281" y="177282"/>
                  <a:pt x="85345" y="177282"/>
                  <a:pt x="80203" y="174901"/>
                </a:cubicBezTo>
                <a:lnTo>
                  <a:pt x="4797" y="140045"/>
                </a:lnTo>
                <a:cubicBezTo>
                  <a:pt x="1864" y="138665"/>
                  <a:pt x="0" y="135731"/>
                  <a:pt x="0" y="132522"/>
                </a:cubicBezTo>
                <a:cubicBezTo>
                  <a:pt x="0" y="129312"/>
                  <a:pt x="1864" y="126344"/>
                  <a:pt x="4797" y="12499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4" name="Text 22"/>
          <p:cNvSpPr/>
          <p:nvPr/>
        </p:nvSpPr>
        <p:spPr>
          <a:xfrm>
            <a:off x="715617" y="3569252"/>
            <a:ext cx="1106998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 Models: Two Paradigms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4748" y="3922643"/>
            <a:ext cx="3639930" cy="1660939"/>
          </a:xfrm>
          <a:custGeom>
            <a:avLst/>
            <a:gdLst/>
            <a:ahLst/>
            <a:cxnLst/>
            <a:rect l="l" t="t" r="r" b="b"/>
            <a:pathLst>
              <a:path w="3639930" h="1660939">
                <a:moveTo>
                  <a:pt x="70673" y="0"/>
                </a:moveTo>
                <a:lnTo>
                  <a:pt x="3569257" y="0"/>
                </a:lnTo>
                <a:cubicBezTo>
                  <a:pt x="3608289" y="0"/>
                  <a:pt x="3639930" y="31641"/>
                  <a:pt x="3639930" y="70673"/>
                </a:cubicBezTo>
                <a:lnTo>
                  <a:pt x="3639930" y="1590266"/>
                </a:lnTo>
                <a:cubicBezTo>
                  <a:pt x="3639930" y="1629298"/>
                  <a:pt x="3608289" y="1660939"/>
                  <a:pt x="3569257" y="1660939"/>
                </a:cubicBezTo>
                <a:lnTo>
                  <a:pt x="70673" y="1660939"/>
                </a:lnTo>
                <a:cubicBezTo>
                  <a:pt x="31641" y="1660939"/>
                  <a:pt x="0" y="1629298"/>
                  <a:pt x="0" y="1590266"/>
                </a:cubicBezTo>
                <a:lnTo>
                  <a:pt x="0" y="70673"/>
                </a:lnTo>
                <a:cubicBezTo>
                  <a:pt x="0" y="31667"/>
                  <a:pt x="31667" y="0"/>
                  <a:pt x="7067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636104" y="4064000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kern="0" spc="49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Approach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6104" y="4311374"/>
            <a:ext cx="343673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Prediction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6104" y="4629426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Text-based learning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6104" y="4841461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Statistical correlations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6104" y="5053496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Abstract reasoning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6104" y="5265530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Language manipulation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74710" y="3922643"/>
            <a:ext cx="3639930" cy="1660939"/>
          </a:xfrm>
          <a:custGeom>
            <a:avLst/>
            <a:gdLst/>
            <a:ahLst/>
            <a:cxnLst/>
            <a:rect l="l" t="t" r="r" b="b"/>
            <a:pathLst>
              <a:path w="3639930" h="1660939">
                <a:moveTo>
                  <a:pt x="70673" y="0"/>
                </a:moveTo>
                <a:lnTo>
                  <a:pt x="3569257" y="0"/>
                </a:lnTo>
                <a:cubicBezTo>
                  <a:pt x="3608289" y="0"/>
                  <a:pt x="3639930" y="31641"/>
                  <a:pt x="3639930" y="70673"/>
                </a:cubicBezTo>
                <a:lnTo>
                  <a:pt x="3639930" y="1590266"/>
                </a:lnTo>
                <a:cubicBezTo>
                  <a:pt x="3639930" y="1629298"/>
                  <a:pt x="3608289" y="1660939"/>
                  <a:pt x="3569257" y="1660939"/>
                </a:cubicBezTo>
                <a:lnTo>
                  <a:pt x="70673" y="1660939"/>
                </a:lnTo>
                <a:cubicBezTo>
                  <a:pt x="31641" y="1660939"/>
                  <a:pt x="0" y="1629298"/>
                  <a:pt x="0" y="1590266"/>
                </a:cubicBezTo>
                <a:lnTo>
                  <a:pt x="0" y="70673"/>
                </a:lnTo>
                <a:cubicBezTo>
                  <a:pt x="0" y="31667"/>
                  <a:pt x="31667" y="0"/>
                  <a:pt x="7067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4416066" y="4064000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kern="0" spc="49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Model Approach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16066" y="4311374"/>
            <a:ext cx="343673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 Simulation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16066" y="4629426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Multimodal data (video, sensors)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16066" y="4841461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Causal relationships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16066" y="5053496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Physical dynamics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16066" y="5265530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Action consequences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54671" y="3922643"/>
            <a:ext cx="3639930" cy="1660939"/>
          </a:xfrm>
          <a:custGeom>
            <a:avLst/>
            <a:gdLst/>
            <a:ahLst/>
            <a:cxnLst/>
            <a:rect l="l" t="t" r="r" b="b"/>
            <a:pathLst>
              <a:path w="3639930" h="1660939">
                <a:moveTo>
                  <a:pt x="70673" y="0"/>
                </a:moveTo>
                <a:lnTo>
                  <a:pt x="3569257" y="0"/>
                </a:lnTo>
                <a:cubicBezTo>
                  <a:pt x="3608289" y="0"/>
                  <a:pt x="3639930" y="31641"/>
                  <a:pt x="3639930" y="70673"/>
                </a:cubicBezTo>
                <a:lnTo>
                  <a:pt x="3639930" y="1590266"/>
                </a:lnTo>
                <a:cubicBezTo>
                  <a:pt x="3639930" y="1629298"/>
                  <a:pt x="3608289" y="1660939"/>
                  <a:pt x="3569257" y="1660939"/>
                </a:cubicBezTo>
                <a:lnTo>
                  <a:pt x="70673" y="1660939"/>
                </a:lnTo>
                <a:cubicBezTo>
                  <a:pt x="31641" y="1660939"/>
                  <a:pt x="0" y="1629298"/>
                  <a:pt x="0" y="1590266"/>
                </a:cubicBezTo>
                <a:lnTo>
                  <a:pt x="0" y="70673"/>
                </a:lnTo>
                <a:cubicBezTo>
                  <a:pt x="0" y="31667"/>
                  <a:pt x="31667" y="0"/>
                  <a:pt x="7067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Text 38"/>
          <p:cNvSpPr/>
          <p:nvPr/>
        </p:nvSpPr>
        <p:spPr>
          <a:xfrm>
            <a:off x="8196028" y="4064000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kern="0" spc="49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96028" y="4311374"/>
            <a:ext cx="343673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Systems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196028" y="4629426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Command processing (LLM)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196028" y="4841461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Safety simulation (World Model)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96028" y="5053496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Verifiable reasoning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96028" y="5265530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Grounded intelligence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71061" y="5830957"/>
            <a:ext cx="11467548" cy="671443"/>
          </a:xfrm>
          <a:custGeom>
            <a:avLst/>
            <a:gdLst/>
            <a:ahLst/>
            <a:cxnLst/>
            <a:rect l="l" t="t" r="r" b="b"/>
            <a:pathLst>
              <a:path w="11467548" h="671443">
                <a:moveTo>
                  <a:pt x="35339" y="0"/>
                </a:moveTo>
                <a:lnTo>
                  <a:pt x="11396872" y="0"/>
                </a:lnTo>
                <a:cubicBezTo>
                  <a:pt x="11435905" y="0"/>
                  <a:pt x="11467548" y="31643"/>
                  <a:pt x="11467548" y="70676"/>
                </a:cubicBezTo>
                <a:lnTo>
                  <a:pt x="11467548" y="600767"/>
                </a:lnTo>
                <a:cubicBezTo>
                  <a:pt x="11467548" y="639801"/>
                  <a:pt x="11435905" y="671443"/>
                  <a:pt x="11396872" y="671443"/>
                </a:cubicBezTo>
                <a:lnTo>
                  <a:pt x="35339" y="671443"/>
                </a:lnTo>
                <a:cubicBezTo>
                  <a:pt x="15822" y="671443"/>
                  <a:pt x="0" y="655622"/>
                  <a:pt x="0" y="636104"/>
                </a:cubicBezTo>
                <a:lnTo>
                  <a:pt x="0" y="35339"/>
                </a:lnTo>
                <a:cubicBezTo>
                  <a:pt x="0" y="15822"/>
                  <a:pt x="15822" y="0"/>
                  <a:pt x="35339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50000">
                <a:srgbClr val="C5A57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371061" y="5830957"/>
            <a:ext cx="35339" cy="671443"/>
          </a:xfrm>
          <a:custGeom>
            <a:avLst/>
            <a:gdLst/>
            <a:ahLst/>
            <a:cxnLst/>
            <a:rect l="l" t="t" r="r" b="b"/>
            <a:pathLst>
              <a:path w="35339" h="671443">
                <a:moveTo>
                  <a:pt x="35339" y="0"/>
                </a:moveTo>
                <a:lnTo>
                  <a:pt x="35339" y="0"/>
                </a:lnTo>
                <a:lnTo>
                  <a:pt x="35339" y="671443"/>
                </a:lnTo>
                <a:lnTo>
                  <a:pt x="35339" y="671443"/>
                </a:lnTo>
                <a:cubicBezTo>
                  <a:pt x="15822" y="671443"/>
                  <a:pt x="0" y="655622"/>
                  <a:pt x="0" y="636104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8" name="Shape 46"/>
          <p:cNvSpPr/>
          <p:nvPr/>
        </p:nvSpPr>
        <p:spPr>
          <a:xfrm>
            <a:off x="512417" y="5972313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35339" y="88348"/>
                </a:moveTo>
                <a:lnTo>
                  <a:pt x="6764" y="88348"/>
                </a:lnTo>
                <a:cubicBezTo>
                  <a:pt x="-110" y="88348"/>
                  <a:pt x="-4335" y="80866"/>
                  <a:pt x="-801" y="74958"/>
                </a:cubicBezTo>
                <a:lnTo>
                  <a:pt x="13804" y="50607"/>
                </a:lnTo>
                <a:cubicBezTo>
                  <a:pt x="16206" y="46603"/>
                  <a:pt x="20513" y="44174"/>
                  <a:pt x="25179" y="44174"/>
                </a:cubicBezTo>
                <a:lnTo>
                  <a:pt x="51407" y="44174"/>
                </a:lnTo>
                <a:cubicBezTo>
                  <a:pt x="72418" y="8586"/>
                  <a:pt x="103753" y="6792"/>
                  <a:pt x="124708" y="9856"/>
                </a:cubicBezTo>
                <a:cubicBezTo>
                  <a:pt x="128242" y="10381"/>
                  <a:pt x="131003" y="13142"/>
                  <a:pt x="131500" y="16648"/>
                </a:cubicBezTo>
                <a:cubicBezTo>
                  <a:pt x="134565" y="37603"/>
                  <a:pt x="132770" y="68939"/>
                  <a:pt x="97183" y="89949"/>
                </a:cubicBezTo>
                <a:lnTo>
                  <a:pt x="97183" y="116177"/>
                </a:lnTo>
                <a:cubicBezTo>
                  <a:pt x="97183" y="120843"/>
                  <a:pt x="94753" y="125150"/>
                  <a:pt x="90750" y="127552"/>
                </a:cubicBezTo>
                <a:lnTo>
                  <a:pt x="66399" y="142157"/>
                </a:lnTo>
                <a:cubicBezTo>
                  <a:pt x="60518" y="145691"/>
                  <a:pt x="53009" y="141439"/>
                  <a:pt x="53009" y="134592"/>
                </a:cubicBezTo>
                <a:lnTo>
                  <a:pt x="53009" y="106017"/>
                </a:lnTo>
                <a:cubicBezTo>
                  <a:pt x="53009" y="96272"/>
                  <a:pt x="45085" y="88348"/>
                  <a:pt x="35339" y="88348"/>
                </a:cubicBezTo>
                <a:lnTo>
                  <a:pt x="35312" y="88348"/>
                </a:lnTo>
                <a:close/>
                <a:moveTo>
                  <a:pt x="110435" y="44174"/>
                </a:moveTo>
                <a:cubicBezTo>
                  <a:pt x="110435" y="36860"/>
                  <a:pt x="104497" y="30922"/>
                  <a:pt x="97183" y="30922"/>
                </a:cubicBezTo>
                <a:cubicBezTo>
                  <a:pt x="89869" y="30922"/>
                  <a:pt x="83930" y="36860"/>
                  <a:pt x="83930" y="44174"/>
                </a:cubicBezTo>
                <a:cubicBezTo>
                  <a:pt x="83930" y="51488"/>
                  <a:pt x="89869" y="57426"/>
                  <a:pt x="97183" y="57426"/>
                </a:cubicBezTo>
                <a:cubicBezTo>
                  <a:pt x="104497" y="57426"/>
                  <a:pt x="110435" y="51488"/>
                  <a:pt x="110435" y="44174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9" name="Text 47"/>
          <p:cNvSpPr/>
          <p:nvPr/>
        </p:nvSpPr>
        <p:spPr>
          <a:xfrm>
            <a:off x="720611" y="5936974"/>
            <a:ext cx="11082659" cy="459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Future:</a:t>
            </a:r>
            <a:r>
              <a:rPr lang="en-US" sz="111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real breakthrough comes from integrating these predictive capabilities—combining language understanding with grounded world simulation for safer, more reliable AI systems.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400050"/>
            <a:ext cx="466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Reasoning Models vs. General LLMs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838200"/>
            <a:ext cx="1128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Architectural Distinctions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38250"/>
            <a:ext cx="3733800" cy="3581400"/>
          </a:xfrm>
          <a:custGeom>
            <a:avLst/>
            <a:gdLst/>
            <a:ahLst/>
            <a:cxnLst/>
            <a:rect l="l" t="t" r="r" b="b"/>
            <a:pathLst>
              <a:path w="3733800" h="3581400">
                <a:moveTo>
                  <a:pt x="0" y="0"/>
                </a:moveTo>
                <a:lnTo>
                  <a:pt x="3733800" y="0"/>
                </a:lnTo>
                <a:lnTo>
                  <a:pt x="3733800" y="3505188"/>
                </a:lnTo>
                <a:cubicBezTo>
                  <a:pt x="3733800" y="3547279"/>
                  <a:pt x="3699679" y="3581400"/>
                  <a:pt x="3657588" y="3581400"/>
                </a:cubicBezTo>
                <a:lnTo>
                  <a:pt x="76212" y="3581400"/>
                </a:lnTo>
                <a:cubicBezTo>
                  <a:pt x="34121" y="3581400"/>
                  <a:pt x="0" y="3547279"/>
                  <a:pt x="0" y="3505188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2382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0" y="0"/>
                </a:moveTo>
                <a:lnTo>
                  <a:pt x="3733800" y="0"/>
                </a:lnTo>
                <a:lnTo>
                  <a:pt x="3733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7" name="Shape 5"/>
          <p:cNvSpPr/>
          <p:nvPr/>
        </p:nvSpPr>
        <p:spPr>
          <a:xfrm>
            <a:off x="495300" y="139052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3172" y="149530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137160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General LLMs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1638300"/>
            <a:ext cx="1104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&amp; Efficient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5300" y="1904879"/>
            <a:ext cx="3505200" cy="723900"/>
          </a:xfrm>
          <a:custGeom>
            <a:avLst/>
            <a:gdLst/>
            <a:ahLst/>
            <a:cxnLst/>
            <a:rect l="l" t="t" r="r" b="b"/>
            <a:pathLst>
              <a:path w="3505200" h="723900">
                <a:moveTo>
                  <a:pt x="76198" y="0"/>
                </a:moveTo>
                <a:lnTo>
                  <a:pt x="3429002" y="0"/>
                </a:lnTo>
                <a:cubicBezTo>
                  <a:pt x="3471057" y="0"/>
                  <a:pt x="3505200" y="34143"/>
                  <a:pt x="3505200" y="76198"/>
                </a:cubicBezTo>
                <a:lnTo>
                  <a:pt x="3505200" y="647702"/>
                </a:lnTo>
                <a:cubicBezTo>
                  <a:pt x="3505200" y="689757"/>
                  <a:pt x="3471057" y="723900"/>
                  <a:pt x="34290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" y="1981079"/>
            <a:ext cx="3409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171460"/>
            <a:ext cx="3419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next-token prediction, single-pass processing, pattern matching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5300" y="2704860"/>
            <a:ext cx="3505200" cy="723900"/>
          </a:xfrm>
          <a:custGeom>
            <a:avLst/>
            <a:gdLst/>
            <a:ahLst/>
            <a:cxnLst/>
            <a:rect l="l" t="t" r="r" b="b"/>
            <a:pathLst>
              <a:path w="3505200" h="723900">
                <a:moveTo>
                  <a:pt x="76198" y="0"/>
                </a:moveTo>
                <a:lnTo>
                  <a:pt x="3429002" y="0"/>
                </a:lnTo>
                <a:cubicBezTo>
                  <a:pt x="3471057" y="0"/>
                  <a:pt x="3505200" y="34143"/>
                  <a:pt x="3505200" y="76198"/>
                </a:cubicBezTo>
                <a:lnTo>
                  <a:pt x="3505200" y="647702"/>
                </a:lnTo>
                <a:cubicBezTo>
                  <a:pt x="3505200" y="689757"/>
                  <a:pt x="3471057" y="723900"/>
                  <a:pt x="34290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" y="2781060"/>
            <a:ext cx="3409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2971442"/>
            <a:ext cx="3419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generation, basic analysis, straightforward Q&amp;A, translation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5300" y="3504842"/>
            <a:ext cx="3505200" cy="533400"/>
          </a:xfrm>
          <a:custGeom>
            <a:avLst/>
            <a:gdLst/>
            <a:ahLst/>
            <a:cxnLst/>
            <a:rect l="l" t="t" r="r" b="b"/>
            <a:pathLst>
              <a:path w="3505200" h="533400">
                <a:moveTo>
                  <a:pt x="76202" y="0"/>
                </a:moveTo>
                <a:lnTo>
                  <a:pt x="3428998" y="0"/>
                </a:lnTo>
                <a:cubicBezTo>
                  <a:pt x="3471083" y="0"/>
                  <a:pt x="3505200" y="34117"/>
                  <a:pt x="3505200" y="76202"/>
                </a:cubicBezTo>
                <a:lnTo>
                  <a:pt x="3505200" y="457198"/>
                </a:lnTo>
                <a:cubicBezTo>
                  <a:pt x="3505200" y="499283"/>
                  <a:pt x="3471083" y="533400"/>
                  <a:pt x="34289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" y="3581042"/>
            <a:ext cx="3409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3771423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GPT-4o, Claude 3.5 Sonnet, Gemini Pro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9110" y="4118133"/>
            <a:ext cx="3493770" cy="579120"/>
          </a:xfrm>
          <a:custGeom>
            <a:avLst/>
            <a:gdLst/>
            <a:ahLst/>
            <a:cxnLst/>
            <a:rect l="l" t="t" r="r" b="b"/>
            <a:pathLst>
              <a:path w="3493770" h="579120">
                <a:moveTo>
                  <a:pt x="76201" y="0"/>
                </a:moveTo>
                <a:lnTo>
                  <a:pt x="3417569" y="0"/>
                </a:lnTo>
                <a:cubicBezTo>
                  <a:pt x="3459654" y="0"/>
                  <a:pt x="3493770" y="34116"/>
                  <a:pt x="3493770" y="76201"/>
                </a:cubicBezTo>
                <a:lnTo>
                  <a:pt x="3493770" y="502919"/>
                </a:lnTo>
                <a:cubicBezTo>
                  <a:pt x="3493770" y="545004"/>
                  <a:pt x="3459654" y="579120"/>
                  <a:pt x="3417569" y="579120"/>
                </a:cubicBezTo>
                <a:lnTo>
                  <a:pt x="76201" y="579120"/>
                </a:lnTo>
                <a:cubicBezTo>
                  <a:pt x="34116" y="579120"/>
                  <a:pt x="0" y="545004"/>
                  <a:pt x="0" y="5029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016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9120" y="4198144"/>
            <a:ext cx="3390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Speed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9120" y="4388523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29100" y="1238250"/>
            <a:ext cx="3733800" cy="3581400"/>
          </a:xfrm>
          <a:custGeom>
            <a:avLst/>
            <a:gdLst/>
            <a:ahLst/>
            <a:cxnLst/>
            <a:rect l="l" t="t" r="r" b="b"/>
            <a:pathLst>
              <a:path w="3733800" h="3581400">
                <a:moveTo>
                  <a:pt x="0" y="0"/>
                </a:moveTo>
                <a:lnTo>
                  <a:pt x="3733800" y="0"/>
                </a:lnTo>
                <a:lnTo>
                  <a:pt x="3733800" y="3505188"/>
                </a:lnTo>
                <a:cubicBezTo>
                  <a:pt x="3733800" y="3547279"/>
                  <a:pt x="3699679" y="3581400"/>
                  <a:pt x="3657588" y="3581400"/>
                </a:cubicBezTo>
                <a:lnTo>
                  <a:pt x="76212" y="3581400"/>
                </a:lnTo>
                <a:cubicBezTo>
                  <a:pt x="34121" y="3581400"/>
                  <a:pt x="0" y="3547279"/>
                  <a:pt x="0" y="3505188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24" name="Shape 22"/>
          <p:cNvSpPr/>
          <p:nvPr/>
        </p:nvSpPr>
        <p:spPr>
          <a:xfrm>
            <a:off x="4229100" y="12382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0" y="0"/>
                </a:moveTo>
                <a:lnTo>
                  <a:pt x="3733800" y="0"/>
                </a:lnTo>
                <a:lnTo>
                  <a:pt x="3733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5" name="Shape 23"/>
          <p:cNvSpPr/>
          <p:nvPr/>
        </p:nvSpPr>
        <p:spPr>
          <a:xfrm>
            <a:off x="4343400" y="139052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429125" y="1495304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7" name="Text 25"/>
          <p:cNvSpPr/>
          <p:nvPr/>
        </p:nvSpPr>
        <p:spPr>
          <a:xfrm>
            <a:off x="4838700" y="1371600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Reasoning Models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38700" y="1638300"/>
            <a:ext cx="144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Analysis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43400" y="1904879"/>
            <a:ext cx="3505200" cy="723900"/>
          </a:xfrm>
          <a:custGeom>
            <a:avLst/>
            <a:gdLst/>
            <a:ahLst/>
            <a:cxnLst/>
            <a:rect l="l" t="t" r="r" b="b"/>
            <a:pathLst>
              <a:path w="3505200" h="723900">
                <a:moveTo>
                  <a:pt x="76198" y="0"/>
                </a:moveTo>
                <a:lnTo>
                  <a:pt x="3429002" y="0"/>
                </a:lnTo>
                <a:cubicBezTo>
                  <a:pt x="3471057" y="0"/>
                  <a:pt x="3505200" y="34143"/>
                  <a:pt x="3505200" y="76198"/>
                </a:cubicBezTo>
                <a:lnTo>
                  <a:pt x="3505200" y="647702"/>
                </a:lnTo>
                <a:cubicBezTo>
                  <a:pt x="3505200" y="689757"/>
                  <a:pt x="3471057" y="723900"/>
                  <a:pt x="34290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Text 28"/>
          <p:cNvSpPr/>
          <p:nvPr/>
        </p:nvSpPr>
        <p:spPr>
          <a:xfrm>
            <a:off x="4419600" y="1981079"/>
            <a:ext cx="3409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19600" y="2171460"/>
            <a:ext cx="3419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Multi-step reasoning, chain-of-thought, self-correction mechanisms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43400" y="2704860"/>
            <a:ext cx="3505200" cy="723900"/>
          </a:xfrm>
          <a:custGeom>
            <a:avLst/>
            <a:gdLst/>
            <a:ahLst/>
            <a:cxnLst/>
            <a:rect l="l" t="t" r="r" b="b"/>
            <a:pathLst>
              <a:path w="3505200" h="723900">
                <a:moveTo>
                  <a:pt x="76198" y="0"/>
                </a:moveTo>
                <a:lnTo>
                  <a:pt x="3429002" y="0"/>
                </a:lnTo>
                <a:cubicBezTo>
                  <a:pt x="3471057" y="0"/>
                  <a:pt x="3505200" y="34143"/>
                  <a:pt x="3505200" y="76198"/>
                </a:cubicBezTo>
                <a:lnTo>
                  <a:pt x="3505200" y="647702"/>
                </a:lnTo>
                <a:cubicBezTo>
                  <a:pt x="3505200" y="689757"/>
                  <a:pt x="3471057" y="723900"/>
                  <a:pt x="34290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4419600" y="2781060"/>
            <a:ext cx="3409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19600" y="2971442"/>
            <a:ext cx="3419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Math, logic, coding, scientific analysis, multi-step problems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43400" y="3504842"/>
            <a:ext cx="3505200" cy="533400"/>
          </a:xfrm>
          <a:custGeom>
            <a:avLst/>
            <a:gdLst/>
            <a:ahLst/>
            <a:cxnLst/>
            <a:rect l="l" t="t" r="r" b="b"/>
            <a:pathLst>
              <a:path w="3505200" h="533400">
                <a:moveTo>
                  <a:pt x="76202" y="0"/>
                </a:moveTo>
                <a:lnTo>
                  <a:pt x="3428998" y="0"/>
                </a:lnTo>
                <a:cubicBezTo>
                  <a:pt x="3471083" y="0"/>
                  <a:pt x="3505200" y="34117"/>
                  <a:pt x="3505200" y="76202"/>
                </a:cubicBezTo>
                <a:lnTo>
                  <a:pt x="3505200" y="457198"/>
                </a:lnTo>
                <a:cubicBezTo>
                  <a:pt x="3505200" y="499283"/>
                  <a:pt x="3471083" y="533400"/>
                  <a:pt x="34289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Text 34"/>
          <p:cNvSpPr/>
          <p:nvPr/>
        </p:nvSpPr>
        <p:spPr>
          <a:xfrm>
            <a:off x="4419600" y="3581042"/>
            <a:ext cx="3409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19600" y="3771423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o1, Claude 3.7 Sonnet, Gemini 2.0 Thinking, DeepSeek R1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47210" y="4118133"/>
            <a:ext cx="3493770" cy="579120"/>
          </a:xfrm>
          <a:custGeom>
            <a:avLst/>
            <a:gdLst/>
            <a:ahLst/>
            <a:cxnLst/>
            <a:rect l="l" t="t" r="r" b="b"/>
            <a:pathLst>
              <a:path w="3493770" h="579120">
                <a:moveTo>
                  <a:pt x="76201" y="0"/>
                </a:moveTo>
                <a:lnTo>
                  <a:pt x="3417569" y="0"/>
                </a:lnTo>
                <a:cubicBezTo>
                  <a:pt x="3459654" y="0"/>
                  <a:pt x="3493770" y="34116"/>
                  <a:pt x="3493770" y="76201"/>
                </a:cubicBezTo>
                <a:lnTo>
                  <a:pt x="3493770" y="502919"/>
                </a:lnTo>
                <a:cubicBezTo>
                  <a:pt x="3493770" y="545004"/>
                  <a:pt x="3459654" y="579120"/>
                  <a:pt x="3417569" y="579120"/>
                </a:cubicBezTo>
                <a:lnTo>
                  <a:pt x="76201" y="579120"/>
                </a:lnTo>
                <a:cubicBezTo>
                  <a:pt x="34116" y="579120"/>
                  <a:pt x="0" y="545004"/>
                  <a:pt x="0" y="5029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C5A57A">
              <a:alpha val="10196"/>
            </a:srgbClr>
          </a:solidFill>
          <a:ln w="10160">
            <a:solidFill>
              <a:srgbClr val="C5A57A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27220" y="4198144"/>
            <a:ext cx="3390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Speed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27220" y="4388523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Slower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77200" y="1238250"/>
            <a:ext cx="3733800" cy="3581400"/>
          </a:xfrm>
          <a:custGeom>
            <a:avLst/>
            <a:gdLst/>
            <a:ahLst/>
            <a:cxnLst/>
            <a:rect l="l" t="t" r="r" b="b"/>
            <a:pathLst>
              <a:path w="3733800" h="3581400">
                <a:moveTo>
                  <a:pt x="0" y="0"/>
                </a:moveTo>
                <a:lnTo>
                  <a:pt x="3733800" y="0"/>
                </a:lnTo>
                <a:lnTo>
                  <a:pt x="3733800" y="3505188"/>
                </a:lnTo>
                <a:cubicBezTo>
                  <a:pt x="3733800" y="3547279"/>
                  <a:pt x="3699679" y="3581400"/>
                  <a:pt x="3657588" y="3581400"/>
                </a:cubicBezTo>
                <a:lnTo>
                  <a:pt x="76212" y="3581400"/>
                </a:lnTo>
                <a:cubicBezTo>
                  <a:pt x="34121" y="3581400"/>
                  <a:pt x="0" y="3547279"/>
                  <a:pt x="0" y="3505188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42" name="Shape 40"/>
          <p:cNvSpPr/>
          <p:nvPr/>
        </p:nvSpPr>
        <p:spPr>
          <a:xfrm>
            <a:off x="8077200" y="12382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0" y="0"/>
                </a:moveTo>
                <a:lnTo>
                  <a:pt x="3733800" y="0"/>
                </a:lnTo>
                <a:lnTo>
                  <a:pt x="3733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3" name="Shape 41"/>
          <p:cNvSpPr/>
          <p:nvPr/>
        </p:nvSpPr>
        <p:spPr>
          <a:xfrm>
            <a:off x="8191500" y="139052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5A57A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298656" y="149530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5" name="Text 43"/>
          <p:cNvSpPr/>
          <p:nvPr/>
        </p:nvSpPr>
        <p:spPr>
          <a:xfrm>
            <a:off x="8686800" y="137160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Techniques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86800" y="1638300"/>
            <a:ext cx="1257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Architectural Advances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99120" y="1904879"/>
            <a:ext cx="3493770" cy="571500"/>
          </a:xfrm>
          <a:custGeom>
            <a:avLst/>
            <a:gdLst/>
            <a:ahLst/>
            <a:cxnLst/>
            <a:rect l="l" t="t" r="r" b="b"/>
            <a:pathLst>
              <a:path w="3493770" h="571500">
                <a:moveTo>
                  <a:pt x="15240" y="0"/>
                </a:moveTo>
                <a:lnTo>
                  <a:pt x="3417572" y="0"/>
                </a:lnTo>
                <a:cubicBezTo>
                  <a:pt x="3459655" y="0"/>
                  <a:pt x="3493770" y="34115"/>
                  <a:pt x="3493770" y="76198"/>
                </a:cubicBezTo>
                <a:lnTo>
                  <a:pt x="3493770" y="495302"/>
                </a:lnTo>
                <a:cubicBezTo>
                  <a:pt x="3493770" y="537385"/>
                  <a:pt x="3459655" y="571500"/>
                  <a:pt x="3417572" y="571500"/>
                </a:cubicBezTo>
                <a:lnTo>
                  <a:pt x="15240" y="571500"/>
                </a:lnTo>
                <a:cubicBezTo>
                  <a:pt x="6823" y="571500"/>
                  <a:pt x="0" y="564677"/>
                  <a:pt x="0" y="5562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Shape 46"/>
          <p:cNvSpPr/>
          <p:nvPr/>
        </p:nvSpPr>
        <p:spPr>
          <a:xfrm>
            <a:off x="8199120" y="1904879"/>
            <a:ext cx="15240" cy="571500"/>
          </a:xfrm>
          <a:custGeom>
            <a:avLst/>
            <a:gdLst/>
            <a:ahLst/>
            <a:cxnLst/>
            <a:rect l="l" t="t" r="r" b="b"/>
            <a:pathLst>
              <a:path w="15240" h="571500">
                <a:moveTo>
                  <a:pt x="15240" y="0"/>
                </a:moveTo>
                <a:lnTo>
                  <a:pt x="15240" y="0"/>
                </a:lnTo>
                <a:lnTo>
                  <a:pt x="15240" y="571500"/>
                </a:lnTo>
                <a:lnTo>
                  <a:pt x="15240" y="571500"/>
                </a:lnTo>
                <a:cubicBezTo>
                  <a:pt x="6823" y="571500"/>
                  <a:pt x="0" y="564677"/>
                  <a:pt x="0" y="5562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9" name="Text 47"/>
          <p:cNvSpPr/>
          <p:nvPr/>
        </p:nvSpPr>
        <p:spPr>
          <a:xfrm>
            <a:off x="8282940" y="1981079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Chain-of-Thought (CoT)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82940" y="2209679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 down complex problems into logical steps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99120" y="2552579"/>
            <a:ext cx="3493770" cy="571500"/>
          </a:xfrm>
          <a:custGeom>
            <a:avLst/>
            <a:gdLst/>
            <a:ahLst/>
            <a:cxnLst/>
            <a:rect l="l" t="t" r="r" b="b"/>
            <a:pathLst>
              <a:path w="3493770" h="571500">
                <a:moveTo>
                  <a:pt x="15240" y="0"/>
                </a:moveTo>
                <a:lnTo>
                  <a:pt x="3417572" y="0"/>
                </a:lnTo>
                <a:cubicBezTo>
                  <a:pt x="3459655" y="0"/>
                  <a:pt x="3493770" y="34115"/>
                  <a:pt x="3493770" y="76198"/>
                </a:cubicBezTo>
                <a:lnTo>
                  <a:pt x="3493770" y="495302"/>
                </a:lnTo>
                <a:cubicBezTo>
                  <a:pt x="3493770" y="537385"/>
                  <a:pt x="3459655" y="571500"/>
                  <a:pt x="3417572" y="571500"/>
                </a:cubicBezTo>
                <a:lnTo>
                  <a:pt x="15240" y="571500"/>
                </a:lnTo>
                <a:cubicBezTo>
                  <a:pt x="6823" y="571500"/>
                  <a:pt x="0" y="564677"/>
                  <a:pt x="0" y="5562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2" name="Shape 50"/>
          <p:cNvSpPr/>
          <p:nvPr/>
        </p:nvSpPr>
        <p:spPr>
          <a:xfrm>
            <a:off x="8199120" y="2552579"/>
            <a:ext cx="15240" cy="571500"/>
          </a:xfrm>
          <a:custGeom>
            <a:avLst/>
            <a:gdLst/>
            <a:ahLst/>
            <a:cxnLst/>
            <a:rect l="l" t="t" r="r" b="b"/>
            <a:pathLst>
              <a:path w="15240" h="571500">
                <a:moveTo>
                  <a:pt x="15240" y="0"/>
                </a:moveTo>
                <a:lnTo>
                  <a:pt x="15240" y="0"/>
                </a:lnTo>
                <a:lnTo>
                  <a:pt x="15240" y="571500"/>
                </a:lnTo>
                <a:lnTo>
                  <a:pt x="15240" y="571500"/>
                </a:lnTo>
                <a:cubicBezTo>
                  <a:pt x="6823" y="571500"/>
                  <a:pt x="0" y="564677"/>
                  <a:pt x="0" y="5562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3" name="Text 51"/>
          <p:cNvSpPr/>
          <p:nvPr/>
        </p:nvSpPr>
        <p:spPr>
          <a:xfrm>
            <a:off x="8282940" y="2628779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Tree-of-Thought (ToT)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82940" y="2857379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multiple reasoning paths, prune incorrect ones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99120" y="3200279"/>
            <a:ext cx="3493770" cy="571500"/>
          </a:xfrm>
          <a:custGeom>
            <a:avLst/>
            <a:gdLst/>
            <a:ahLst/>
            <a:cxnLst/>
            <a:rect l="l" t="t" r="r" b="b"/>
            <a:pathLst>
              <a:path w="3493770" h="571500">
                <a:moveTo>
                  <a:pt x="15240" y="0"/>
                </a:moveTo>
                <a:lnTo>
                  <a:pt x="3417572" y="0"/>
                </a:lnTo>
                <a:cubicBezTo>
                  <a:pt x="3459655" y="0"/>
                  <a:pt x="3493770" y="34115"/>
                  <a:pt x="3493770" y="76198"/>
                </a:cubicBezTo>
                <a:lnTo>
                  <a:pt x="3493770" y="495302"/>
                </a:lnTo>
                <a:cubicBezTo>
                  <a:pt x="3493770" y="537385"/>
                  <a:pt x="3459655" y="571500"/>
                  <a:pt x="3417572" y="571500"/>
                </a:cubicBezTo>
                <a:lnTo>
                  <a:pt x="15240" y="571500"/>
                </a:lnTo>
                <a:cubicBezTo>
                  <a:pt x="6823" y="571500"/>
                  <a:pt x="0" y="564677"/>
                  <a:pt x="0" y="5562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6" name="Shape 54"/>
          <p:cNvSpPr/>
          <p:nvPr/>
        </p:nvSpPr>
        <p:spPr>
          <a:xfrm>
            <a:off x="8199120" y="3200279"/>
            <a:ext cx="15240" cy="571500"/>
          </a:xfrm>
          <a:custGeom>
            <a:avLst/>
            <a:gdLst/>
            <a:ahLst/>
            <a:cxnLst/>
            <a:rect l="l" t="t" r="r" b="b"/>
            <a:pathLst>
              <a:path w="15240" h="571500">
                <a:moveTo>
                  <a:pt x="15240" y="0"/>
                </a:moveTo>
                <a:lnTo>
                  <a:pt x="15240" y="0"/>
                </a:lnTo>
                <a:lnTo>
                  <a:pt x="15240" y="571500"/>
                </a:lnTo>
                <a:lnTo>
                  <a:pt x="15240" y="571500"/>
                </a:lnTo>
                <a:cubicBezTo>
                  <a:pt x="6823" y="571500"/>
                  <a:pt x="0" y="564677"/>
                  <a:pt x="0" y="5562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7" name="Text 55"/>
          <p:cNvSpPr/>
          <p:nvPr/>
        </p:nvSpPr>
        <p:spPr>
          <a:xfrm>
            <a:off x="8282940" y="3276479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Program-Aided (PAL)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282940" y="3505079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and execute code for deterministic reasoning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99120" y="3847979"/>
            <a:ext cx="3493770" cy="571500"/>
          </a:xfrm>
          <a:custGeom>
            <a:avLst/>
            <a:gdLst/>
            <a:ahLst/>
            <a:cxnLst/>
            <a:rect l="l" t="t" r="r" b="b"/>
            <a:pathLst>
              <a:path w="3493770" h="571500">
                <a:moveTo>
                  <a:pt x="15240" y="0"/>
                </a:moveTo>
                <a:lnTo>
                  <a:pt x="3417572" y="0"/>
                </a:lnTo>
                <a:cubicBezTo>
                  <a:pt x="3459655" y="0"/>
                  <a:pt x="3493770" y="34115"/>
                  <a:pt x="3493770" y="76198"/>
                </a:cubicBezTo>
                <a:lnTo>
                  <a:pt x="3493770" y="495302"/>
                </a:lnTo>
                <a:cubicBezTo>
                  <a:pt x="3493770" y="537385"/>
                  <a:pt x="3459655" y="571500"/>
                  <a:pt x="3417572" y="571500"/>
                </a:cubicBezTo>
                <a:lnTo>
                  <a:pt x="15240" y="571500"/>
                </a:lnTo>
                <a:cubicBezTo>
                  <a:pt x="6823" y="571500"/>
                  <a:pt x="0" y="564677"/>
                  <a:pt x="0" y="5562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0" name="Shape 58"/>
          <p:cNvSpPr/>
          <p:nvPr/>
        </p:nvSpPr>
        <p:spPr>
          <a:xfrm>
            <a:off x="8199120" y="3847979"/>
            <a:ext cx="15240" cy="571500"/>
          </a:xfrm>
          <a:custGeom>
            <a:avLst/>
            <a:gdLst/>
            <a:ahLst/>
            <a:cxnLst/>
            <a:rect l="l" t="t" r="r" b="b"/>
            <a:pathLst>
              <a:path w="15240" h="571500">
                <a:moveTo>
                  <a:pt x="15240" y="0"/>
                </a:moveTo>
                <a:lnTo>
                  <a:pt x="15240" y="0"/>
                </a:lnTo>
                <a:lnTo>
                  <a:pt x="15240" y="571500"/>
                </a:lnTo>
                <a:lnTo>
                  <a:pt x="15240" y="571500"/>
                </a:lnTo>
                <a:cubicBezTo>
                  <a:pt x="6823" y="571500"/>
                  <a:pt x="0" y="564677"/>
                  <a:pt x="0" y="5562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61" name="Text 59"/>
          <p:cNvSpPr/>
          <p:nvPr/>
        </p:nvSpPr>
        <p:spPr>
          <a:xfrm>
            <a:off x="8282940" y="3924179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Mixture of Experts (MoE)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282940" y="4152779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Activate subsets of parameters for efficiency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00050" y="4929543"/>
            <a:ext cx="11410950" cy="1143000"/>
          </a:xfrm>
          <a:custGeom>
            <a:avLst/>
            <a:gdLst/>
            <a:ahLst/>
            <a:cxnLst/>
            <a:rect l="l" t="t" r="r" b="b"/>
            <a:pathLst>
              <a:path w="11410950" h="1143000">
                <a:moveTo>
                  <a:pt x="0" y="0"/>
                </a:moveTo>
                <a:lnTo>
                  <a:pt x="11334746" y="0"/>
                </a:lnTo>
                <a:cubicBezTo>
                  <a:pt x="11376832" y="0"/>
                  <a:pt x="11410950" y="34118"/>
                  <a:pt x="11410950" y="76204"/>
                </a:cubicBezTo>
                <a:lnTo>
                  <a:pt x="11410950" y="1066796"/>
                </a:lnTo>
                <a:cubicBezTo>
                  <a:pt x="11410950" y="1108882"/>
                  <a:pt x="11376832" y="1143000"/>
                  <a:pt x="11334746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64" name="Shape 62"/>
          <p:cNvSpPr/>
          <p:nvPr/>
        </p:nvSpPr>
        <p:spPr>
          <a:xfrm>
            <a:off x="400050" y="4929543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65" name="Shape 63"/>
          <p:cNvSpPr/>
          <p:nvPr/>
        </p:nvSpPr>
        <p:spPr>
          <a:xfrm>
            <a:off x="573881" y="5091468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66" name="Text 64"/>
          <p:cNvSpPr/>
          <p:nvPr/>
        </p:nvSpPr>
        <p:spPr>
          <a:xfrm>
            <a:off x="790575" y="5043843"/>
            <a:ext cx="1095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Trade-offs: Inference-Time Scaling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71500" y="5386743"/>
            <a:ext cx="2686050" cy="571500"/>
          </a:xfrm>
          <a:custGeom>
            <a:avLst/>
            <a:gdLst/>
            <a:ahLst/>
            <a:cxnLst/>
            <a:rect l="l" t="t" r="r" b="b"/>
            <a:pathLst>
              <a:path w="2686050" h="571500">
                <a:moveTo>
                  <a:pt x="76198" y="0"/>
                </a:moveTo>
                <a:lnTo>
                  <a:pt x="2609852" y="0"/>
                </a:lnTo>
                <a:cubicBezTo>
                  <a:pt x="2651935" y="0"/>
                  <a:pt x="2686050" y="34115"/>
                  <a:pt x="2686050" y="76198"/>
                </a:cubicBezTo>
                <a:lnTo>
                  <a:pt x="2686050" y="495302"/>
                </a:lnTo>
                <a:cubicBezTo>
                  <a:pt x="2686050" y="537385"/>
                  <a:pt x="2651935" y="571500"/>
                  <a:pt x="26098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8" name="Text 66"/>
          <p:cNvSpPr/>
          <p:nvPr/>
        </p:nvSpPr>
        <p:spPr>
          <a:xfrm>
            <a:off x="619125" y="5462943"/>
            <a:ext cx="2590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kern="0" spc="4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09600" y="5653325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3-10x slower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371850" y="5386743"/>
            <a:ext cx="2686050" cy="571500"/>
          </a:xfrm>
          <a:custGeom>
            <a:avLst/>
            <a:gdLst/>
            <a:ahLst/>
            <a:cxnLst/>
            <a:rect l="l" t="t" r="r" b="b"/>
            <a:pathLst>
              <a:path w="2686050" h="571500">
                <a:moveTo>
                  <a:pt x="76198" y="0"/>
                </a:moveTo>
                <a:lnTo>
                  <a:pt x="2609852" y="0"/>
                </a:lnTo>
                <a:cubicBezTo>
                  <a:pt x="2651935" y="0"/>
                  <a:pt x="2686050" y="34115"/>
                  <a:pt x="2686050" y="76198"/>
                </a:cubicBezTo>
                <a:lnTo>
                  <a:pt x="2686050" y="495302"/>
                </a:lnTo>
                <a:cubicBezTo>
                  <a:pt x="2686050" y="537385"/>
                  <a:pt x="2651935" y="571500"/>
                  <a:pt x="26098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1" name="Text 69"/>
          <p:cNvSpPr/>
          <p:nvPr/>
        </p:nvSpPr>
        <p:spPr>
          <a:xfrm>
            <a:off x="3419475" y="5462943"/>
            <a:ext cx="2590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kern="0" spc="4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 Usage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3409950" y="5653325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100x more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172200" y="5386743"/>
            <a:ext cx="2686050" cy="571500"/>
          </a:xfrm>
          <a:custGeom>
            <a:avLst/>
            <a:gdLst/>
            <a:ahLst/>
            <a:cxnLst/>
            <a:rect l="l" t="t" r="r" b="b"/>
            <a:pathLst>
              <a:path w="2686050" h="571500">
                <a:moveTo>
                  <a:pt x="76198" y="0"/>
                </a:moveTo>
                <a:lnTo>
                  <a:pt x="2609852" y="0"/>
                </a:lnTo>
                <a:cubicBezTo>
                  <a:pt x="2651935" y="0"/>
                  <a:pt x="2686050" y="34115"/>
                  <a:pt x="2686050" y="76198"/>
                </a:cubicBezTo>
                <a:lnTo>
                  <a:pt x="2686050" y="495302"/>
                </a:lnTo>
                <a:cubicBezTo>
                  <a:pt x="2686050" y="537385"/>
                  <a:pt x="2651935" y="571500"/>
                  <a:pt x="26098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4" name="Text 72"/>
          <p:cNvSpPr/>
          <p:nvPr/>
        </p:nvSpPr>
        <p:spPr>
          <a:xfrm>
            <a:off x="6219825" y="5462943"/>
            <a:ext cx="2590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kern="0" spc="4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210300" y="5653325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Significantly higher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972550" y="5386743"/>
            <a:ext cx="2686050" cy="571500"/>
          </a:xfrm>
          <a:custGeom>
            <a:avLst/>
            <a:gdLst/>
            <a:ahLst/>
            <a:cxnLst/>
            <a:rect l="l" t="t" r="r" b="b"/>
            <a:pathLst>
              <a:path w="2686050" h="571500">
                <a:moveTo>
                  <a:pt x="76198" y="0"/>
                </a:moveTo>
                <a:lnTo>
                  <a:pt x="2609852" y="0"/>
                </a:lnTo>
                <a:cubicBezTo>
                  <a:pt x="2651935" y="0"/>
                  <a:pt x="2686050" y="34115"/>
                  <a:pt x="2686050" y="76198"/>
                </a:cubicBezTo>
                <a:lnTo>
                  <a:pt x="2686050" y="495302"/>
                </a:lnTo>
                <a:cubicBezTo>
                  <a:pt x="2686050" y="537385"/>
                  <a:pt x="2651935" y="571500"/>
                  <a:pt x="26098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7" name="Text 75"/>
          <p:cNvSpPr/>
          <p:nvPr/>
        </p:nvSpPr>
        <p:spPr>
          <a:xfrm>
            <a:off x="9020175" y="5462943"/>
            <a:ext cx="2590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kern="0" spc="4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Hallucinations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9010650" y="5653325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610" y="339610"/>
            <a:ext cx="50942" cy="339610"/>
          </a:xfrm>
          <a:custGeom>
            <a:avLst/>
            <a:gdLst/>
            <a:ahLst/>
            <a:cxnLst/>
            <a:rect l="l" t="t" r="r" b="b"/>
            <a:pathLst>
              <a:path w="50942" h="339610">
                <a:moveTo>
                  <a:pt x="25471" y="0"/>
                </a:moveTo>
                <a:lnTo>
                  <a:pt x="25471" y="0"/>
                </a:lnTo>
                <a:cubicBezTo>
                  <a:pt x="39538" y="0"/>
                  <a:pt x="50942" y="11404"/>
                  <a:pt x="50942" y="25471"/>
                </a:cubicBezTo>
                <a:lnTo>
                  <a:pt x="50942" y="314139"/>
                </a:lnTo>
                <a:cubicBezTo>
                  <a:pt x="50942" y="328206"/>
                  <a:pt x="39538" y="339610"/>
                  <a:pt x="25471" y="339610"/>
                </a:cubicBezTo>
                <a:lnTo>
                  <a:pt x="25471" y="339610"/>
                </a:lnTo>
                <a:cubicBezTo>
                  <a:pt x="11404" y="339610"/>
                  <a:pt x="0" y="328206"/>
                  <a:pt x="0" y="314139"/>
                </a:cubicBezTo>
                <a:lnTo>
                  <a:pt x="0" y="25471"/>
                </a:lnTo>
                <a:cubicBezTo>
                  <a:pt x="0" y="11404"/>
                  <a:pt x="11404" y="0"/>
                  <a:pt x="25471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" name="Text 1"/>
          <p:cNvSpPr/>
          <p:nvPr/>
        </p:nvSpPr>
        <p:spPr>
          <a:xfrm>
            <a:off x="492435" y="339610"/>
            <a:ext cx="6877103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Enhancing Reasoning Without Model Modification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591" y="815064"/>
            <a:ext cx="5671487" cy="3158373"/>
          </a:xfrm>
          <a:custGeom>
            <a:avLst/>
            <a:gdLst/>
            <a:ahLst/>
            <a:cxnLst/>
            <a:rect l="l" t="t" r="r" b="b"/>
            <a:pathLst>
              <a:path w="5671487" h="3158373">
                <a:moveTo>
                  <a:pt x="0" y="0"/>
                </a:moveTo>
                <a:lnTo>
                  <a:pt x="5603551" y="0"/>
                </a:lnTo>
                <a:cubicBezTo>
                  <a:pt x="5641071" y="0"/>
                  <a:pt x="5671487" y="30416"/>
                  <a:pt x="5671487" y="67937"/>
                </a:cubicBezTo>
                <a:lnTo>
                  <a:pt x="5671487" y="3090437"/>
                </a:lnTo>
                <a:cubicBezTo>
                  <a:pt x="5671487" y="3127957"/>
                  <a:pt x="5641071" y="3158373"/>
                  <a:pt x="5603551" y="3158373"/>
                </a:cubicBezTo>
                <a:lnTo>
                  <a:pt x="0" y="3158373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5" name="Shape 3"/>
          <p:cNvSpPr/>
          <p:nvPr/>
        </p:nvSpPr>
        <p:spPr>
          <a:xfrm>
            <a:off x="356591" y="815064"/>
            <a:ext cx="33961" cy="3158373"/>
          </a:xfrm>
          <a:custGeom>
            <a:avLst/>
            <a:gdLst/>
            <a:ahLst/>
            <a:cxnLst/>
            <a:rect l="l" t="t" r="r" b="b"/>
            <a:pathLst>
              <a:path w="33961" h="3158373">
                <a:moveTo>
                  <a:pt x="0" y="0"/>
                </a:moveTo>
                <a:lnTo>
                  <a:pt x="33961" y="0"/>
                </a:lnTo>
                <a:lnTo>
                  <a:pt x="33961" y="3158373"/>
                </a:lnTo>
                <a:lnTo>
                  <a:pt x="0" y="3158373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" name="Shape 4"/>
          <p:cNvSpPr/>
          <p:nvPr/>
        </p:nvSpPr>
        <p:spPr>
          <a:xfrm>
            <a:off x="530641" y="984869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39798" y="18572"/>
                </a:moveTo>
                <a:cubicBezTo>
                  <a:pt x="39798" y="8324"/>
                  <a:pt x="48122" y="0"/>
                  <a:pt x="58370" y="0"/>
                </a:cubicBezTo>
                <a:lnTo>
                  <a:pt x="66330" y="0"/>
                </a:lnTo>
                <a:cubicBezTo>
                  <a:pt x="72200" y="0"/>
                  <a:pt x="76943" y="4743"/>
                  <a:pt x="76943" y="10613"/>
                </a:cubicBezTo>
                <a:lnTo>
                  <a:pt x="76943" y="159192"/>
                </a:lnTo>
                <a:cubicBezTo>
                  <a:pt x="76943" y="165062"/>
                  <a:pt x="72200" y="169805"/>
                  <a:pt x="66330" y="169805"/>
                </a:cubicBezTo>
                <a:lnTo>
                  <a:pt x="55717" y="169805"/>
                </a:lnTo>
                <a:cubicBezTo>
                  <a:pt x="45834" y="169805"/>
                  <a:pt x="37510" y="163039"/>
                  <a:pt x="35155" y="153886"/>
                </a:cubicBezTo>
                <a:cubicBezTo>
                  <a:pt x="34923" y="153886"/>
                  <a:pt x="34724" y="153886"/>
                  <a:pt x="34492" y="153886"/>
                </a:cubicBezTo>
                <a:cubicBezTo>
                  <a:pt x="19833" y="153886"/>
                  <a:pt x="7960" y="142013"/>
                  <a:pt x="7960" y="127354"/>
                </a:cubicBezTo>
                <a:cubicBezTo>
                  <a:pt x="7960" y="121384"/>
                  <a:pt x="9950" y="115879"/>
                  <a:pt x="13266" y="111435"/>
                </a:cubicBezTo>
                <a:cubicBezTo>
                  <a:pt x="6832" y="106592"/>
                  <a:pt x="2653" y="98898"/>
                  <a:pt x="2653" y="90209"/>
                </a:cubicBezTo>
                <a:cubicBezTo>
                  <a:pt x="2653" y="79961"/>
                  <a:pt x="8490" y="71040"/>
                  <a:pt x="16981" y="66629"/>
                </a:cubicBezTo>
                <a:cubicBezTo>
                  <a:pt x="14626" y="62649"/>
                  <a:pt x="13266" y="58006"/>
                  <a:pt x="13266" y="53064"/>
                </a:cubicBezTo>
                <a:cubicBezTo>
                  <a:pt x="13266" y="38405"/>
                  <a:pt x="25139" y="26532"/>
                  <a:pt x="39798" y="26532"/>
                </a:cubicBezTo>
                <a:lnTo>
                  <a:pt x="39798" y="18572"/>
                </a:lnTo>
                <a:close/>
                <a:moveTo>
                  <a:pt x="130007" y="18572"/>
                </a:moveTo>
                <a:lnTo>
                  <a:pt x="130007" y="26532"/>
                </a:lnTo>
                <a:cubicBezTo>
                  <a:pt x="144666" y="26532"/>
                  <a:pt x="156539" y="38405"/>
                  <a:pt x="156539" y="53064"/>
                </a:cubicBezTo>
                <a:cubicBezTo>
                  <a:pt x="156539" y="58039"/>
                  <a:pt x="155179" y="62682"/>
                  <a:pt x="152825" y="66629"/>
                </a:cubicBezTo>
                <a:cubicBezTo>
                  <a:pt x="161348" y="71040"/>
                  <a:pt x="167152" y="79928"/>
                  <a:pt x="167152" y="90209"/>
                </a:cubicBezTo>
                <a:cubicBezTo>
                  <a:pt x="167152" y="98898"/>
                  <a:pt x="162973" y="106592"/>
                  <a:pt x="156539" y="111435"/>
                </a:cubicBezTo>
                <a:cubicBezTo>
                  <a:pt x="159856" y="115879"/>
                  <a:pt x="161845" y="121384"/>
                  <a:pt x="161845" y="127354"/>
                </a:cubicBezTo>
                <a:cubicBezTo>
                  <a:pt x="161845" y="142013"/>
                  <a:pt x="149972" y="153886"/>
                  <a:pt x="135313" y="153886"/>
                </a:cubicBezTo>
                <a:cubicBezTo>
                  <a:pt x="135081" y="153886"/>
                  <a:pt x="134882" y="153886"/>
                  <a:pt x="134650" y="153886"/>
                </a:cubicBezTo>
                <a:cubicBezTo>
                  <a:pt x="132295" y="163039"/>
                  <a:pt x="123971" y="169805"/>
                  <a:pt x="114088" y="169805"/>
                </a:cubicBezTo>
                <a:lnTo>
                  <a:pt x="103475" y="169805"/>
                </a:lnTo>
                <a:cubicBezTo>
                  <a:pt x="97605" y="169805"/>
                  <a:pt x="92862" y="165062"/>
                  <a:pt x="92862" y="159192"/>
                </a:cubicBezTo>
                <a:lnTo>
                  <a:pt x="92862" y="10613"/>
                </a:lnTo>
                <a:cubicBezTo>
                  <a:pt x="92862" y="4743"/>
                  <a:pt x="97605" y="0"/>
                  <a:pt x="103475" y="0"/>
                </a:cubicBezTo>
                <a:lnTo>
                  <a:pt x="111435" y="0"/>
                </a:lnTo>
                <a:cubicBezTo>
                  <a:pt x="121683" y="0"/>
                  <a:pt x="130007" y="8324"/>
                  <a:pt x="130007" y="18572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Text 5"/>
          <p:cNvSpPr/>
          <p:nvPr/>
        </p:nvSpPr>
        <p:spPr>
          <a:xfrm>
            <a:off x="721671" y="950908"/>
            <a:ext cx="5255465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CausalPrompt: Weakly Supervised Causal Reasoning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9415" y="1290518"/>
            <a:ext cx="5450741" cy="66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Enhances LLMs by incorporating causal relationships into training prompts</a:t>
            </a:r>
            <a:r>
              <a:rPr lang="en-US" sz="107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domain expert reasoning during fine-tuning. This approach improves robustness to feature shifts without modifying model architecture.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415" y="2054641"/>
            <a:ext cx="5382819" cy="849025"/>
          </a:xfrm>
          <a:custGeom>
            <a:avLst/>
            <a:gdLst/>
            <a:ahLst/>
            <a:cxnLst/>
            <a:rect l="l" t="t" r="r" b="b"/>
            <a:pathLst>
              <a:path w="5382819" h="849025">
                <a:moveTo>
                  <a:pt x="67922" y="0"/>
                </a:moveTo>
                <a:lnTo>
                  <a:pt x="5314897" y="0"/>
                </a:lnTo>
                <a:cubicBezTo>
                  <a:pt x="5352409" y="0"/>
                  <a:pt x="5382819" y="30410"/>
                  <a:pt x="5382819" y="67922"/>
                </a:cubicBezTo>
                <a:lnTo>
                  <a:pt x="5382819" y="781103"/>
                </a:lnTo>
                <a:cubicBezTo>
                  <a:pt x="5382819" y="818615"/>
                  <a:pt x="5352409" y="849025"/>
                  <a:pt x="5314897" y="849025"/>
                </a:cubicBezTo>
                <a:lnTo>
                  <a:pt x="67922" y="849025"/>
                </a:lnTo>
                <a:cubicBezTo>
                  <a:pt x="30410" y="849025"/>
                  <a:pt x="0" y="818615"/>
                  <a:pt x="0" y="781103"/>
                </a:cubicBezTo>
                <a:lnTo>
                  <a:pt x="0" y="67922"/>
                </a:lnTo>
                <a:cubicBezTo>
                  <a:pt x="0" y="30435"/>
                  <a:pt x="30435" y="0"/>
                  <a:pt x="6792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Text 8"/>
          <p:cNvSpPr/>
          <p:nvPr/>
        </p:nvSpPr>
        <p:spPr>
          <a:xfrm>
            <a:off x="611298" y="2156524"/>
            <a:ext cx="5238485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kern="0" spc="47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1298" y="2394251"/>
            <a:ext cx="5246975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Exposes models to causal relationships between features and labels, maintaining accuracy despite changes in feature descriptions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9415" y="3005549"/>
            <a:ext cx="2657448" cy="713181"/>
          </a:xfrm>
          <a:custGeom>
            <a:avLst/>
            <a:gdLst/>
            <a:ahLst/>
            <a:cxnLst/>
            <a:rect l="l" t="t" r="r" b="b"/>
            <a:pathLst>
              <a:path w="2657448" h="713181">
                <a:moveTo>
                  <a:pt x="67923" y="0"/>
                </a:moveTo>
                <a:lnTo>
                  <a:pt x="2589525" y="0"/>
                </a:lnTo>
                <a:cubicBezTo>
                  <a:pt x="2627038" y="0"/>
                  <a:pt x="2657448" y="30410"/>
                  <a:pt x="2657448" y="67923"/>
                </a:cubicBezTo>
                <a:lnTo>
                  <a:pt x="2657448" y="645258"/>
                </a:lnTo>
                <a:cubicBezTo>
                  <a:pt x="2657448" y="682771"/>
                  <a:pt x="2627038" y="713181"/>
                  <a:pt x="2589525" y="713181"/>
                </a:cubicBezTo>
                <a:lnTo>
                  <a:pt x="67923" y="713181"/>
                </a:lnTo>
                <a:cubicBezTo>
                  <a:pt x="30410" y="713181"/>
                  <a:pt x="0" y="682771"/>
                  <a:pt x="0" y="645258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551866" y="3073471"/>
            <a:ext cx="2572546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2" kern="0" spc="4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131" y="3243168"/>
            <a:ext cx="259801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7621" y="3480895"/>
            <a:ext cx="258103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Lowest performance drops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35635" y="3005549"/>
            <a:ext cx="2657448" cy="713181"/>
          </a:xfrm>
          <a:custGeom>
            <a:avLst/>
            <a:gdLst/>
            <a:ahLst/>
            <a:cxnLst/>
            <a:rect l="l" t="t" r="r" b="b"/>
            <a:pathLst>
              <a:path w="2657448" h="713181">
                <a:moveTo>
                  <a:pt x="67923" y="0"/>
                </a:moveTo>
                <a:lnTo>
                  <a:pt x="2589525" y="0"/>
                </a:lnTo>
                <a:cubicBezTo>
                  <a:pt x="2627038" y="0"/>
                  <a:pt x="2657448" y="30410"/>
                  <a:pt x="2657448" y="67923"/>
                </a:cubicBezTo>
                <a:lnTo>
                  <a:pt x="2657448" y="645258"/>
                </a:lnTo>
                <a:cubicBezTo>
                  <a:pt x="2657448" y="682771"/>
                  <a:pt x="2627038" y="713181"/>
                  <a:pt x="2589525" y="713181"/>
                </a:cubicBezTo>
                <a:lnTo>
                  <a:pt x="67923" y="713181"/>
                </a:lnTo>
                <a:cubicBezTo>
                  <a:pt x="30410" y="713181"/>
                  <a:pt x="0" y="682771"/>
                  <a:pt x="0" y="645258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3278086" y="3073471"/>
            <a:ext cx="2572546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2" kern="0" spc="4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65350" y="3243168"/>
            <a:ext cx="259801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3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~$50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841" y="3480895"/>
            <a:ext cx="258103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 experiments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82707" y="815064"/>
            <a:ext cx="5671487" cy="3158373"/>
          </a:xfrm>
          <a:custGeom>
            <a:avLst/>
            <a:gdLst/>
            <a:ahLst/>
            <a:cxnLst/>
            <a:rect l="l" t="t" r="r" b="b"/>
            <a:pathLst>
              <a:path w="5671487" h="3158373">
                <a:moveTo>
                  <a:pt x="0" y="0"/>
                </a:moveTo>
                <a:lnTo>
                  <a:pt x="5603551" y="0"/>
                </a:lnTo>
                <a:cubicBezTo>
                  <a:pt x="5641071" y="0"/>
                  <a:pt x="5671487" y="30416"/>
                  <a:pt x="5671487" y="67937"/>
                </a:cubicBezTo>
                <a:lnTo>
                  <a:pt x="5671487" y="3090437"/>
                </a:lnTo>
                <a:cubicBezTo>
                  <a:pt x="5671487" y="3127957"/>
                  <a:pt x="5641071" y="3158373"/>
                  <a:pt x="5603551" y="3158373"/>
                </a:cubicBezTo>
                <a:lnTo>
                  <a:pt x="0" y="3158373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21" name="Shape 19"/>
          <p:cNvSpPr/>
          <p:nvPr/>
        </p:nvSpPr>
        <p:spPr>
          <a:xfrm>
            <a:off x="6182707" y="815064"/>
            <a:ext cx="33961" cy="3158373"/>
          </a:xfrm>
          <a:custGeom>
            <a:avLst/>
            <a:gdLst/>
            <a:ahLst/>
            <a:cxnLst/>
            <a:rect l="l" t="t" r="r" b="b"/>
            <a:pathLst>
              <a:path w="33961" h="3158373">
                <a:moveTo>
                  <a:pt x="0" y="0"/>
                </a:moveTo>
                <a:lnTo>
                  <a:pt x="33961" y="0"/>
                </a:lnTo>
                <a:lnTo>
                  <a:pt x="33961" y="3158373"/>
                </a:lnTo>
                <a:lnTo>
                  <a:pt x="0" y="3158373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2" name="Shape 20"/>
          <p:cNvSpPr/>
          <p:nvPr/>
        </p:nvSpPr>
        <p:spPr>
          <a:xfrm>
            <a:off x="6356757" y="984869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77109" y="1725"/>
                </a:moveTo>
                <a:cubicBezTo>
                  <a:pt x="82050" y="-564"/>
                  <a:pt x="87755" y="-564"/>
                  <a:pt x="92696" y="1725"/>
                </a:cubicBezTo>
                <a:lnTo>
                  <a:pt x="165195" y="35221"/>
                </a:lnTo>
                <a:cubicBezTo>
                  <a:pt x="168014" y="36515"/>
                  <a:pt x="169805" y="39334"/>
                  <a:pt x="169805" y="42451"/>
                </a:cubicBezTo>
                <a:cubicBezTo>
                  <a:pt x="169805" y="45569"/>
                  <a:pt x="168014" y="48388"/>
                  <a:pt x="165195" y="49681"/>
                </a:cubicBezTo>
                <a:lnTo>
                  <a:pt x="92696" y="83178"/>
                </a:lnTo>
                <a:cubicBezTo>
                  <a:pt x="87755" y="85466"/>
                  <a:pt x="82050" y="85466"/>
                  <a:pt x="77109" y="83178"/>
                </a:cubicBezTo>
                <a:lnTo>
                  <a:pt x="4610" y="49681"/>
                </a:lnTo>
                <a:cubicBezTo>
                  <a:pt x="1791" y="48355"/>
                  <a:pt x="0" y="45536"/>
                  <a:pt x="0" y="42451"/>
                </a:cubicBezTo>
                <a:cubicBezTo>
                  <a:pt x="0" y="39367"/>
                  <a:pt x="1791" y="36515"/>
                  <a:pt x="4610" y="35221"/>
                </a:cubicBezTo>
                <a:lnTo>
                  <a:pt x="77109" y="1725"/>
                </a:lnTo>
                <a:close/>
                <a:moveTo>
                  <a:pt x="15952" y="72432"/>
                </a:moveTo>
                <a:lnTo>
                  <a:pt x="70443" y="97605"/>
                </a:lnTo>
                <a:cubicBezTo>
                  <a:pt x="79629" y="101850"/>
                  <a:pt x="90209" y="101850"/>
                  <a:pt x="99396" y="97605"/>
                </a:cubicBezTo>
                <a:lnTo>
                  <a:pt x="153886" y="72432"/>
                </a:lnTo>
                <a:lnTo>
                  <a:pt x="165195" y="77673"/>
                </a:lnTo>
                <a:cubicBezTo>
                  <a:pt x="168014" y="78966"/>
                  <a:pt x="169805" y="81785"/>
                  <a:pt x="169805" y="84903"/>
                </a:cubicBezTo>
                <a:cubicBezTo>
                  <a:pt x="169805" y="88020"/>
                  <a:pt x="168014" y="90839"/>
                  <a:pt x="165195" y="92132"/>
                </a:cubicBezTo>
                <a:lnTo>
                  <a:pt x="92696" y="125629"/>
                </a:lnTo>
                <a:cubicBezTo>
                  <a:pt x="87755" y="127918"/>
                  <a:pt x="82050" y="127918"/>
                  <a:pt x="77109" y="125629"/>
                </a:cubicBezTo>
                <a:lnTo>
                  <a:pt x="4610" y="92132"/>
                </a:lnTo>
                <a:cubicBezTo>
                  <a:pt x="1791" y="90806"/>
                  <a:pt x="0" y="87987"/>
                  <a:pt x="0" y="84903"/>
                </a:cubicBezTo>
                <a:cubicBezTo>
                  <a:pt x="0" y="81818"/>
                  <a:pt x="1791" y="78966"/>
                  <a:pt x="4610" y="77673"/>
                </a:cubicBezTo>
                <a:lnTo>
                  <a:pt x="15919" y="72432"/>
                </a:lnTo>
                <a:close/>
                <a:moveTo>
                  <a:pt x="4610" y="120124"/>
                </a:moveTo>
                <a:lnTo>
                  <a:pt x="15919" y="114884"/>
                </a:lnTo>
                <a:lnTo>
                  <a:pt x="70409" y="140056"/>
                </a:lnTo>
                <a:cubicBezTo>
                  <a:pt x="79596" y="144301"/>
                  <a:pt x="90176" y="144301"/>
                  <a:pt x="99362" y="140056"/>
                </a:cubicBezTo>
                <a:lnTo>
                  <a:pt x="153853" y="114884"/>
                </a:lnTo>
                <a:lnTo>
                  <a:pt x="165162" y="120124"/>
                </a:lnTo>
                <a:cubicBezTo>
                  <a:pt x="167981" y="121417"/>
                  <a:pt x="169772" y="124236"/>
                  <a:pt x="169772" y="127354"/>
                </a:cubicBezTo>
                <a:cubicBezTo>
                  <a:pt x="169772" y="130471"/>
                  <a:pt x="167981" y="133290"/>
                  <a:pt x="165162" y="134584"/>
                </a:cubicBezTo>
                <a:lnTo>
                  <a:pt x="92663" y="168080"/>
                </a:lnTo>
                <a:cubicBezTo>
                  <a:pt x="87722" y="170369"/>
                  <a:pt x="82017" y="170369"/>
                  <a:pt x="77076" y="168080"/>
                </a:cubicBezTo>
                <a:lnTo>
                  <a:pt x="4610" y="134584"/>
                </a:lnTo>
                <a:cubicBezTo>
                  <a:pt x="1791" y="133257"/>
                  <a:pt x="0" y="130438"/>
                  <a:pt x="0" y="127354"/>
                </a:cubicBezTo>
                <a:cubicBezTo>
                  <a:pt x="0" y="124269"/>
                  <a:pt x="1791" y="121417"/>
                  <a:pt x="4610" y="120124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3" name="Text 21"/>
          <p:cNvSpPr/>
          <p:nvPr/>
        </p:nvSpPr>
        <p:spPr>
          <a:xfrm>
            <a:off x="6547788" y="950908"/>
            <a:ext cx="5255465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Scaffolding Techniques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42324" y="1290518"/>
            <a:ext cx="5381121" cy="713181"/>
          </a:xfrm>
          <a:custGeom>
            <a:avLst/>
            <a:gdLst/>
            <a:ahLst/>
            <a:cxnLst/>
            <a:rect l="l" t="t" r="r" b="b"/>
            <a:pathLst>
              <a:path w="5381121" h="713181">
                <a:moveTo>
                  <a:pt x="13584" y="0"/>
                </a:moveTo>
                <a:lnTo>
                  <a:pt x="5313198" y="0"/>
                </a:lnTo>
                <a:cubicBezTo>
                  <a:pt x="5350711" y="0"/>
                  <a:pt x="5381121" y="30410"/>
                  <a:pt x="5381121" y="67923"/>
                </a:cubicBezTo>
                <a:lnTo>
                  <a:pt x="5381121" y="645258"/>
                </a:lnTo>
                <a:cubicBezTo>
                  <a:pt x="5381121" y="682771"/>
                  <a:pt x="5350711" y="713181"/>
                  <a:pt x="5313198" y="713181"/>
                </a:cubicBezTo>
                <a:lnTo>
                  <a:pt x="13584" y="713181"/>
                </a:lnTo>
                <a:cubicBezTo>
                  <a:pt x="6082" y="713181"/>
                  <a:pt x="0" y="707099"/>
                  <a:pt x="0" y="699597"/>
                </a:cubicBezTo>
                <a:lnTo>
                  <a:pt x="0" y="13584"/>
                </a:lnTo>
                <a:cubicBezTo>
                  <a:pt x="0" y="6082"/>
                  <a:pt x="6082" y="0"/>
                  <a:pt x="1358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Shape 23"/>
          <p:cNvSpPr/>
          <p:nvPr/>
        </p:nvSpPr>
        <p:spPr>
          <a:xfrm>
            <a:off x="6342324" y="1290518"/>
            <a:ext cx="13584" cy="713181"/>
          </a:xfrm>
          <a:custGeom>
            <a:avLst/>
            <a:gdLst/>
            <a:ahLst/>
            <a:cxnLst/>
            <a:rect l="l" t="t" r="r" b="b"/>
            <a:pathLst>
              <a:path w="13584" h="713181">
                <a:moveTo>
                  <a:pt x="13584" y="0"/>
                </a:moveTo>
                <a:lnTo>
                  <a:pt x="13584" y="0"/>
                </a:lnTo>
                <a:lnTo>
                  <a:pt x="13584" y="713181"/>
                </a:lnTo>
                <a:lnTo>
                  <a:pt x="13584" y="713181"/>
                </a:lnTo>
                <a:cubicBezTo>
                  <a:pt x="6082" y="713181"/>
                  <a:pt x="0" y="707099"/>
                  <a:pt x="0" y="699597"/>
                </a:cubicBezTo>
                <a:lnTo>
                  <a:pt x="0" y="13584"/>
                </a:lnTo>
                <a:cubicBezTo>
                  <a:pt x="0" y="6087"/>
                  <a:pt x="6087" y="0"/>
                  <a:pt x="13584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6" name="Text 24"/>
          <p:cNvSpPr/>
          <p:nvPr/>
        </p:nvSpPr>
        <p:spPr>
          <a:xfrm>
            <a:off x="6417038" y="1358440"/>
            <a:ext cx="530640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Prompting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17038" y="1596167"/>
            <a:ext cx="5297916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 complex problems into manageable sub-problems, allowing smaller models to match larger ones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2324" y="2071621"/>
            <a:ext cx="5381121" cy="543376"/>
          </a:xfrm>
          <a:custGeom>
            <a:avLst/>
            <a:gdLst/>
            <a:ahLst/>
            <a:cxnLst/>
            <a:rect l="l" t="t" r="r" b="b"/>
            <a:pathLst>
              <a:path w="5381121" h="543376">
                <a:moveTo>
                  <a:pt x="13584" y="0"/>
                </a:moveTo>
                <a:lnTo>
                  <a:pt x="5313199" y="0"/>
                </a:lnTo>
                <a:cubicBezTo>
                  <a:pt x="5350711" y="0"/>
                  <a:pt x="5381121" y="30410"/>
                  <a:pt x="5381121" y="67922"/>
                </a:cubicBezTo>
                <a:lnTo>
                  <a:pt x="5381121" y="475454"/>
                </a:lnTo>
                <a:cubicBezTo>
                  <a:pt x="5381121" y="512966"/>
                  <a:pt x="5350711" y="543376"/>
                  <a:pt x="5313199" y="543376"/>
                </a:cubicBezTo>
                <a:lnTo>
                  <a:pt x="13584" y="543376"/>
                </a:lnTo>
                <a:cubicBezTo>
                  <a:pt x="6082" y="543376"/>
                  <a:pt x="0" y="537294"/>
                  <a:pt x="0" y="529792"/>
                </a:cubicBezTo>
                <a:lnTo>
                  <a:pt x="0" y="13584"/>
                </a:lnTo>
                <a:cubicBezTo>
                  <a:pt x="0" y="6087"/>
                  <a:pt x="6087" y="0"/>
                  <a:pt x="1358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Shape 27"/>
          <p:cNvSpPr/>
          <p:nvPr/>
        </p:nvSpPr>
        <p:spPr>
          <a:xfrm>
            <a:off x="6342324" y="2071621"/>
            <a:ext cx="13584" cy="543376"/>
          </a:xfrm>
          <a:custGeom>
            <a:avLst/>
            <a:gdLst/>
            <a:ahLst/>
            <a:cxnLst/>
            <a:rect l="l" t="t" r="r" b="b"/>
            <a:pathLst>
              <a:path w="13584" h="543376">
                <a:moveTo>
                  <a:pt x="13584" y="0"/>
                </a:moveTo>
                <a:lnTo>
                  <a:pt x="13584" y="0"/>
                </a:lnTo>
                <a:lnTo>
                  <a:pt x="13584" y="543376"/>
                </a:lnTo>
                <a:lnTo>
                  <a:pt x="13584" y="543376"/>
                </a:lnTo>
                <a:cubicBezTo>
                  <a:pt x="6082" y="543376"/>
                  <a:pt x="0" y="537294"/>
                  <a:pt x="0" y="529792"/>
                </a:cubicBezTo>
                <a:lnTo>
                  <a:pt x="0" y="13584"/>
                </a:lnTo>
                <a:cubicBezTo>
                  <a:pt x="0" y="6087"/>
                  <a:pt x="6087" y="0"/>
                  <a:pt x="13584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0" name="Text 28"/>
          <p:cNvSpPr/>
          <p:nvPr/>
        </p:nvSpPr>
        <p:spPr>
          <a:xfrm>
            <a:off x="6417038" y="2139543"/>
            <a:ext cx="530640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Loops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17038" y="2377270"/>
            <a:ext cx="529791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Iterative refinement with self-correction mechanisms, improving outputs through multiple passes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2324" y="2682919"/>
            <a:ext cx="5381121" cy="543376"/>
          </a:xfrm>
          <a:custGeom>
            <a:avLst/>
            <a:gdLst/>
            <a:ahLst/>
            <a:cxnLst/>
            <a:rect l="l" t="t" r="r" b="b"/>
            <a:pathLst>
              <a:path w="5381121" h="543376">
                <a:moveTo>
                  <a:pt x="13584" y="0"/>
                </a:moveTo>
                <a:lnTo>
                  <a:pt x="5313199" y="0"/>
                </a:lnTo>
                <a:cubicBezTo>
                  <a:pt x="5350711" y="0"/>
                  <a:pt x="5381121" y="30410"/>
                  <a:pt x="5381121" y="67922"/>
                </a:cubicBezTo>
                <a:lnTo>
                  <a:pt x="5381121" y="475454"/>
                </a:lnTo>
                <a:cubicBezTo>
                  <a:pt x="5381121" y="512966"/>
                  <a:pt x="5350711" y="543376"/>
                  <a:pt x="5313199" y="543376"/>
                </a:cubicBezTo>
                <a:lnTo>
                  <a:pt x="13584" y="543376"/>
                </a:lnTo>
                <a:cubicBezTo>
                  <a:pt x="6082" y="543376"/>
                  <a:pt x="0" y="537294"/>
                  <a:pt x="0" y="529792"/>
                </a:cubicBezTo>
                <a:lnTo>
                  <a:pt x="0" y="13584"/>
                </a:lnTo>
                <a:cubicBezTo>
                  <a:pt x="0" y="6087"/>
                  <a:pt x="6087" y="0"/>
                  <a:pt x="1358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Shape 31"/>
          <p:cNvSpPr/>
          <p:nvPr/>
        </p:nvSpPr>
        <p:spPr>
          <a:xfrm>
            <a:off x="6342324" y="2682919"/>
            <a:ext cx="13584" cy="543376"/>
          </a:xfrm>
          <a:custGeom>
            <a:avLst/>
            <a:gdLst/>
            <a:ahLst/>
            <a:cxnLst/>
            <a:rect l="l" t="t" r="r" b="b"/>
            <a:pathLst>
              <a:path w="13584" h="543376">
                <a:moveTo>
                  <a:pt x="13584" y="0"/>
                </a:moveTo>
                <a:lnTo>
                  <a:pt x="13584" y="0"/>
                </a:lnTo>
                <a:lnTo>
                  <a:pt x="13584" y="543376"/>
                </a:lnTo>
                <a:lnTo>
                  <a:pt x="13584" y="543376"/>
                </a:lnTo>
                <a:cubicBezTo>
                  <a:pt x="6082" y="543376"/>
                  <a:pt x="0" y="537294"/>
                  <a:pt x="0" y="529792"/>
                </a:cubicBezTo>
                <a:lnTo>
                  <a:pt x="0" y="13584"/>
                </a:lnTo>
                <a:cubicBezTo>
                  <a:pt x="0" y="6087"/>
                  <a:pt x="6087" y="0"/>
                  <a:pt x="13584" y="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4" name="Text 32"/>
          <p:cNvSpPr/>
          <p:nvPr/>
        </p:nvSpPr>
        <p:spPr>
          <a:xfrm>
            <a:off x="6417038" y="2750841"/>
            <a:ext cx="530640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Multi-Agent Voting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17038" y="2988568"/>
            <a:ext cx="529791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Collaborative agents with different expertise reach consensus, reducing hallucinations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42324" y="3294217"/>
            <a:ext cx="5381121" cy="543376"/>
          </a:xfrm>
          <a:custGeom>
            <a:avLst/>
            <a:gdLst/>
            <a:ahLst/>
            <a:cxnLst/>
            <a:rect l="l" t="t" r="r" b="b"/>
            <a:pathLst>
              <a:path w="5381121" h="543376">
                <a:moveTo>
                  <a:pt x="13584" y="0"/>
                </a:moveTo>
                <a:lnTo>
                  <a:pt x="5313199" y="0"/>
                </a:lnTo>
                <a:cubicBezTo>
                  <a:pt x="5350711" y="0"/>
                  <a:pt x="5381121" y="30410"/>
                  <a:pt x="5381121" y="67922"/>
                </a:cubicBezTo>
                <a:lnTo>
                  <a:pt x="5381121" y="475454"/>
                </a:lnTo>
                <a:cubicBezTo>
                  <a:pt x="5381121" y="512966"/>
                  <a:pt x="5350711" y="543376"/>
                  <a:pt x="5313199" y="543376"/>
                </a:cubicBezTo>
                <a:lnTo>
                  <a:pt x="13584" y="543376"/>
                </a:lnTo>
                <a:cubicBezTo>
                  <a:pt x="6082" y="543376"/>
                  <a:pt x="0" y="537294"/>
                  <a:pt x="0" y="529792"/>
                </a:cubicBezTo>
                <a:lnTo>
                  <a:pt x="0" y="13584"/>
                </a:lnTo>
                <a:cubicBezTo>
                  <a:pt x="0" y="6087"/>
                  <a:pt x="6087" y="0"/>
                  <a:pt x="1358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Shape 35"/>
          <p:cNvSpPr/>
          <p:nvPr/>
        </p:nvSpPr>
        <p:spPr>
          <a:xfrm>
            <a:off x="6342324" y="3294217"/>
            <a:ext cx="13584" cy="543376"/>
          </a:xfrm>
          <a:custGeom>
            <a:avLst/>
            <a:gdLst/>
            <a:ahLst/>
            <a:cxnLst/>
            <a:rect l="l" t="t" r="r" b="b"/>
            <a:pathLst>
              <a:path w="13584" h="543376">
                <a:moveTo>
                  <a:pt x="13584" y="0"/>
                </a:moveTo>
                <a:lnTo>
                  <a:pt x="13584" y="0"/>
                </a:lnTo>
                <a:lnTo>
                  <a:pt x="13584" y="543376"/>
                </a:lnTo>
                <a:lnTo>
                  <a:pt x="13584" y="543376"/>
                </a:lnTo>
                <a:cubicBezTo>
                  <a:pt x="6082" y="543376"/>
                  <a:pt x="0" y="537294"/>
                  <a:pt x="0" y="529792"/>
                </a:cubicBezTo>
                <a:lnTo>
                  <a:pt x="0" y="13584"/>
                </a:lnTo>
                <a:cubicBezTo>
                  <a:pt x="0" y="6087"/>
                  <a:pt x="6087" y="0"/>
                  <a:pt x="13584" y="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8" name="Text 36"/>
          <p:cNvSpPr/>
          <p:nvPr/>
        </p:nvSpPr>
        <p:spPr>
          <a:xfrm>
            <a:off x="6417038" y="3362139"/>
            <a:ext cx="530640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Graph Integration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7038" y="3599866"/>
            <a:ext cx="529791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knowledge bases provide factual grounding for reasoning tasks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39610" y="4092301"/>
            <a:ext cx="11512780" cy="1511265"/>
          </a:xfrm>
          <a:custGeom>
            <a:avLst/>
            <a:gdLst/>
            <a:ahLst/>
            <a:cxnLst/>
            <a:rect l="l" t="t" r="r" b="b"/>
            <a:pathLst>
              <a:path w="11512780" h="1511265">
                <a:moveTo>
                  <a:pt x="0" y="0"/>
                </a:moveTo>
                <a:lnTo>
                  <a:pt x="11512780" y="0"/>
                </a:lnTo>
                <a:lnTo>
                  <a:pt x="11512780" y="1443348"/>
                </a:lnTo>
                <a:cubicBezTo>
                  <a:pt x="11512780" y="1480857"/>
                  <a:pt x="11482373" y="1511265"/>
                  <a:pt x="11444864" y="1511265"/>
                </a:cubicBezTo>
                <a:lnTo>
                  <a:pt x="67916" y="1511265"/>
                </a:lnTo>
                <a:cubicBezTo>
                  <a:pt x="30432" y="1511265"/>
                  <a:pt x="0" y="1480832"/>
                  <a:pt x="0" y="1443348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41" name="Shape 39"/>
          <p:cNvSpPr/>
          <p:nvPr/>
        </p:nvSpPr>
        <p:spPr>
          <a:xfrm>
            <a:off x="339610" y="4092301"/>
            <a:ext cx="11512780" cy="33961"/>
          </a:xfrm>
          <a:custGeom>
            <a:avLst/>
            <a:gdLst/>
            <a:ahLst/>
            <a:cxnLst/>
            <a:rect l="l" t="t" r="r" b="b"/>
            <a:pathLst>
              <a:path w="11512780" h="33961">
                <a:moveTo>
                  <a:pt x="0" y="0"/>
                </a:moveTo>
                <a:lnTo>
                  <a:pt x="11512780" y="0"/>
                </a:lnTo>
                <a:lnTo>
                  <a:pt x="11512780" y="33961"/>
                </a:lnTo>
                <a:lnTo>
                  <a:pt x="0" y="33961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2" name="Shape 40"/>
          <p:cNvSpPr/>
          <p:nvPr/>
        </p:nvSpPr>
        <p:spPr>
          <a:xfrm>
            <a:off x="496680" y="4287577"/>
            <a:ext cx="152825" cy="152825"/>
          </a:xfrm>
          <a:custGeom>
            <a:avLst/>
            <a:gdLst/>
            <a:ahLst/>
            <a:cxnLst/>
            <a:rect l="l" t="t" r="r" b="b"/>
            <a:pathLst>
              <a:path w="152825" h="152825">
                <a:moveTo>
                  <a:pt x="9552" y="9552"/>
                </a:moveTo>
                <a:cubicBezTo>
                  <a:pt x="14835" y="9552"/>
                  <a:pt x="19103" y="13820"/>
                  <a:pt x="19103" y="19103"/>
                </a:cubicBezTo>
                <a:lnTo>
                  <a:pt x="19103" y="119394"/>
                </a:lnTo>
                <a:cubicBezTo>
                  <a:pt x="19103" y="122021"/>
                  <a:pt x="21252" y="124170"/>
                  <a:pt x="23879" y="124170"/>
                </a:cubicBezTo>
                <a:lnTo>
                  <a:pt x="143273" y="124170"/>
                </a:lnTo>
                <a:cubicBezTo>
                  <a:pt x="148556" y="124170"/>
                  <a:pt x="152825" y="128438"/>
                  <a:pt x="152825" y="133721"/>
                </a:cubicBezTo>
                <a:cubicBezTo>
                  <a:pt x="152825" y="139005"/>
                  <a:pt x="148556" y="143273"/>
                  <a:pt x="143273" y="143273"/>
                </a:cubicBezTo>
                <a:lnTo>
                  <a:pt x="23879" y="143273"/>
                </a:lnTo>
                <a:cubicBezTo>
                  <a:pt x="10686" y="143273"/>
                  <a:pt x="0" y="132587"/>
                  <a:pt x="0" y="119394"/>
                </a:cubicBezTo>
                <a:lnTo>
                  <a:pt x="0" y="19103"/>
                </a:lnTo>
                <a:cubicBezTo>
                  <a:pt x="0" y="13820"/>
                  <a:pt x="4268" y="9552"/>
                  <a:pt x="9552" y="9552"/>
                </a:cubicBezTo>
                <a:close/>
                <a:moveTo>
                  <a:pt x="38206" y="28655"/>
                </a:moveTo>
                <a:cubicBezTo>
                  <a:pt x="38206" y="23371"/>
                  <a:pt x="42474" y="19103"/>
                  <a:pt x="47758" y="19103"/>
                </a:cubicBezTo>
                <a:lnTo>
                  <a:pt x="105067" y="19103"/>
                </a:lnTo>
                <a:cubicBezTo>
                  <a:pt x="110350" y="19103"/>
                  <a:pt x="114618" y="23371"/>
                  <a:pt x="114618" y="28655"/>
                </a:cubicBezTo>
                <a:cubicBezTo>
                  <a:pt x="114618" y="33938"/>
                  <a:pt x="110350" y="38206"/>
                  <a:pt x="105067" y="38206"/>
                </a:cubicBezTo>
                <a:lnTo>
                  <a:pt x="47758" y="38206"/>
                </a:lnTo>
                <a:cubicBezTo>
                  <a:pt x="42474" y="38206"/>
                  <a:pt x="38206" y="33938"/>
                  <a:pt x="38206" y="28655"/>
                </a:cubicBezTo>
                <a:close/>
                <a:moveTo>
                  <a:pt x="47758" y="52533"/>
                </a:moveTo>
                <a:lnTo>
                  <a:pt x="85964" y="52533"/>
                </a:lnTo>
                <a:cubicBezTo>
                  <a:pt x="91247" y="52533"/>
                  <a:pt x="95515" y="56802"/>
                  <a:pt x="95515" y="62085"/>
                </a:cubicBezTo>
                <a:cubicBezTo>
                  <a:pt x="95515" y="67368"/>
                  <a:pt x="91247" y="71636"/>
                  <a:pt x="85964" y="71636"/>
                </a:cubicBezTo>
                <a:lnTo>
                  <a:pt x="47758" y="71636"/>
                </a:lnTo>
                <a:cubicBezTo>
                  <a:pt x="42474" y="71636"/>
                  <a:pt x="38206" y="67368"/>
                  <a:pt x="38206" y="62085"/>
                </a:cubicBezTo>
                <a:cubicBezTo>
                  <a:pt x="38206" y="56802"/>
                  <a:pt x="42474" y="52533"/>
                  <a:pt x="47758" y="52533"/>
                </a:cubicBezTo>
                <a:close/>
                <a:moveTo>
                  <a:pt x="47758" y="85964"/>
                </a:moveTo>
                <a:lnTo>
                  <a:pt x="124170" y="85964"/>
                </a:lnTo>
                <a:cubicBezTo>
                  <a:pt x="129453" y="85964"/>
                  <a:pt x="133721" y="90232"/>
                  <a:pt x="133721" y="95515"/>
                </a:cubicBezTo>
                <a:cubicBezTo>
                  <a:pt x="133721" y="100799"/>
                  <a:pt x="129453" y="105067"/>
                  <a:pt x="124170" y="105067"/>
                </a:cubicBezTo>
                <a:lnTo>
                  <a:pt x="47758" y="105067"/>
                </a:lnTo>
                <a:cubicBezTo>
                  <a:pt x="42474" y="105067"/>
                  <a:pt x="38206" y="100799"/>
                  <a:pt x="38206" y="95515"/>
                </a:cubicBezTo>
                <a:cubicBezTo>
                  <a:pt x="38206" y="90232"/>
                  <a:pt x="42474" y="85964"/>
                  <a:pt x="47758" y="85964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3" name="Text 41"/>
          <p:cNvSpPr/>
          <p:nvPr/>
        </p:nvSpPr>
        <p:spPr>
          <a:xfrm>
            <a:off x="670730" y="4245125"/>
            <a:ext cx="11122228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Evidence: Smaller Models + Better Scaffolding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75454" y="4584735"/>
            <a:ext cx="2733861" cy="882986"/>
          </a:xfrm>
          <a:custGeom>
            <a:avLst/>
            <a:gdLst/>
            <a:ahLst/>
            <a:cxnLst/>
            <a:rect l="l" t="t" r="r" b="b"/>
            <a:pathLst>
              <a:path w="2733861" h="882986">
                <a:moveTo>
                  <a:pt x="67919" y="0"/>
                </a:moveTo>
                <a:lnTo>
                  <a:pt x="2665941" y="0"/>
                </a:lnTo>
                <a:cubicBezTo>
                  <a:pt x="2703452" y="0"/>
                  <a:pt x="2733861" y="30409"/>
                  <a:pt x="2733861" y="67919"/>
                </a:cubicBezTo>
                <a:lnTo>
                  <a:pt x="2733861" y="815067"/>
                </a:lnTo>
                <a:cubicBezTo>
                  <a:pt x="2733861" y="852578"/>
                  <a:pt x="2703452" y="882986"/>
                  <a:pt x="2665941" y="882986"/>
                </a:cubicBezTo>
                <a:lnTo>
                  <a:pt x="67919" y="882986"/>
                </a:lnTo>
                <a:cubicBezTo>
                  <a:pt x="30409" y="882986"/>
                  <a:pt x="0" y="852578"/>
                  <a:pt x="0" y="815067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5" name="Text 43"/>
          <p:cNvSpPr/>
          <p:nvPr/>
        </p:nvSpPr>
        <p:spPr>
          <a:xfrm>
            <a:off x="551866" y="4686618"/>
            <a:ext cx="2581036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2" kern="0" spc="4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GPT-4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26396" y="4890277"/>
            <a:ext cx="2631978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4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7621" y="5195820"/>
            <a:ext cx="25895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prompting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312047" y="4584735"/>
            <a:ext cx="2733861" cy="882986"/>
          </a:xfrm>
          <a:custGeom>
            <a:avLst/>
            <a:gdLst/>
            <a:ahLst/>
            <a:cxnLst/>
            <a:rect l="l" t="t" r="r" b="b"/>
            <a:pathLst>
              <a:path w="2733861" h="882986">
                <a:moveTo>
                  <a:pt x="67919" y="0"/>
                </a:moveTo>
                <a:lnTo>
                  <a:pt x="2665941" y="0"/>
                </a:lnTo>
                <a:cubicBezTo>
                  <a:pt x="2703452" y="0"/>
                  <a:pt x="2733861" y="30409"/>
                  <a:pt x="2733861" y="67919"/>
                </a:cubicBezTo>
                <a:lnTo>
                  <a:pt x="2733861" y="815067"/>
                </a:lnTo>
                <a:cubicBezTo>
                  <a:pt x="2733861" y="852578"/>
                  <a:pt x="2703452" y="882986"/>
                  <a:pt x="2665941" y="882986"/>
                </a:cubicBezTo>
                <a:lnTo>
                  <a:pt x="67919" y="882986"/>
                </a:lnTo>
                <a:cubicBezTo>
                  <a:pt x="30409" y="882986"/>
                  <a:pt x="0" y="852578"/>
                  <a:pt x="0" y="815067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Text 47"/>
          <p:cNvSpPr/>
          <p:nvPr/>
        </p:nvSpPr>
        <p:spPr>
          <a:xfrm>
            <a:off x="3388459" y="4686618"/>
            <a:ext cx="2581036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2" kern="0" spc="4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GPT-4 + CoT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362988" y="4890277"/>
            <a:ext cx="2631978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4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+15%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384214" y="5195820"/>
            <a:ext cx="25895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Chain-of-thought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48746" y="4584735"/>
            <a:ext cx="2733861" cy="882986"/>
          </a:xfrm>
          <a:custGeom>
            <a:avLst/>
            <a:gdLst/>
            <a:ahLst/>
            <a:cxnLst/>
            <a:rect l="l" t="t" r="r" b="b"/>
            <a:pathLst>
              <a:path w="2733861" h="882986">
                <a:moveTo>
                  <a:pt x="67919" y="0"/>
                </a:moveTo>
                <a:lnTo>
                  <a:pt x="2665941" y="0"/>
                </a:lnTo>
                <a:cubicBezTo>
                  <a:pt x="2703452" y="0"/>
                  <a:pt x="2733861" y="30409"/>
                  <a:pt x="2733861" y="67919"/>
                </a:cubicBezTo>
                <a:lnTo>
                  <a:pt x="2733861" y="815067"/>
                </a:lnTo>
                <a:cubicBezTo>
                  <a:pt x="2733861" y="852578"/>
                  <a:pt x="2703452" y="882986"/>
                  <a:pt x="2665941" y="882986"/>
                </a:cubicBezTo>
                <a:lnTo>
                  <a:pt x="67919" y="882986"/>
                </a:lnTo>
                <a:cubicBezTo>
                  <a:pt x="30409" y="882986"/>
                  <a:pt x="0" y="852578"/>
                  <a:pt x="0" y="815067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3" name="Text 51"/>
          <p:cNvSpPr/>
          <p:nvPr/>
        </p:nvSpPr>
        <p:spPr>
          <a:xfrm>
            <a:off x="6225158" y="4686618"/>
            <a:ext cx="2581036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2" kern="0" spc="4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Smaller + Scaffold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199687" y="4890277"/>
            <a:ext cx="2631978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4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20913" y="5195820"/>
            <a:ext cx="25895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prompts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985445" y="4584735"/>
            <a:ext cx="2733861" cy="882986"/>
          </a:xfrm>
          <a:custGeom>
            <a:avLst/>
            <a:gdLst/>
            <a:ahLst/>
            <a:cxnLst/>
            <a:rect l="l" t="t" r="r" b="b"/>
            <a:pathLst>
              <a:path w="2733861" h="882986">
                <a:moveTo>
                  <a:pt x="67919" y="0"/>
                </a:moveTo>
                <a:lnTo>
                  <a:pt x="2665941" y="0"/>
                </a:lnTo>
                <a:cubicBezTo>
                  <a:pt x="2703452" y="0"/>
                  <a:pt x="2733861" y="30409"/>
                  <a:pt x="2733861" y="67919"/>
                </a:cubicBezTo>
                <a:lnTo>
                  <a:pt x="2733861" y="815067"/>
                </a:lnTo>
                <a:cubicBezTo>
                  <a:pt x="2733861" y="852578"/>
                  <a:pt x="2703452" y="882986"/>
                  <a:pt x="2665941" y="882986"/>
                </a:cubicBezTo>
                <a:lnTo>
                  <a:pt x="67919" y="882986"/>
                </a:lnTo>
                <a:cubicBezTo>
                  <a:pt x="30409" y="882986"/>
                  <a:pt x="0" y="852578"/>
                  <a:pt x="0" y="815067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7" name="Text 55"/>
          <p:cNvSpPr/>
          <p:nvPr/>
        </p:nvSpPr>
        <p:spPr>
          <a:xfrm>
            <a:off x="9061857" y="4686618"/>
            <a:ext cx="2581036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2" kern="0" spc="4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Multi-Agent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036387" y="4890277"/>
            <a:ext cx="2631978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4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+25%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057612" y="5195820"/>
            <a:ext cx="25895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Voting system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56591" y="5705235"/>
            <a:ext cx="11495799" cy="645259"/>
          </a:xfrm>
          <a:custGeom>
            <a:avLst/>
            <a:gdLst/>
            <a:ahLst/>
            <a:cxnLst/>
            <a:rect l="l" t="t" r="r" b="b"/>
            <a:pathLst>
              <a:path w="11495799" h="645259">
                <a:moveTo>
                  <a:pt x="33961" y="0"/>
                </a:moveTo>
                <a:lnTo>
                  <a:pt x="11427879" y="0"/>
                </a:lnTo>
                <a:cubicBezTo>
                  <a:pt x="11465391" y="0"/>
                  <a:pt x="11495799" y="30409"/>
                  <a:pt x="11495799" y="67920"/>
                </a:cubicBezTo>
                <a:lnTo>
                  <a:pt x="11495799" y="577339"/>
                </a:lnTo>
                <a:cubicBezTo>
                  <a:pt x="11495799" y="614850"/>
                  <a:pt x="11465391" y="645259"/>
                  <a:pt x="11427879" y="645259"/>
                </a:cubicBezTo>
                <a:lnTo>
                  <a:pt x="33961" y="645259"/>
                </a:lnTo>
                <a:cubicBezTo>
                  <a:pt x="15205" y="645259"/>
                  <a:pt x="0" y="630054"/>
                  <a:pt x="0" y="611298"/>
                </a:cubicBezTo>
                <a:lnTo>
                  <a:pt x="0" y="33961"/>
                </a:lnTo>
                <a:cubicBezTo>
                  <a:pt x="0" y="15217"/>
                  <a:pt x="15217" y="0"/>
                  <a:pt x="3396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50000">
                <a:srgbClr val="C5A57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1" name="Shape 59"/>
          <p:cNvSpPr/>
          <p:nvPr/>
        </p:nvSpPr>
        <p:spPr>
          <a:xfrm>
            <a:off x="356591" y="5705235"/>
            <a:ext cx="33961" cy="645259"/>
          </a:xfrm>
          <a:custGeom>
            <a:avLst/>
            <a:gdLst/>
            <a:ahLst/>
            <a:cxnLst/>
            <a:rect l="l" t="t" r="r" b="b"/>
            <a:pathLst>
              <a:path w="33961" h="645259">
                <a:moveTo>
                  <a:pt x="33961" y="0"/>
                </a:moveTo>
                <a:lnTo>
                  <a:pt x="33961" y="0"/>
                </a:lnTo>
                <a:lnTo>
                  <a:pt x="33961" y="645259"/>
                </a:lnTo>
                <a:lnTo>
                  <a:pt x="33961" y="645259"/>
                </a:lnTo>
                <a:cubicBezTo>
                  <a:pt x="15205" y="645259"/>
                  <a:pt x="0" y="630054"/>
                  <a:pt x="0" y="611298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62" name="Shape 60"/>
          <p:cNvSpPr/>
          <p:nvPr/>
        </p:nvSpPr>
        <p:spPr>
          <a:xfrm>
            <a:off x="509415" y="5841079"/>
            <a:ext cx="101883" cy="135844"/>
          </a:xfrm>
          <a:custGeom>
            <a:avLst/>
            <a:gdLst/>
            <a:ahLst/>
            <a:cxnLst/>
            <a:rect l="l" t="t" r="r" b="b"/>
            <a:pathLst>
              <a:path w="101883" h="135844">
                <a:moveTo>
                  <a:pt x="77712" y="101883"/>
                </a:moveTo>
                <a:cubicBezTo>
                  <a:pt x="79649" y="95966"/>
                  <a:pt x="83523" y="90607"/>
                  <a:pt x="87901" y="85990"/>
                </a:cubicBezTo>
                <a:cubicBezTo>
                  <a:pt x="96577" y="76863"/>
                  <a:pt x="101883" y="64526"/>
                  <a:pt x="101883" y="50942"/>
                </a:cubicBezTo>
                <a:cubicBezTo>
                  <a:pt x="101883" y="22818"/>
                  <a:pt x="79065" y="0"/>
                  <a:pt x="50942" y="0"/>
                </a:cubicBezTo>
                <a:cubicBezTo>
                  <a:pt x="22818" y="0"/>
                  <a:pt x="0" y="22818"/>
                  <a:pt x="0" y="50942"/>
                </a:cubicBezTo>
                <a:cubicBezTo>
                  <a:pt x="0" y="64526"/>
                  <a:pt x="5306" y="76863"/>
                  <a:pt x="13982" y="85990"/>
                </a:cubicBezTo>
                <a:cubicBezTo>
                  <a:pt x="18360" y="90607"/>
                  <a:pt x="22260" y="95966"/>
                  <a:pt x="24171" y="101883"/>
                </a:cubicBezTo>
                <a:lnTo>
                  <a:pt x="77686" y="101883"/>
                </a:lnTo>
                <a:close/>
                <a:moveTo>
                  <a:pt x="76412" y="114618"/>
                </a:moveTo>
                <a:lnTo>
                  <a:pt x="25471" y="114618"/>
                </a:lnTo>
                <a:lnTo>
                  <a:pt x="25471" y="118864"/>
                </a:lnTo>
                <a:cubicBezTo>
                  <a:pt x="25471" y="130591"/>
                  <a:pt x="34969" y="140089"/>
                  <a:pt x="46696" y="140089"/>
                </a:cubicBezTo>
                <a:lnTo>
                  <a:pt x="55187" y="140089"/>
                </a:lnTo>
                <a:cubicBezTo>
                  <a:pt x="66914" y="140089"/>
                  <a:pt x="76412" y="130591"/>
                  <a:pt x="76412" y="118864"/>
                </a:cubicBezTo>
                <a:lnTo>
                  <a:pt x="76412" y="114618"/>
                </a:lnTo>
                <a:close/>
                <a:moveTo>
                  <a:pt x="48819" y="29716"/>
                </a:moveTo>
                <a:cubicBezTo>
                  <a:pt x="38259" y="29716"/>
                  <a:pt x="29716" y="38259"/>
                  <a:pt x="29716" y="48819"/>
                </a:cubicBezTo>
                <a:cubicBezTo>
                  <a:pt x="29716" y="52348"/>
                  <a:pt x="26877" y="55187"/>
                  <a:pt x="23348" y="55187"/>
                </a:cubicBezTo>
                <a:cubicBezTo>
                  <a:pt x="19819" y="55187"/>
                  <a:pt x="16981" y="52348"/>
                  <a:pt x="16981" y="48819"/>
                </a:cubicBezTo>
                <a:cubicBezTo>
                  <a:pt x="16981" y="31228"/>
                  <a:pt x="31228" y="16981"/>
                  <a:pt x="48819" y="16981"/>
                </a:cubicBezTo>
                <a:cubicBezTo>
                  <a:pt x="52348" y="16981"/>
                  <a:pt x="55187" y="19819"/>
                  <a:pt x="55187" y="23348"/>
                </a:cubicBezTo>
                <a:cubicBezTo>
                  <a:pt x="55187" y="26877"/>
                  <a:pt x="52348" y="29716"/>
                  <a:pt x="48819" y="2971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63" name="Text 61"/>
          <p:cNvSpPr/>
          <p:nvPr/>
        </p:nvSpPr>
        <p:spPr>
          <a:xfrm>
            <a:off x="690667" y="5807118"/>
            <a:ext cx="11127762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Insight:</a:t>
            </a:r>
            <a:r>
              <a:rPr lang="en-US" sz="107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methods enable significant reasoning improvements without the computational cost of training larger models—making advanced reasoning more accessible and cost-effective.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5ABC12-F4DA-021B-1D52-08BC1E2C4858}"/>
              </a:ext>
            </a:extLst>
          </p:cNvPr>
          <p:cNvSpPr txBox="1"/>
          <p:nvPr/>
        </p:nvSpPr>
        <p:spPr>
          <a:xfrm>
            <a:off x="1324947" y="494523"/>
            <a:ext cx="92824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Fast, Probabilistic model to Slow, Deliberate architecture by building </a:t>
            </a:r>
            <a:r>
              <a:rPr lang="en-US" sz="1400" b="1" dirty="0"/>
              <a:t>programmatic scaffolding (</a:t>
            </a:r>
            <a:r>
              <a:rPr lang="en-US" sz="1400" dirty="0"/>
              <a:t>around the frozen LLM</a:t>
            </a:r>
            <a:r>
              <a:rPr lang="en-US" sz="1400" b="1" dirty="0"/>
              <a:t>) </a:t>
            </a:r>
            <a:r>
              <a:rPr lang="en-US" sz="1400" dirty="0"/>
              <a:t>—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Constraints</a:t>
            </a:r>
            <a:endParaRPr lang="en-IN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ACE95D-66B6-46D2-7135-AAA9AA937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12439"/>
              </p:ext>
            </p:extLst>
          </p:nvPr>
        </p:nvGraphicFramePr>
        <p:xfrm>
          <a:off x="1472941" y="2169746"/>
          <a:ext cx="8940022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0011">
                  <a:extLst>
                    <a:ext uri="{9D8B030D-6E8A-4147-A177-3AD203B41FA5}">
                      <a16:colId xmlns:a16="http://schemas.microsoft.com/office/drawing/2014/main" val="2888979768"/>
                    </a:ext>
                  </a:extLst>
                </a:gridCol>
                <a:gridCol w="4470011">
                  <a:extLst>
                    <a:ext uri="{9D8B030D-6E8A-4147-A177-3AD203B41FA5}">
                      <a16:colId xmlns:a16="http://schemas.microsoft.com/office/drawing/2014/main" val="1270530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99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/>
                        <a:t>Advanced Prompting &amp; In-Context Reasoning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Chain-of-Thought (</a:t>
                      </a:r>
                      <a:r>
                        <a:rPr lang="en-IN" sz="1400" dirty="0" err="1"/>
                        <a:t>CoT</a:t>
                      </a:r>
                      <a:r>
                        <a:rPr lang="en-IN" sz="1400" dirty="0"/>
                        <a:t>)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Tree-of-Thoughts (</a:t>
                      </a:r>
                      <a:r>
                        <a:rPr lang="en-IN" sz="1400" dirty="0" err="1"/>
                        <a:t>ToT</a:t>
                      </a:r>
                      <a:r>
                        <a:rPr lang="en-IN" sz="1400" dirty="0"/>
                        <a:t>) &amp; Graph-of-Thoughts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System 2 Attention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Step-Back Prompting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Chain of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/>
                        <a:t>Context Management &amp; Retrieval Systems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Retrieval-Augmented Generation (RAG)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 err="1"/>
                        <a:t>GraphRAG</a:t>
                      </a:r>
                      <a:endParaRPr lang="en-IN" sz="1400" dirty="0"/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Recursive / Map-Reduce Summarization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Semantic Compression &amp; Sliding Windows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532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/>
                        <a:t>Inference-Time Compute &amp; Search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Self-Consistency / Best-of-N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Verifiers and Critics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Budget Forcing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Inference-Time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/>
                        <a:t>Structured Generation &amp; Neuro-Symbolic Integration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Constrained Decoding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Neuro-Symbolic / Logic-Enhanced Generation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Constraint Re-injection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082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/>
                        <a:t>Agentic Orchestration &amp; Cognitive Architectures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 err="1"/>
                        <a:t>ReAct</a:t>
                      </a:r>
                      <a:r>
                        <a:rPr lang="en-IN" sz="1400" dirty="0"/>
                        <a:t> &amp; Tool Use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Planner-Executor Separation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Reflexion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/>
                        <a:t>State Object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/>
                        <a:t>Programmatic Prompt Optimization</a:t>
                      </a:r>
                    </a:p>
                    <a:p>
                      <a:pPr marL="800100" lvl="1" indent="-342900">
                        <a:buAutoNum type="arabicPeriod"/>
                      </a:pPr>
                      <a:r>
                        <a:rPr lang="en-IN" sz="1400" dirty="0" err="1"/>
                        <a:t>DSPy</a:t>
                      </a:r>
                      <a:r>
                        <a:rPr lang="en-IN" sz="1400" dirty="0"/>
                        <a:t> (Declarative Self-improving Python)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614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067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0183" y="330183"/>
            <a:ext cx="49527" cy="330183"/>
          </a:xfrm>
          <a:custGeom>
            <a:avLst/>
            <a:gdLst/>
            <a:ahLst/>
            <a:cxnLst/>
            <a:rect l="l" t="t" r="r" b="b"/>
            <a:pathLst>
              <a:path w="49527" h="330183">
                <a:moveTo>
                  <a:pt x="24764" y="0"/>
                </a:moveTo>
                <a:lnTo>
                  <a:pt x="24764" y="0"/>
                </a:lnTo>
                <a:cubicBezTo>
                  <a:pt x="38440" y="0"/>
                  <a:pt x="49527" y="11087"/>
                  <a:pt x="49527" y="24764"/>
                </a:cubicBezTo>
                <a:lnTo>
                  <a:pt x="49527" y="305419"/>
                </a:lnTo>
                <a:cubicBezTo>
                  <a:pt x="49527" y="319096"/>
                  <a:pt x="38440" y="330183"/>
                  <a:pt x="24764" y="330183"/>
                </a:cubicBezTo>
                <a:lnTo>
                  <a:pt x="24764" y="330183"/>
                </a:lnTo>
                <a:cubicBezTo>
                  <a:pt x="11087" y="330183"/>
                  <a:pt x="0" y="319096"/>
                  <a:pt x="0" y="305419"/>
                </a:cubicBezTo>
                <a:lnTo>
                  <a:pt x="0" y="24764"/>
                </a:lnTo>
                <a:cubicBezTo>
                  <a:pt x="0" y="11087"/>
                  <a:pt x="11087" y="0"/>
                  <a:pt x="24764" y="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" name="Text 1"/>
          <p:cNvSpPr/>
          <p:nvPr/>
        </p:nvSpPr>
        <p:spPr>
          <a:xfrm>
            <a:off x="478765" y="330183"/>
            <a:ext cx="2682735" cy="33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8292" y="759420"/>
            <a:ext cx="11416070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Backstory Consistency Challenge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6692" y="1122622"/>
            <a:ext cx="6851293" cy="2806554"/>
          </a:xfrm>
          <a:custGeom>
            <a:avLst/>
            <a:gdLst/>
            <a:ahLst/>
            <a:cxnLst/>
            <a:rect l="l" t="t" r="r" b="b"/>
            <a:pathLst>
              <a:path w="6851293" h="2806554">
                <a:moveTo>
                  <a:pt x="0" y="0"/>
                </a:moveTo>
                <a:lnTo>
                  <a:pt x="6785255" y="0"/>
                </a:lnTo>
                <a:cubicBezTo>
                  <a:pt x="6821727" y="0"/>
                  <a:pt x="6851293" y="29566"/>
                  <a:pt x="6851293" y="66038"/>
                </a:cubicBezTo>
                <a:lnTo>
                  <a:pt x="6851293" y="2740516"/>
                </a:lnTo>
                <a:cubicBezTo>
                  <a:pt x="6851293" y="2776988"/>
                  <a:pt x="6821727" y="2806554"/>
                  <a:pt x="6785255" y="2806554"/>
                </a:cubicBezTo>
                <a:lnTo>
                  <a:pt x="0" y="2806554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6" name="Shape 4"/>
          <p:cNvSpPr/>
          <p:nvPr/>
        </p:nvSpPr>
        <p:spPr>
          <a:xfrm>
            <a:off x="346692" y="1122622"/>
            <a:ext cx="33018" cy="2806554"/>
          </a:xfrm>
          <a:custGeom>
            <a:avLst/>
            <a:gdLst/>
            <a:ahLst/>
            <a:cxnLst/>
            <a:rect l="l" t="t" r="r" b="b"/>
            <a:pathLst>
              <a:path w="33018" h="2806554">
                <a:moveTo>
                  <a:pt x="0" y="0"/>
                </a:moveTo>
                <a:lnTo>
                  <a:pt x="33018" y="0"/>
                </a:lnTo>
                <a:lnTo>
                  <a:pt x="33018" y="2806554"/>
                </a:lnTo>
                <a:lnTo>
                  <a:pt x="0" y="2806554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7" name="Shape 5"/>
          <p:cNvSpPr/>
          <p:nvPr/>
        </p:nvSpPr>
        <p:spPr>
          <a:xfrm>
            <a:off x="520038" y="1287608"/>
            <a:ext cx="198110" cy="198110"/>
          </a:xfrm>
          <a:custGeom>
            <a:avLst/>
            <a:gdLst/>
            <a:ahLst/>
            <a:cxnLst/>
            <a:rect l="l" t="t" r="r" b="b"/>
            <a:pathLst>
              <a:path w="198110" h="198110">
                <a:moveTo>
                  <a:pt x="99055" y="198110"/>
                </a:moveTo>
                <a:cubicBezTo>
                  <a:pt x="153725" y="198110"/>
                  <a:pt x="198110" y="153725"/>
                  <a:pt x="198110" y="99055"/>
                </a:cubicBezTo>
                <a:cubicBezTo>
                  <a:pt x="198110" y="44385"/>
                  <a:pt x="153725" y="0"/>
                  <a:pt x="99055" y="0"/>
                </a:cubicBezTo>
                <a:cubicBezTo>
                  <a:pt x="44385" y="0"/>
                  <a:pt x="0" y="44385"/>
                  <a:pt x="0" y="99055"/>
                </a:cubicBezTo>
                <a:cubicBezTo>
                  <a:pt x="0" y="153725"/>
                  <a:pt x="44385" y="198110"/>
                  <a:pt x="99055" y="198110"/>
                </a:cubicBezTo>
                <a:close/>
                <a:moveTo>
                  <a:pt x="99055" y="68100"/>
                </a:moveTo>
                <a:cubicBezTo>
                  <a:pt x="92206" y="68100"/>
                  <a:pt x="86673" y="73633"/>
                  <a:pt x="86673" y="80482"/>
                </a:cubicBezTo>
                <a:cubicBezTo>
                  <a:pt x="86673" y="85628"/>
                  <a:pt x="82533" y="89768"/>
                  <a:pt x="77387" y="89768"/>
                </a:cubicBezTo>
                <a:cubicBezTo>
                  <a:pt x="72240" y="89768"/>
                  <a:pt x="68100" y="85628"/>
                  <a:pt x="68100" y="80482"/>
                </a:cubicBezTo>
                <a:cubicBezTo>
                  <a:pt x="68100" y="63380"/>
                  <a:pt x="81952" y="49527"/>
                  <a:pt x="99055" y="49527"/>
                </a:cubicBezTo>
                <a:cubicBezTo>
                  <a:pt x="116157" y="49527"/>
                  <a:pt x="130009" y="63380"/>
                  <a:pt x="130009" y="80482"/>
                </a:cubicBezTo>
                <a:cubicBezTo>
                  <a:pt x="130009" y="98745"/>
                  <a:pt x="116080" y="106484"/>
                  <a:pt x="108341" y="109309"/>
                </a:cubicBezTo>
                <a:lnTo>
                  <a:pt x="108341" y="110779"/>
                </a:lnTo>
                <a:cubicBezTo>
                  <a:pt x="108341" y="115925"/>
                  <a:pt x="104201" y="120065"/>
                  <a:pt x="99055" y="120065"/>
                </a:cubicBezTo>
                <a:cubicBezTo>
                  <a:pt x="93909" y="120065"/>
                  <a:pt x="89768" y="115925"/>
                  <a:pt x="89768" y="110779"/>
                </a:cubicBezTo>
                <a:lnTo>
                  <a:pt x="89768" y="107645"/>
                </a:lnTo>
                <a:cubicBezTo>
                  <a:pt x="89768" y="99713"/>
                  <a:pt x="95495" y="94025"/>
                  <a:pt x="101415" y="92090"/>
                </a:cubicBezTo>
                <a:cubicBezTo>
                  <a:pt x="103892" y="91277"/>
                  <a:pt x="106523" y="89962"/>
                  <a:pt x="108457" y="88105"/>
                </a:cubicBezTo>
                <a:cubicBezTo>
                  <a:pt x="110121" y="86480"/>
                  <a:pt x="111437" y="84235"/>
                  <a:pt x="111437" y="80521"/>
                </a:cubicBezTo>
                <a:cubicBezTo>
                  <a:pt x="111437" y="73672"/>
                  <a:pt x="105904" y="68139"/>
                  <a:pt x="99055" y="68139"/>
                </a:cubicBezTo>
                <a:close/>
                <a:moveTo>
                  <a:pt x="86673" y="142391"/>
                </a:moveTo>
                <a:cubicBezTo>
                  <a:pt x="86673" y="135558"/>
                  <a:pt x="92221" y="130009"/>
                  <a:pt x="99055" y="130009"/>
                </a:cubicBezTo>
                <a:cubicBezTo>
                  <a:pt x="105889" y="130009"/>
                  <a:pt x="111437" y="135558"/>
                  <a:pt x="111437" y="142391"/>
                </a:cubicBezTo>
                <a:cubicBezTo>
                  <a:pt x="111437" y="149225"/>
                  <a:pt x="105889" y="154773"/>
                  <a:pt x="99055" y="154773"/>
                </a:cubicBezTo>
                <a:cubicBezTo>
                  <a:pt x="92221" y="154773"/>
                  <a:pt x="86673" y="149225"/>
                  <a:pt x="86673" y="142391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8" name="Text 6"/>
          <p:cNvSpPr/>
          <p:nvPr/>
        </p:nvSpPr>
        <p:spPr>
          <a:xfrm>
            <a:off x="742911" y="1254695"/>
            <a:ext cx="6422056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5274" y="1617791"/>
            <a:ext cx="6570638" cy="792439"/>
          </a:xfrm>
          <a:custGeom>
            <a:avLst/>
            <a:gdLst/>
            <a:ahLst/>
            <a:cxnLst/>
            <a:rect l="l" t="t" r="r" b="b"/>
            <a:pathLst>
              <a:path w="6570638" h="792439">
                <a:moveTo>
                  <a:pt x="66034" y="0"/>
                </a:moveTo>
                <a:lnTo>
                  <a:pt x="6504604" y="0"/>
                </a:lnTo>
                <a:cubicBezTo>
                  <a:pt x="6541073" y="0"/>
                  <a:pt x="6570638" y="29564"/>
                  <a:pt x="6570638" y="66034"/>
                </a:cubicBezTo>
                <a:lnTo>
                  <a:pt x="6570638" y="726405"/>
                </a:lnTo>
                <a:cubicBezTo>
                  <a:pt x="6570638" y="762874"/>
                  <a:pt x="6541073" y="792439"/>
                  <a:pt x="6504604" y="792439"/>
                </a:cubicBezTo>
                <a:lnTo>
                  <a:pt x="66034" y="792439"/>
                </a:lnTo>
                <a:cubicBezTo>
                  <a:pt x="29589" y="792439"/>
                  <a:pt x="0" y="762850"/>
                  <a:pt x="0" y="726405"/>
                </a:cubicBezTo>
                <a:lnTo>
                  <a:pt x="0" y="66034"/>
                </a:lnTo>
                <a:cubicBezTo>
                  <a:pt x="0" y="29589"/>
                  <a:pt x="29589" y="0"/>
                  <a:pt x="6603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29" y="1716846"/>
            <a:ext cx="6430310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kern="0" spc="45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Given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29" y="1914955"/>
            <a:ext cx="6438565" cy="39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 narrative text (100K+ tokens, essentially a book) + Hypothesized backstory (claims about what happened before the narrative)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5274" y="2509285"/>
            <a:ext cx="6570638" cy="594329"/>
          </a:xfrm>
          <a:custGeom>
            <a:avLst/>
            <a:gdLst/>
            <a:ahLst/>
            <a:cxnLst/>
            <a:rect l="l" t="t" r="r" b="b"/>
            <a:pathLst>
              <a:path w="6570638" h="594329">
                <a:moveTo>
                  <a:pt x="66036" y="0"/>
                </a:moveTo>
                <a:lnTo>
                  <a:pt x="6504602" y="0"/>
                </a:lnTo>
                <a:cubicBezTo>
                  <a:pt x="6541072" y="0"/>
                  <a:pt x="6570638" y="29565"/>
                  <a:pt x="6570638" y="66036"/>
                </a:cubicBezTo>
                <a:lnTo>
                  <a:pt x="6570638" y="528293"/>
                </a:lnTo>
                <a:cubicBezTo>
                  <a:pt x="6570638" y="564764"/>
                  <a:pt x="6541072" y="594329"/>
                  <a:pt x="6504602" y="594329"/>
                </a:cubicBezTo>
                <a:lnTo>
                  <a:pt x="66036" y="594329"/>
                </a:lnTo>
                <a:cubicBezTo>
                  <a:pt x="29590" y="594329"/>
                  <a:pt x="0" y="564739"/>
                  <a:pt x="0" y="528293"/>
                </a:cubicBezTo>
                <a:lnTo>
                  <a:pt x="0" y="66036"/>
                </a:lnTo>
                <a:cubicBezTo>
                  <a:pt x="0" y="29590"/>
                  <a:pt x="29590" y="0"/>
                  <a:pt x="66036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29" y="2608339"/>
            <a:ext cx="6430310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kern="0" spc="45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29" y="2806449"/>
            <a:ext cx="6438565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the backstory </a:t>
            </a:r>
            <a:r>
              <a:rPr lang="en-US" sz="104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(1)</a:t>
            </a:r>
            <a:r>
              <a:rPr lang="en-US" sz="104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r>
              <a:rPr lang="en-US" sz="104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CONTRADICTORY (0)</a:t>
            </a:r>
            <a:r>
              <a:rPr lang="en-US" sz="104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 Provide comprehensive evidence and reasoning.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5274" y="3202668"/>
            <a:ext cx="6570638" cy="594329"/>
          </a:xfrm>
          <a:custGeom>
            <a:avLst/>
            <a:gdLst/>
            <a:ahLst/>
            <a:cxnLst/>
            <a:rect l="l" t="t" r="r" b="b"/>
            <a:pathLst>
              <a:path w="6570638" h="594329">
                <a:moveTo>
                  <a:pt x="66036" y="0"/>
                </a:moveTo>
                <a:lnTo>
                  <a:pt x="6504602" y="0"/>
                </a:lnTo>
                <a:cubicBezTo>
                  <a:pt x="6541072" y="0"/>
                  <a:pt x="6570638" y="29565"/>
                  <a:pt x="6570638" y="66036"/>
                </a:cubicBezTo>
                <a:lnTo>
                  <a:pt x="6570638" y="528293"/>
                </a:lnTo>
                <a:cubicBezTo>
                  <a:pt x="6570638" y="564764"/>
                  <a:pt x="6541072" y="594329"/>
                  <a:pt x="6504602" y="594329"/>
                </a:cubicBezTo>
                <a:lnTo>
                  <a:pt x="66036" y="594329"/>
                </a:lnTo>
                <a:cubicBezTo>
                  <a:pt x="29590" y="594329"/>
                  <a:pt x="0" y="564739"/>
                  <a:pt x="0" y="528293"/>
                </a:cubicBezTo>
                <a:lnTo>
                  <a:pt x="0" y="66036"/>
                </a:lnTo>
                <a:cubicBezTo>
                  <a:pt x="0" y="29590"/>
                  <a:pt x="29590" y="0"/>
                  <a:pt x="66036" y="0"/>
                </a:cubicBezTo>
                <a:close/>
              </a:path>
            </a:pathLst>
          </a:custGeom>
          <a:gradFill flip="none" rotWithShape="1">
            <a:gsLst>
              <a:gs pos="0">
                <a:srgbClr val="C5A57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594329" y="3301723"/>
            <a:ext cx="6430310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29" y="3499833"/>
            <a:ext cx="6438565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Tests the boundary between pattern matching and true causal reasoning across long narratives.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29955" y="1139131"/>
            <a:ext cx="4531759" cy="2790045"/>
          </a:xfrm>
          <a:custGeom>
            <a:avLst/>
            <a:gdLst/>
            <a:ahLst/>
            <a:cxnLst/>
            <a:rect l="l" t="t" r="r" b="b"/>
            <a:pathLst>
              <a:path w="4531759" h="2790045">
                <a:moveTo>
                  <a:pt x="0" y="0"/>
                </a:moveTo>
                <a:lnTo>
                  <a:pt x="4531759" y="0"/>
                </a:lnTo>
                <a:lnTo>
                  <a:pt x="4531759" y="2724004"/>
                </a:lnTo>
                <a:cubicBezTo>
                  <a:pt x="4531759" y="2760477"/>
                  <a:pt x="4502192" y="2790045"/>
                  <a:pt x="4465719" y="2790045"/>
                </a:cubicBezTo>
                <a:lnTo>
                  <a:pt x="66040" y="2790045"/>
                </a:lnTo>
                <a:cubicBezTo>
                  <a:pt x="29567" y="2790045"/>
                  <a:pt x="0" y="2760477"/>
                  <a:pt x="0" y="2724004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19" name="Shape 17"/>
          <p:cNvSpPr/>
          <p:nvPr/>
        </p:nvSpPr>
        <p:spPr>
          <a:xfrm>
            <a:off x="7329955" y="1139131"/>
            <a:ext cx="4531759" cy="33018"/>
          </a:xfrm>
          <a:custGeom>
            <a:avLst/>
            <a:gdLst/>
            <a:ahLst/>
            <a:cxnLst/>
            <a:rect l="l" t="t" r="r" b="b"/>
            <a:pathLst>
              <a:path w="4531759" h="33018">
                <a:moveTo>
                  <a:pt x="0" y="0"/>
                </a:moveTo>
                <a:lnTo>
                  <a:pt x="4531759" y="0"/>
                </a:lnTo>
                <a:lnTo>
                  <a:pt x="4531759" y="33018"/>
                </a:lnTo>
                <a:lnTo>
                  <a:pt x="0" y="33018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0" name="Text 18"/>
          <p:cNvSpPr/>
          <p:nvPr/>
        </p:nvSpPr>
        <p:spPr>
          <a:xfrm>
            <a:off x="7462028" y="1287713"/>
            <a:ext cx="4341904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Complexity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62028" y="1617896"/>
            <a:ext cx="4267613" cy="363201"/>
          </a:xfrm>
          <a:custGeom>
            <a:avLst/>
            <a:gdLst/>
            <a:ahLst/>
            <a:cxnLst/>
            <a:rect l="l" t="t" r="r" b="b"/>
            <a:pathLst>
              <a:path w="4267613" h="363201">
                <a:moveTo>
                  <a:pt x="66037" y="0"/>
                </a:moveTo>
                <a:lnTo>
                  <a:pt x="4201576" y="0"/>
                </a:lnTo>
                <a:cubicBezTo>
                  <a:pt x="4238047" y="0"/>
                  <a:pt x="4267613" y="29566"/>
                  <a:pt x="4267613" y="66037"/>
                </a:cubicBezTo>
                <a:lnTo>
                  <a:pt x="4267613" y="297164"/>
                </a:lnTo>
                <a:cubicBezTo>
                  <a:pt x="4267613" y="333635"/>
                  <a:pt x="4238047" y="363201"/>
                  <a:pt x="4201576" y="363201"/>
                </a:cubicBezTo>
                <a:lnTo>
                  <a:pt x="66037" y="363201"/>
                </a:lnTo>
                <a:cubicBezTo>
                  <a:pt x="29590" y="363201"/>
                  <a:pt x="0" y="333611"/>
                  <a:pt x="0" y="297164"/>
                </a:cubicBezTo>
                <a:lnTo>
                  <a:pt x="0" y="66037"/>
                </a:lnTo>
                <a:cubicBezTo>
                  <a:pt x="0" y="29590"/>
                  <a:pt x="29590" y="0"/>
                  <a:pt x="6603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7528065" y="1716951"/>
            <a:ext cx="883239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Narrative Length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63567" y="1683932"/>
            <a:ext cx="478765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100K+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62028" y="2047133"/>
            <a:ext cx="4267613" cy="363201"/>
          </a:xfrm>
          <a:custGeom>
            <a:avLst/>
            <a:gdLst/>
            <a:ahLst/>
            <a:cxnLst/>
            <a:rect l="l" t="t" r="r" b="b"/>
            <a:pathLst>
              <a:path w="4267613" h="363201">
                <a:moveTo>
                  <a:pt x="66037" y="0"/>
                </a:moveTo>
                <a:lnTo>
                  <a:pt x="4201576" y="0"/>
                </a:lnTo>
                <a:cubicBezTo>
                  <a:pt x="4238047" y="0"/>
                  <a:pt x="4267613" y="29566"/>
                  <a:pt x="4267613" y="66037"/>
                </a:cubicBezTo>
                <a:lnTo>
                  <a:pt x="4267613" y="297164"/>
                </a:lnTo>
                <a:cubicBezTo>
                  <a:pt x="4267613" y="333635"/>
                  <a:pt x="4238047" y="363201"/>
                  <a:pt x="4201576" y="363201"/>
                </a:cubicBezTo>
                <a:lnTo>
                  <a:pt x="66037" y="363201"/>
                </a:lnTo>
                <a:cubicBezTo>
                  <a:pt x="29590" y="363201"/>
                  <a:pt x="0" y="333611"/>
                  <a:pt x="0" y="297164"/>
                </a:cubicBezTo>
                <a:lnTo>
                  <a:pt x="0" y="66037"/>
                </a:lnTo>
                <a:cubicBezTo>
                  <a:pt x="0" y="29590"/>
                  <a:pt x="29590" y="0"/>
                  <a:pt x="6603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7528065" y="2146188"/>
            <a:ext cx="1056585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Constraints to Track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256035" y="2113170"/>
            <a:ext cx="487020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1000+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62028" y="2476371"/>
            <a:ext cx="4267613" cy="363201"/>
          </a:xfrm>
          <a:custGeom>
            <a:avLst/>
            <a:gdLst/>
            <a:ahLst/>
            <a:cxnLst/>
            <a:rect l="l" t="t" r="r" b="b"/>
            <a:pathLst>
              <a:path w="4267613" h="363201">
                <a:moveTo>
                  <a:pt x="66037" y="0"/>
                </a:moveTo>
                <a:lnTo>
                  <a:pt x="4201576" y="0"/>
                </a:lnTo>
                <a:cubicBezTo>
                  <a:pt x="4238047" y="0"/>
                  <a:pt x="4267613" y="29566"/>
                  <a:pt x="4267613" y="66037"/>
                </a:cubicBezTo>
                <a:lnTo>
                  <a:pt x="4267613" y="297164"/>
                </a:lnTo>
                <a:cubicBezTo>
                  <a:pt x="4267613" y="333635"/>
                  <a:pt x="4238047" y="363201"/>
                  <a:pt x="4201576" y="363201"/>
                </a:cubicBezTo>
                <a:lnTo>
                  <a:pt x="66037" y="363201"/>
                </a:lnTo>
                <a:cubicBezTo>
                  <a:pt x="29590" y="363201"/>
                  <a:pt x="0" y="333611"/>
                  <a:pt x="0" y="297164"/>
                </a:cubicBezTo>
                <a:lnTo>
                  <a:pt x="0" y="66037"/>
                </a:lnTo>
                <a:cubicBezTo>
                  <a:pt x="0" y="29590"/>
                  <a:pt x="29590" y="0"/>
                  <a:pt x="6603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7528065" y="2575426"/>
            <a:ext cx="874984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Causal Relations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319595" y="2542408"/>
            <a:ext cx="420983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500+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0183" y="4077653"/>
            <a:ext cx="2806554" cy="1295968"/>
          </a:xfrm>
          <a:custGeom>
            <a:avLst/>
            <a:gdLst/>
            <a:ahLst/>
            <a:cxnLst/>
            <a:rect l="l" t="t" r="r" b="b"/>
            <a:pathLst>
              <a:path w="2806554" h="1295968">
                <a:moveTo>
                  <a:pt x="0" y="0"/>
                </a:moveTo>
                <a:lnTo>
                  <a:pt x="2806554" y="0"/>
                </a:lnTo>
                <a:lnTo>
                  <a:pt x="2806554" y="1229925"/>
                </a:lnTo>
                <a:cubicBezTo>
                  <a:pt x="2806554" y="1266399"/>
                  <a:pt x="2776986" y="1295968"/>
                  <a:pt x="2740511" y="1295968"/>
                </a:cubicBezTo>
                <a:lnTo>
                  <a:pt x="66043" y="1295968"/>
                </a:lnTo>
                <a:cubicBezTo>
                  <a:pt x="29568" y="1295968"/>
                  <a:pt x="0" y="1266399"/>
                  <a:pt x="0" y="1229925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31" name="Shape 29"/>
          <p:cNvSpPr/>
          <p:nvPr/>
        </p:nvSpPr>
        <p:spPr>
          <a:xfrm>
            <a:off x="330183" y="4077653"/>
            <a:ext cx="2806554" cy="33018"/>
          </a:xfrm>
          <a:custGeom>
            <a:avLst/>
            <a:gdLst/>
            <a:ahLst/>
            <a:cxnLst/>
            <a:rect l="l" t="t" r="r" b="b"/>
            <a:pathLst>
              <a:path w="2806554" h="33018">
                <a:moveTo>
                  <a:pt x="0" y="0"/>
                </a:moveTo>
                <a:lnTo>
                  <a:pt x="2806554" y="0"/>
                </a:lnTo>
                <a:lnTo>
                  <a:pt x="2806554" y="33018"/>
                </a:lnTo>
                <a:lnTo>
                  <a:pt x="0" y="33018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2" name="Shape 30"/>
          <p:cNvSpPr/>
          <p:nvPr/>
        </p:nvSpPr>
        <p:spPr>
          <a:xfrm>
            <a:off x="429238" y="4193217"/>
            <a:ext cx="264146" cy="264146"/>
          </a:xfrm>
          <a:custGeom>
            <a:avLst/>
            <a:gdLst/>
            <a:ahLst/>
            <a:cxnLst/>
            <a:rect l="l" t="t" r="r" b="b"/>
            <a:pathLst>
              <a:path w="264146" h="264146">
                <a:moveTo>
                  <a:pt x="132073" y="0"/>
                </a:moveTo>
                <a:lnTo>
                  <a:pt x="132073" y="0"/>
                </a:lnTo>
                <a:cubicBezTo>
                  <a:pt x="204966" y="0"/>
                  <a:pt x="264146" y="59180"/>
                  <a:pt x="264146" y="132073"/>
                </a:cubicBezTo>
                <a:lnTo>
                  <a:pt x="264146" y="132073"/>
                </a:lnTo>
                <a:cubicBezTo>
                  <a:pt x="264146" y="204966"/>
                  <a:pt x="204966" y="264146"/>
                  <a:pt x="132073" y="264146"/>
                </a:cubicBezTo>
                <a:lnTo>
                  <a:pt x="132073" y="264146"/>
                </a:lnTo>
                <a:cubicBezTo>
                  <a:pt x="59180" y="264146"/>
                  <a:pt x="0" y="204966"/>
                  <a:pt x="0" y="132073"/>
                </a:cubicBezTo>
                <a:lnTo>
                  <a:pt x="0" y="132073"/>
                </a:lnTo>
                <a:cubicBezTo>
                  <a:pt x="0" y="59180"/>
                  <a:pt x="59180" y="0"/>
                  <a:pt x="132073" y="0"/>
                </a:cubicBezTo>
                <a:close/>
              </a:path>
            </a:pathLst>
          </a:custGeom>
          <a:solidFill>
            <a:srgbClr val="C5A57A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40365" y="4226235"/>
            <a:ext cx="107309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9420" y="4226235"/>
            <a:ext cx="1188658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Consistency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29238" y="4523400"/>
            <a:ext cx="2666226" cy="561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1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suffer from "lost in the middle" with long contexts. Need to track how constraints evolve over time—early events restrict what's plausible later.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38474" y="4077653"/>
            <a:ext cx="2806554" cy="1295968"/>
          </a:xfrm>
          <a:custGeom>
            <a:avLst/>
            <a:gdLst/>
            <a:ahLst/>
            <a:cxnLst/>
            <a:rect l="l" t="t" r="r" b="b"/>
            <a:pathLst>
              <a:path w="2806554" h="1295968">
                <a:moveTo>
                  <a:pt x="0" y="0"/>
                </a:moveTo>
                <a:lnTo>
                  <a:pt x="2806554" y="0"/>
                </a:lnTo>
                <a:lnTo>
                  <a:pt x="2806554" y="1229925"/>
                </a:lnTo>
                <a:cubicBezTo>
                  <a:pt x="2806554" y="1266399"/>
                  <a:pt x="2776986" y="1295968"/>
                  <a:pt x="2740511" y="1295968"/>
                </a:cubicBezTo>
                <a:lnTo>
                  <a:pt x="66043" y="1295968"/>
                </a:lnTo>
                <a:cubicBezTo>
                  <a:pt x="29568" y="1295968"/>
                  <a:pt x="0" y="1266399"/>
                  <a:pt x="0" y="1229925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37" name="Shape 35"/>
          <p:cNvSpPr/>
          <p:nvPr/>
        </p:nvSpPr>
        <p:spPr>
          <a:xfrm>
            <a:off x="3238474" y="4077653"/>
            <a:ext cx="2806554" cy="33018"/>
          </a:xfrm>
          <a:custGeom>
            <a:avLst/>
            <a:gdLst/>
            <a:ahLst/>
            <a:cxnLst/>
            <a:rect l="l" t="t" r="r" b="b"/>
            <a:pathLst>
              <a:path w="2806554" h="33018">
                <a:moveTo>
                  <a:pt x="0" y="0"/>
                </a:moveTo>
                <a:lnTo>
                  <a:pt x="2806554" y="0"/>
                </a:lnTo>
                <a:lnTo>
                  <a:pt x="2806554" y="33018"/>
                </a:lnTo>
                <a:lnTo>
                  <a:pt x="0" y="33018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8" name="Shape 36"/>
          <p:cNvSpPr/>
          <p:nvPr/>
        </p:nvSpPr>
        <p:spPr>
          <a:xfrm>
            <a:off x="3337529" y="4193217"/>
            <a:ext cx="264146" cy="264146"/>
          </a:xfrm>
          <a:custGeom>
            <a:avLst/>
            <a:gdLst/>
            <a:ahLst/>
            <a:cxnLst/>
            <a:rect l="l" t="t" r="r" b="b"/>
            <a:pathLst>
              <a:path w="264146" h="264146">
                <a:moveTo>
                  <a:pt x="132073" y="0"/>
                </a:moveTo>
                <a:lnTo>
                  <a:pt x="132073" y="0"/>
                </a:lnTo>
                <a:cubicBezTo>
                  <a:pt x="204966" y="0"/>
                  <a:pt x="264146" y="59180"/>
                  <a:pt x="264146" y="132073"/>
                </a:cubicBezTo>
                <a:lnTo>
                  <a:pt x="264146" y="132073"/>
                </a:lnTo>
                <a:cubicBezTo>
                  <a:pt x="264146" y="204966"/>
                  <a:pt x="204966" y="264146"/>
                  <a:pt x="132073" y="264146"/>
                </a:cubicBezTo>
                <a:lnTo>
                  <a:pt x="132073" y="264146"/>
                </a:lnTo>
                <a:cubicBezTo>
                  <a:pt x="59180" y="264146"/>
                  <a:pt x="0" y="204966"/>
                  <a:pt x="0" y="132073"/>
                </a:cubicBezTo>
                <a:lnTo>
                  <a:pt x="0" y="132073"/>
                </a:lnTo>
                <a:cubicBezTo>
                  <a:pt x="0" y="59180"/>
                  <a:pt x="59180" y="0"/>
                  <a:pt x="132073" y="0"/>
                </a:cubicBezTo>
                <a:close/>
              </a:path>
            </a:pathLst>
          </a:custGeom>
          <a:solidFill>
            <a:srgbClr val="C5A57A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435965" y="4226235"/>
            <a:ext cx="132073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667712" y="4226235"/>
            <a:ext cx="1097858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Causal Reasoning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337529" y="4523400"/>
            <a:ext cx="2666226" cy="751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1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just "does X appear in text?" but "could X have caused Y?" Must validate temporal ordering and logical consistency, distinguishing correlation from causation.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46869" y="4077653"/>
            <a:ext cx="2806554" cy="1295968"/>
          </a:xfrm>
          <a:custGeom>
            <a:avLst/>
            <a:gdLst/>
            <a:ahLst/>
            <a:cxnLst/>
            <a:rect l="l" t="t" r="r" b="b"/>
            <a:pathLst>
              <a:path w="2806554" h="1295968">
                <a:moveTo>
                  <a:pt x="0" y="0"/>
                </a:moveTo>
                <a:lnTo>
                  <a:pt x="2806554" y="0"/>
                </a:lnTo>
                <a:lnTo>
                  <a:pt x="2806554" y="1229925"/>
                </a:lnTo>
                <a:cubicBezTo>
                  <a:pt x="2806554" y="1266399"/>
                  <a:pt x="2776986" y="1295968"/>
                  <a:pt x="2740511" y="1295968"/>
                </a:cubicBezTo>
                <a:lnTo>
                  <a:pt x="66043" y="1295968"/>
                </a:lnTo>
                <a:cubicBezTo>
                  <a:pt x="29568" y="1295968"/>
                  <a:pt x="0" y="1266399"/>
                  <a:pt x="0" y="1229925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43" name="Shape 41"/>
          <p:cNvSpPr/>
          <p:nvPr/>
        </p:nvSpPr>
        <p:spPr>
          <a:xfrm>
            <a:off x="6146869" y="4077653"/>
            <a:ext cx="2806554" cy="33018"/>
          </a:xfrm>
          <a:custGeom>
            <a:avLst/>
            <a:gdLst/>
            <a:ahLst/>
            <a:cxnLst/>
            <a:rect l="l" t="t" r="r" b="b"/>
            <a:pathLst>
              <a:path w="2806554" h="33018">
                <a:moveTo>
                  <a:pt x="0" y="0"/>
                </a:moveTo>
                <a:lnTo>
                  <a:pt x="2806554" y="0"/>
                </a:lnTo>
                <a:lnTo>
                  <a:pt x="2806554" y="33018"/>
                </a:lnTo>
                <a:lnTo>
                  <a:pt x="0" y="33018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4" name="Shape 42"/>
          <p:cNvSpPr/>
          <p:nvPr/>
        </p:nvSpPr>
        <p:spPr>
          <a:xfrm>
            <a:off x="6245924" y="4193217"/>
            <a:ext cx="264146" cy="264146"/>
          </a:xfrm>
          <a:custGeom>
            <a:avLst/>
            <a:gdLst/>
            <a:ahLst/>
            <a:cxnLst/>
            <a:rect l="l" t="t" r="r" b="b"/>
            <a:pathLst>
              <a:path w="264146" h="264146">
                <a:moveTo>
                  <a:pt x="132073" y="0"/>
                </a:moveTo>
                <a:lnTo>
                  <a:pt x="132073" y="0"/>
                </a:lnTo>
                <a:cubicBezTo>
                  <a:pt x="204966" y="0"/>
                  <a:pt x="264146" y="59180"/>
                  <a:pt x="264146" y="132073"/>
                </a:cubicBezTo>
                <a:lnTo>
                  <a:pt x="264146" y="132073"/>
                </a:lnTo>
                <a:cubicBezTo>
                  <a:pt x="264146" y="204966"/>
                  <a:pt x="204966" y="264146"/>
                  <a:pt x="132073" y="264146"/>
                </a:cubicBezTo>
                <a:lnTo>
                  <a:pt x="132073" y="264146"/>
                </a:lnTo>
                <a:cubicBezTo>
                  <a:pt x="59180" y="264146"/>
                  <a:pt x="0" y="204966"/>
                  <a:pt x="0" y="132073"/>
                </a:cubicBezTo>
                <a:lnTo>
                  <a:pt x="0" y="132073"/>
                </a:lnTo>
                <a:cubicBezTo>
                  <a:pt x="0" y="59180"/>
                  <a:pt x="59180" y="0"/>
                  <a:pt x="132073" y="0"/>
                </a:cubicBezTo>
                <a:close/>
              </a:path>
            </a:pathLst>
          </a:custGeom>
          <a:solidFill>
            <a:srgbClr val="C5A57A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42605" y="4226235"/>
            <a:ext cx="140328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76107" y="4226235"/>
            <a:ext cx="1213422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Constraint Tracking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45924" y="4523400"/>
            <a:ext cx="2666226" cy="561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1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rules: "Magic doesn't work in the Tower." Character states: "Alice never left the village." These accumulate and must be respected by backstory.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55161" y="4077653"/>
            <a:ext cx="2806554" cy="1295968"/>
          </a:xfrm>
          <a:custGeom>
            <a:avLst/>
            <a:gdLst/>
            <a:ahLst/>
            <a:cxnLst/>
            <a:rect l="l" t="t" r="r" b="b"/>
            <a:pathLst>
              <a:path w="2806554" h="1295968">
                <a:moveTo>
                  <a:pt x="0" y="0"/>
                </a:moveTo>
                <a:lnTo>
                  <a:pt x="2806554" y="0"/>
                </a:lnTo>
                <a:lnTo>
                  <a:pt x="2806554" y="1229925"/>
                </a:lnTo>
                <a:cubicBezTo>
                  <a:pt x="2806554" y="1266399"/>
                  <a:pt x="2776986" y="1295968"/>
                  <a:pt x="2740511" y="1295968"/>
                </a:cubicBezTo>
                <a:lnTo>
                  <a:pt x="66043" y="1295968"/>
                </a:lnTo>
                <a:cubicBezTo>
                  <a:pt x="29568" y="1295968"/>
                  <a:pt x="0" y="1266399"/>
                  <a:pt x="0" y="1229925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49" name="Shape 47"/>
          <p:cNvSpPr/>
          <p:nvPr/>
        </p:nvSpPr>
        <p:spPr>
          <a:xfrm>
            <a:off x="9055161" y="4077653"/>
            <a:ext cx="2806554" cy="33018"/>
          </a:xfrm>
          <a:custGeom>
            <a:avLst/>
            <a:gdLst/>
            <a:ahLst/>
            <a:cxnLst/>
            <a:rect l="l" t="t" r="r" b="b"/>
            <a:pathLst>
              <a:path w="2806554" h="33018">
                <a:moveTo>
                  <a:pt x="0" y="0"/>
                </a:moveTo>
                <a:lnTo>
                  <a:pt x="2806554" y="0"/>
                </a:lnTo>
                <a:lnTo>
                  <a:pt x="2806554" y="33018"/>
                </a:lnTo>
                <a:lnTo>
                  <a:pt x="0" y="33018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0" name="Shape 48"/>
          <p:cNvSpPr/>
          <p:nvPr/>
        </p:nvSpPr>
        <p:spPr>
          <a:xfrm>
            <a:off x="9154215" y="4193217"/>
            <a:ext cx="264146" cy="264146"/>
          </a:xfrm>
          <a:custGeom>
            <a:avLst/>
            <a:gdLst/>
            <a:ahLst/>
            <a:cxnLst/>
            <a:rect l="l" t="t" r="r" b="b"/>
            <a:pathLst>
              <a:path w="264146" h="264146">
                <a:moveTo>
                  <a:pt x="132073" y="0"/>
                </a:moveTo>
                <a:lnTo>
                  <a:pt x="132073" y="0"/>
                </a:lnTo>
                <a:cubicBezTo>
                  <a:pt x="204966" y="0"/>
                  <a:pt x="264146" y="59180"/>
                  <a:pt x="264146" y="132073"/>
                </a:cubicBezTo>
                <a:lnTo>
                  <a:pt x="264146" y="132073"/>
                </a:lnTo>
                <a:cubicBezTo>
                  <a:pt x="264146" y="204966"/>
                  <a:pt x="204966" y="264146"/>
                  <a:pt x="132073" y="264146"/>
                </a:cubicBezTo>
                <a:lnTo>
                  <a:pt x="132073" y="264146"/>
                </a:lnTo>
                <a:cubicBezTo>
                  <a:pt x="59180" y="264146"/>
                  <a:pt x="0" y="204966"/>
                  <a:pt x="0" y="132073"/>
                </a:cubicBezTo>
                <a:lnTo>
                  <a:pt x="0" y="132073"/>
                </a:lnTo>
                <a:cubicBezTo>
                  <a:pt x="0" y="59180"/>
                  <a:pt x="59180" y="0"/>
                  <a:pt x="132073" y="0"/>
                </a:cubicBezTo>
                <a:close/>
              </a:path>
            </a:pathLst>
          </a:custGeom>
          <a:solidFill>
            <a:srgbClr val="C5A57A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252651" y="4226235"/>
            <a:ext cx="132073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484398" y="4226235"/>
            <a:ext cx="1040076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Evidence Quality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54215" y="4523400"/>
            <a:ext cx="2666226" cy="751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1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all retrieved text is relevant (noise vs. signal). Need explicit vs. implicit vs. semantic evidence hierarchy. Must handle contradictory or insufficient evidence.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46692" y="5505693"/>
            <a:ext cx="11515125" cy="627347"/>
          </a:xfrm>
          <a:custGeom>
            <a:avLst/>
            <a:gdLst/>
            <a:ahLst/>
            <a:cxnLst/>
            <a:rect l="l" t="t" r="r" b="b"/>
            <a:pathLst>
              <a:path w="11515125" h="627347">
                <a:moveTo>
                  <a:pt x="33018" y="0"/>
                </a:moveTo>
                <a:lnTo>
                  <a:pt x="11449091" y="0"/>
                </a:lnTo>
                <a:cubicBezTo>
                  <a:pt x="11485561" y="0"/>
                  <a:pt x="11515125" y="29565"/>
                  <a:pt x="11515125" y="66035"/>
                </a:cubicBezTo>
                <a:lnTo>
                  <a:pt x="11515125" y="561313"/>
                </a:lnTo>
                <a:cubicBezTo>
                  <a:pt x="11515125" y="597783"/>
                  <a:pt x="11485561" y="627347"/>
                  <a:pt x="11449091" y="627347"/>
                </a:cubicBezTo>
                <a:lnTo>
                  <a:pt x="33018" y="627347"/>
                </a:lnTo>
                <a:cubicBezTo>
                  <a:pt x="14783" y="627347"/>
                  <a:pt x="0" y="612565"/>
                  <a:pt x="0" y="594329"/>
                </a:cubicBezTo>
                <a:lnTo>
                  <a:pt x="0" y="33018"/>
                </a:lnTo>
                <a:cubicBezTo>
                  <a:pt x="0" y="14795"/>
                  <a:pt x="14795" y="0"/>
                  <a:pt x="33018" y="0"/>
                </a:cubicBezTo>
                <a:close/>
              </a:path>
            </a:pathLst>
          </a:custGeom>
          <a:gradFill flip="none" rotWithShape="1">
            <a:gsLst>
              <a:gs pos="0">
                <a:srgbClr val="C5A57A">
                  <a:alpha val="20000"/>
                </a:srgbClr>
              </a:gs>
              <a:gs pos="5000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5" name="Shape 53"/>
          <p:cNvSpPr/>
          <p:nvPr/>
        </p:nvSpPr>
        <p:spPr>
          <a:xfrm>
            <a:off x="346692" y="5505693"/>
            <a:ext cx="33018" cy="627347"/>
          </a:xfrm>
          <a:custGeom>
            <a:avLst/>
            <a:gdLst/>
            <a:ahLst/>
            <a:cxnLst/>
            <a:rect l="l" t="t" r="r" b="b"/>
            <a:pathLst>
              <a:path w="33018" h="627347">
                <a:moveTo>
                  <a:pt x="33018" y="0"/>
                </a:moveTo>
                <a:lnTo>
                  <a:pt x="33018" y="0"/>
                </a:lnTo>
                <a:lnTo>
                  <a:pt x="33018" y="627347"/>
                </a:lnTo>
                <a:lnTo>
                  <a:pt x="33018" y="627347"/>
                </a:lnTo>
                <a:cubicBezTo>
                  <a:pt x="14783" y="627347"/>
                  <a:pt x="0" y="612565"/>
                  <a:pt x="0" y="594329"/>
                </a:cubicBezTo>
                <a:lnTo>
                  <a:pt x="0" y="33018"/>
                </a:lnTo>
                <a:cubicBezTo>
                  <a:pt x="0" y="14795"/>
                  <a:pt x="14795" y="0"/>
                  <a:pt x="33018" y="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6" name="Shape 54"/>
          <p:cNvSpPr/>
          <p:nvPr/>
        </p:nvSpPr>
        <p:spPr>
          <a:xfrm>
            <a:off x="478765" y="5637767"/>
            <a:ext cx="132073" cy="132073"/>
          </a:xfrm>
          <a:custGeom>
            <a:avLst/>
            <a:gdLst/>
            <a:ahLst/>
            <a:cxnLst/>
            <a:rect l="l" t="t" r="r" b="b"/>
            <a:pathLst>
              <a:path w="132073" h="132073">
                <a:moveTo>
                  <a:pt x="66037" y="0"/>
                </a:moveTo>
                <a:cubicBezTo>
                  <a:pt x="69829" y="0"/>
                  <a:pt x="73311" y="2089"/>
                  <a:pt x="75117" y="5417"/>
                </a:cubicBezTo>
                <a:lnTo>
                  <a:pt x="130835" y="108599"/>
                </a:lnTo>
                <a:cubicBezTo>
                  <a:pt x="132563" y="111798"/>
                  <a:pt x="132486" y="115667"/>
                  <a:pt x="130629" y="118788"/>
                </a:cubicBezTo>
                <a:cubicBezTo>
                  <a:pt x="128771" y="121910"/>
                  <a:pt x="125392" y="123819"/>
                  <a:pt x="121755" y="123819"/>
                </a:cubicBezTo>
                <a:lnTo>
                  <a:pt x="10318" y="123819"/>
                </a:lnTo>
                <a:cubicBezTo>
                  <a:pt x="6681" y="123819"/>
                  <a:pt x="3328" y="121910"/>
                  <a:pt x="1445" y="118788"/>
                </a:cubicBezTo>
                <a:cubicBezTo>
                  <a:pt x="-439" y="115667"/>
                  <a:pt x="-490" y="111798"/>
                  <a:pt x="1238" y="108599"/>
                </a:cubicBezTo>
                <a:lnTo>
                  <a:pt x="56957" y="5417"/>
                </a:lnTo>
                <a:cubicBezTo>
                  <a:pt x="58762" y="2089"/>
                  <a:pt x="62245" y="0"/>
                  <a:pt x="66037" y="0"/>
                </a:cubicBezTo>
                <a:close/>
                <a:moveTo>
                  <a:pt x="66037" y="43336"/>
                </a:moveTo>
                <a:cubicBezTo>
                  <a:pt x="62606" y="43336"/>
                  <a:pt x="59846" y="46097"/>
                  <a:pt x="59846" y="49527"/>
                </a:cubicBezTo>
                <a:lnTo>
                  <a:pt x="59846" y="78418"/>
                </a:lnTo>
                <a:cubicBezTo>
                  <a:pt x="59846" y="81849"/>
                  <a:pt x="62606" y="84609"/>
                  <a:pt x="66037" y="84609"/>
                </a:cubicBezTo>
                <a:cubicBezTo>
                  <a:pt x="69467" y="84609"/>
                  <a:pt x="72227" y="81849"/>
                  <a:pt x="72227" y="78418"/>
                </a:cubicBezTo>
                <a:lnTo>
                  <a:pt x="72227" y="49527"/>
                </a:lnTo>
                <a:cubicBezTo>
                  <a:pt x="72227" y="46097"/>
                  <a:pt x="69467" y="43336"/>
                  <a:pt x="66037" y="43336"/>
                </a:cubicBezTo>
                <a:close/>
                <a:moveTo>
                  <a:pt x="72924" y="99055"/>
                </a:moveTo>
                <a:cubicBezTo>
                  <a:pt x="73081" y="96498"/>
                  <a:pt x="71806" y="94066"/>
                  <a:pt x="69614" y="92740"/>
                </a:cubicBezTo>
                <a:cubicBezTo>
                  <a:pt x="67423" y="91415"/>
                  <a:pt x="64676" y="91415"/>
                  <a:pt x="62485" y="92740"/>
                </a:cubicBezTo>
                <a:cubicBezTo>
                  <a:pt x="60293" y="94066"/>
                  <a:pt x="59018" y="96498"/>
                  <a:pt x="59175" y="99055"/>
                </a:cubicBezTo>
                <a:cubicBezTo>
                  <a:pt x="59018" y="101611"/>
                  <a:pt x="60293" y="104044"/>
                  <a:pt x="62485" y="105369"/>
                </a:cubicBezTo>
                <a:cubicBezTo>
                  <a:pt x="64676" y="106695"/>
                  <a:pt x="67423" y="106695"/>
                  <a:pt x="69614" y="105369"/>
                </a:cubicBezTo>
                <a:cubicBezTo>
                  <a:pt x="71806" y="104044"/>
                  <a:pt x="73081" y="101611"/>
                  <a:pt x="72924" y="99055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7" name="Text 55"/>
          <p:cNvSpPr/>
          <p:nvPr/>
        </p:nvSpPr>
        <p:spPr>
          <a:xfrm>
            <a:off x="670269" y="5604748"/>
            <a:ext cx="11158530" cy="42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This Matters:</a:t>
            </a:r>
            <a:r>
              <a:rPr lang="en-US" sz="104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problem tests the fundamental boundary between pattern matching and true causal reasoning—requiring systems to understand not just what happened, but why it happened and what could have happened differently.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400050"/>
            <a:ext cx="2809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838200"/>
            <a:ext cx="1128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Two-Phase Approach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5619750" cy="3067050"/>
          </a:xfrm>
          <a:custGeom>
            <a:avLst/>
            <a:gdLst/>
            <a:ahLst/>
            <a:cxnLst/>
            <a:rect l="l" t="t" r="r" b="b"/>
            <a:pathLst>
              <a:path w="5619750" h="3067050">
                <a:moveTo>
                  <a:pt x="0" y="0"/>
                </a:moveTo>
                <a:lnTo>
                  <a:pt x="5543564" y="0"/>
                </a:lnTo>
                <a:cubicBezTo>
                  <a:pt x="5585641" y="0"/>
                  <a:pt x="5619750" y="34109"/>
                  <a:pt x="5619750" y="76186"/>
                </a:cubicBezTo>
                <a:lnTo>
                  <a:pt x="5619750" y="2990864"/>
                </a:lnTo>
                <a:cubicBezTo>
                  <a:pt x="5619750" y="3032941"/>
                  <a:pt x="5585641" y="3067050"/>
                  <a:pt x="5543564" y="3067050"/>
                </a:cubicBezTo>
                <a:lnTo>
                  <a:pt x="0" y="3067050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219200"/>
            <a:ext cx="38100" cy="3067050"/>
          </a:xfrm>
          <a:custGeom>
            <a:avLst/>
            <a:gdLst/>
            <a:ahLst/>
            <a:cxnLst/>
            <a:rect l="l" t="t" r="r" b="b"/>
            <a:pathLst>
              <a:path w="38100" h="3067050">
                <a:moveTo>
                  <a:pt x="0" y="0"/>
                </a:moveTo>
                <a:lnTo>
                  <a:pt x="38100" y="0"/>
                </a:lnTo>
                <a:lnTo>
                  <a:pt x="38100" y="3067050"/>
                </a:lnTo>
                <a:lnTo>
                  <a:pt x="0" y="306705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96635" y="1390650"/>
            <a:ext cx="14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" y="1390650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Extraction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1790700"/>
            <a:ext cx="54387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 structured information from narrative text through chunking, LLM-based entity recognition, and graph construction.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2300288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76198" y="0"/>
                </a:moveTo>
                <a:lnTo>
                  <a:pt x="5295902" y="0"/>
                </a:lnTo>
                <a:cubicBezTo>
                  <a:pt x="5337985" y="0"/>
                  <a:pt x="5372100" y="34115"/>
                  <a:pt x="5372100" y="76198"/>
                </a:cubicBezTo>
                <a:lnTo>
                  <a:pt x="5372100" y="495302"/>
                </a:lnTo>
                <a:cubicBezTo>
                  <a:pt x="5372100" y="537385"/>
                  <a:pt x="5337985" y="571500"/>
                  <a:pt x="52959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Shape 10"/>
          <p:cNvSpPr/>
          <p:nvPr/>
        </p:nvSpPr>
        <p:spPr>
          <a:xfrm>
            <a:off x="628650" y="24050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006" y="66675"/>
                </a:moveTo>
                <a:lnTo>
                  <a:pt x="39719" y="76963"/>
                </a:lnTo>
                <a:cubicBezTo>
                  <a:pt x="36437" y="75687"/>
                  <a:pt x="32895" y="75009"/>
                  <a:pt x="29170" y="75009"/>
                </a:cubicBezTo>
                <a:cubicBezTo>
                  <a:pt x="13049" y="75009"/>
                  <a:pt x="0" y="88058"/>
                  <a:pt x="0" y="104180"/>
                </a:cubicBezTo>
                <a:cubicBezTo>
                  <a:pt x="0" y="120301"/>
                  <a:pt x="13049" y="133350"/>
                  <a:pt x="29170" y="133350"/>
                </a:cubicBezTo>
                <a:cubicBezTo>
                  <a:pt x="45292" y="133350"/>
                  <a:pt x="58341" y="120301"/>
                  <a:pt x="58341" y="104180"/>
                </a:cubicBezTo>
                <a:cubicBezTo>
                  <a:pt x="58341" y="100455"/>
                  <a:pt x="57637" y="96913"/>
                  <a:pt x="56387" y="93631"/>
                </a:cubicBezTo>
                <a:lnTo>
                  <a:pt x="130016" y="20003"/>
                </a:lnTo>
                <a:cubicBezTo>
                  <a:pt x="131865" y="18153"/>
                  <a:pt x="131865" y="15184"/>
                  <a:pt x="130016" y="13335"/>
                </a:cubicBezTo>
                <a:cubicBezTo>
                  <a:pt x="122646" y="5964"/>
                  <a:pt x="110717" y="5964"/>
                  <a:pt x="103346" y="13335"/>
                </a:cubicBezTo>
                <a:lnTo>
                  <a:pt x="66675" y="50006"/>
                </a:lnTo>
                <a:lnTo>
                  <a:pt x="56387" y="39719"/>
                </a:lnTo>
                <a:cubicBezTo>
                  <a:pt x="57663" y="36437"/>
                  <a:pt x="58341" y="32895"/>
                  <a:pt x="58341" y="29170"/>
                </a:cubicBezTo>
                <a:cubicBezTo>
                  <a:pt x="58341" y="13049"/>
                  <a:pt x="45292" y="0"/>
                  <a:pt x="29170" y="0"/>
                </a:cubicBezTo>
                <a:cubicBezTo>
                  <a:pt x="13049" y="0"/>
                  <a:pt x="0" y="13049"/>
                  <a:pt x="0" y="29170"/>
                </a:cubicBezTo>
                <a:cubicBezTo>
                  <a:pt x="0" y="45292"/>
                  <a:pt x="13049" y="58341"/>
                  <a:pt x="29170" y="58341"/>
                </a:cubicBezTo>
                <a:cubicBezTo>
                  <a:pt x="32895" y="58341"/>
                  <a:pt x="36437" y="57637"/>
                  <a:pt x="39719" y="56387"/>
                </a:cubicBezTo>
                <a:lnTo>
                  <a:pt x="50006" y="66675"/>
                </a:lnTo>
                <a:close/>
                <a:moveTo>
                  <a:pt x="75504" y="92173"/>
                </a:moveTo>
                <a:lnTo>
                  <a:pt x="103346" y="120015"/>
                </a:lnTo>
                <a:cubicBezTo>
                  <a:pt x="110717" y="127386"/>
                  <a:pt x="122646" y="127386"/>
                  <a:pt x="130016" y="120015"/>
                </a:cubicBezTo>
                <a:cubicBezTo>
                  <a:pt x="131865" y="118166"/>
                  <a:pt x="131865" y="115197"/>
                  <a:pt x="130016" y="113348"/>
                </a:cubicBezTo>
                <a:lnTo>
                  <a:pt x="92173" y="75504"/>
                </a:lnTo>
                <a:lnTo>
                  <a:pt x="75504" y="92173"/>
                </a:lnTo>
                <a:close/>
                <a:moveTo>
                  <a:pt x="16669" y="29170"/>
                </a:moveTo>
                <a:cubicBezTo>
                  <a:pt x="16669" y="22271"/>
                  <a:pt x="22271" y="16669"/>
                  <a:pt x="29170" y="16669"/>
                </a:cubicBezTo>
                <a:cubicBezTo>
                  <a:pt x="36070" y="16669"/>
                  <a:pt x="41672" y="22271"/>
                  <a:pt x="41672" y="29170"/>
                </a:cubicBezTo>
                <a:cubicBezTo>
                  <a:pt x="41672" y="36070"/>
                  <a:pt x="36070" y="41672"/>
                  <a:pt x="29170" y="41672"/>
                </a:cubicBezTo>
                <a:cubicBezTo>
                  <a:pt x="22271" y="41672"/>
                  <a:pt x="16669" y="36070"/>
                  <a:pt x="16669" y="29170"/>
                </a:cubicBezTo>
                <a:close/>
                <a:moveTo>
                  <a:pt x="29170" y="91678"/>
                </a:moveTo>
                <a:cubicBezTo>
                  <a:pt x="36070" y="91678"/>
                  <a:pt x="41672" y="97280"/>
                  <a:pt x="41672" y="104180"/>
                </a:cubicBezTo>
                <a:cubicBezTo>
                  <a:pt x="41672" y="111079"/>
                  <a:pt x="36070" y="116681"/>
                  <a:pt x="29170" y="116681"/>
                </a:cubicBezTo>
                <a:cubicBezTo>
                  <a:pt x="22271" y="116681"/>
                  <a:pt x="16669" y="111079"/>
                  <a:pt x="16669" y="104180"/>
                </a:cubicBezTo>
                <a:cubicBezTo>
                  <a:pt x="16669" y="97280"/>
                  <a:pt x="22271" y="91678"/>
                  <a:pt x="29170" y="91678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3" name="Text 11"/>
          <p:cNvSpPr/>
          <p:nvPr/>
        </p:nvSpPr>
        <p:spPr>
          <a:xfrm>
            <a:off x="852488" y="2376488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Chunking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260508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1000-token chunks w/ 200-token overlap, position tracking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2947988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76198" y="0"/>
                </a:moveTo>
                <a:lnTo>
                  <a:pt x="5295902" y="0"/>
                </a:lnTo>
                <a:cubicBezTo>
                  <a:pt x="5337985" y="0"/>
                  <a:pt x="5372100" y="34115"/>
                  <a:pt x="5372100" y="76198"/>
                </a:cubicBezTo>
                <a:lnTo>
                  <a:pt x="5372100" y="495302"/>
                </a:lnTo>
                <a:cubicBezTo>
                  <a:pt x="5372100" y="537385"/>
                  <a:pt x="5337985" y="571500"/>
                  <a:pt x="52959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50" y="30527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7" name="Text 15"/>
          <p:cNvSpPr/>
          <p:nvPr/>
        </p:nvSpPr>
        <p:spPr>
          <a:xfrm>
            <a:off x="852488" y="3024188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Extraction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25278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Events, characters, constraints, causal relations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3595688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76198" y="0"/>
                </a:moveTo>
                <a:lnTo>
                  <a:pt x="5295902" y="0"/>
                </a:lnTo>
                <a:cubicBezTo>
                  <a:pt x="5337985" y="0"/>
                  <a:pt x="5372100" y="34115"/>
                  <a:pt x="5372100" y="76198"/>
                </a:cubicBezTo>
                <a:lnTo>
                  <a:pt x="5372100" y="495302"/>
                </a:lnTo>
                <a:cubicBezTo>
                  <a:pt x="5372100" y="537385"/>
                  <a:pt x="5337985" y="571500"/>
                  <a:pt x="52959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Shape 18"/>
          <p:cNvSpPr/>
          <p:nvPr/>
        </p:nvSpPr>
        <p:spPr>
          <a:xfrm>
            <a:off x="628650" y="37004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20836"/>
                </a:moveTo>
                <a:cubicBezTo>
                  <a:pt x="0" y="13934"/>
                  <a:pt x="5600" y="8334"/>
                  <a:pt x="12502" y="8334"/>
                </a:cubicBezTo>
                <a:lnTo>
                  <a:pt x="37505" y="8334"/>
                </a:lnTo>
                <a:cubicBezTo>
                  <a:pt x="44407" y="8334"/>
                  <a:pt x="50006" y="13934"/>
                  <a:pt x="50006" y="20836"/>
                </a:cubicBezTo>
                <a:lnTo>
                  <a:pt x="50006" y="25003"/>
                </a:lnTo>
                <a:lnTo>
                  <a:pt x="83344" y="25003"/>
                </a:lnTo>
                <a:lnTo>
                  <a:pt x="83344" y="20836"/>
                </a:lnTo>
                <a:cubicBezTo>
                  <a:pt x="83344" y="13934"/>
                  <a:pt x="88943" y="8334"/>
                  <a:pt x="95845" y="8334"/>
                </a:cubicBezTo>
                <a:lnTo>
                  <a:pt x="120848" y="8334"/>
                </a:lnTo>
                <a:cubicBezTo>
                  <a:pt x="127750" y="8334"/>
                  <a:pt x="133350" y="13934"/>
                  <a:pt x="133350" y="20836"/>
                </a:cubicBezTo>
                <a:lnTo>
                  <a:pt x="133350" y="45839"/>
                </a:lnTo>
                <a:cubicBezTo>
                  <a:pt x="133350" y="52741"/>
                  <a:pt x="127750" y="58341"/>
                  <a:pt x="120848" y="58341"/>
                </a:cubicBezTo>
                <a:lnTo>
                  <a:pt x="95845" y="58341"/>
                </a:lnTo>
                <a:cubicBezTo>
                  <a:pt x="88943" y="58341"/>
                  <a:pt x="83344" y="52741"/>
                  <a:pt x="83344" y="45839"/>
                </a:cubicBezTo>
                <a:lnTo>
                  <a:pt x="83344" y="41672"/>
                </a:lnTo>
                <a:lnTo>
                  <a:pt x="50006" y="41672"/>
                </a:lnTo>
                <a:lnTo>
                  <a:pt x="50006" y="45839"/>
                </a:lnTo>
                <a:cubicBezTo>
                  <a:pt x="50006" y="47740"/>
                  <a:pt x="49563" y="49563"/>
                  <a:pt x="48808" y="51178"/>
                </a:cubicBezTo>
                <a:lnTo>
                  <a:pt x="66675" y="75009"/>
                </a:lnTo>
                <a:lnTo>
                  <a:pt x="87511" y="75009"/>
                </a:lnTo>
                <a:cubicBezTo>
                  <a:pt x="94413" y="75009"/>
                  <a:pt x="100013" y="80609"/>
                  <a:pt x="100013" y="87511"/>
                </a:cubicBezTo>
                <a:lnTo>
                  <a:pt x="100013" y="112514"/>
                </a:lnTo>
                <a:cubicBezTo>
                  <a:pt x="100013" y="119416"/>
                  <a:pt x="94413" y="125016"/>
                  <a:pt x="87511" y="125016"/>
                </a:cubicBezTo>
                <a:lnTo>
                  <a:pt x="62508" y="125016"/>
                </a:lnTo>
                <a:cubicBezTo>
                  <a:pt x="55606" y="125016"/>
                  <a:pt x="50006" y="119416"/>
                  <a:pt x="50006" y="112514"/>
                </a:cubicBezTo>
                <a:lnTo>
                  <a:pt x="50006" y="87511"/>
                </a:lnTo>
                <a:cubicBezTo>
                  <a:pt x="50006" y="85610"/>
                  <a:pt x="50449" y="83787"/>
                  <a:pt x="51204" y="82172"/>
                </a:cubicBezTo>
                <a:lnTo>
                  <a:pt x="33337" y="58341"/>
                </a:lnTo>
                <a:lnTo>
                  <a:pt x="12502" y="58341"/>
                </a:lnTo>
                <a:cubicBezTo>
                  <a:pt x="5600" y="58341"/>
                  <a:pt x="0" y="52741"/>
                  <a:pt x="0" y="45839"/>
                </a:cubicBezTo>
                <a:lnTo>
                  <a:pt x="0" y="20836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1" name="Text 19"/>
          <p:cNvSpPr/>
          <p:nvPr/>
        </p:nvSpPr>
        <p:spPr>
          <a:xfrm>
            <a:off x="852488" y="3671888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Construction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390048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Nested dictionaries accumulating relationships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1219200"/>
            <a:ext cx="5619750" cy="3067050"/>
          </a:xfrm>
          <a:custGeom>
            <a:avLst/>
            <a:gdLst/>
            <a:ahLst/>
            <a:cxnLst/>
            <a:rect l="l" t="t" r="r" b="b"/>
            <a:pathLst>
              <a:path w="5619750" h="3067050">
                <a:moveTo>
                  <a:pt x="0" y="0"/>
                </a:moveTo>
                <a:lnTo>
                  <a:pt x="5543564" y="0"/>
                </a:lnTo>
                <a:cubicBezTo>
                  <a:pt x="5585641" y="0"/>
                  <a:pt x="5619750" y="34109"/>
                  <a:pt x="5619750" y="76186"/>
                </a:cubicBezTo>
                <a:lnTo>
                  <a:pt x="5619750" y="2990864"/>
                </a:lnTo>
                <a:cubicBezTo>
                  <a:pt x="5619750" y="3032941"/>
                  <a:pt x="5585641" y="3067050"/>
                  <a:pt x="5543564" y="3067050"/>
                </a:cubicBezTo>
                <a:lnTo>
                  <a:pt x="0" y="3067050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24" name="Shape 22"/>
          <p:cNvSpPr/>
          <p:nvPr/>
        </p:nvSpPr>
        <p:spPr>
          <a:xfrm>
            <a:off x="6191250" y="1219200"/>
            <a:ext cx="38100" cy="3067050"/>
          </a:xfrm>
          <a:custGeom>
            <a:avLst/>
            <a:gdLst/>
            <a:ahLst/>
            <a:cxnLst/>
            <a:rect l="l" t="t" r="r" b="b"/>
            <a:pathLst>
              <a:path w="38100" h="3067050">
                <a:moveTo>
                  <a:pt x="0" y="0"/>
                </a:moveTo>
                <a:lnTo>
                  <a:pt x="38100" y="0"/>
                </a:lnTo>
                <a:lnTo>
                  <a:pt x="38100" y="3067050"/>
                </a:lnTo>
                <a:lnTo>
                  <a:pt x="0" y="306705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5" name="Shape 23"/>
          <p:cNvSpPr/>
          <p:nvPr/>
        </p:nvSpPr>
        <p:spPr>
          <a:xfrm>
            <a:off x="6324600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5A57A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71404" y="139065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9900" y="1390650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Claim Verification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24600" y="1790700"/>
            <a:ext cx="54387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Decompose backstory into atomic claims, retrieve relevant evidence, and render verdicts with confidence scoring.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24600" y="2300288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76198" y="0"/>
                </a:moveTo>
                <a:lnTo>
                  <a:pt x="5295902" y="0"/>
                </a:lnTo>
                <a:cubicBezTo>
                  <a:pt x="5337985" y="0"/>
                  <a:pt x="5372100" y="34115"/>
                  <a:pt x="5372100" y="76198"/>
                </a:cubicBezTo>
                <a:lnTo>
                  <a:pt x="5372100" y="495302"/>
                </a:lnTo>
                <a:cubicBezTo>
                  <a:pt x="5372100" y="537385"/>
                  <a:pt x="5337985" y="571500"/>
                  <a:pt x="52959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Shape 28"/>
          <p:cNvSpPr/>
          <p:nvPr/>
        </p:nvSpPr>
        <p:spPr>
          <a:xfrm>
            <a:off x="6419850" y="24050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18752"/>
                </a:moveTo>
                <a:cubicBezTo>
                  <a:pt x="0" y="15314"/>
                  <a:pt x="2787" y="12502"/>
                  <a:pt x="6251" y="12502"/>
                </a:cubicBezTo>
                <a:lnTo>
                  <a:pt x="18752" y="12502"/>
                </a:lnTo>
                <a:cubicBezTo>
                  <a:pt x="22216" y="12502"/>
                  <a:pt x="25003" y="15288"/>
                  <a:pt x="25003" y="18752"/>
                </a:cubicBezTo>
                <a:lnTo>
                  <a:pt x="25003" y="45839"/>
                </a:lnTo>
                <a:lnTo>
                  <a:pt x="31254" y="45839"/>
                </a:lnTo>
                <a:cubicBezTo>
                  <a:pt x="34718" y="45839"/>
                  <a:pt x="37505" y="48626"/>
                  <a:pt x="37505" y="52090"/>
                </a:cubicBezTo>
                <a:cubicBezTo>
                  <a:pt x="37505" y="55554"/>
                  <a:pt x="34718" y="58341"/>
                  <a:pt x="31254" y="58341"/>
                </a:cubicBezTo>
                <a:lnTo>
                  <a:pt x="6251" y="58341"/>
                </a:lnTo>
                <a:cubicBezTo>
                  <a:pt x="2787" y="58341"/>
                  <a:pt x="0" y="55554"/>
                  <a:pt x="0" y="52090"/>
                </a:cubicBezTo>
                <a:cubicBezTo>
                  <a:pt x="0" y="48626"/>
                  <a:pt x="2787" y="45839"/>
                  <a:pt x="6251" y="45839"/>
                </a:cubicBezTo>
                <a:lnTo>
                  <a:pt x="12502" y="45839"/>
                </a:lnTo>
                <a:lnTo>
                  <a:pt x="12502" y="25003"/>
                </a:lnTo>
                <a:lnTo>
                  <a:pt x="6251" y="25003"/>
                </a:lnTo>
                <a:cubicBezTo>
                  <a:pt x="2787" y="25003"/>
                  <a:pt x="0" y="22216"/>
                  <a:pt x="0" y="18752"/>
                </a:cubicBezTo>
                <a:close/>
                <a:moveTo>
                  <a:pt x="7918" y="78447"/>
                </a:moveTo>
                <a:cubicBezTo>
                  <a:pt x="10887" y="76207"/>
                  <a:pt x="14507" y="75009"/>
                  <a:pt x="18231" y="75009"/>
                </a:cubicBezTo>
                <a:lnTo>
                  <a:pt x="19508" y="75009"/>
                </a:lnTo>
                <a:cubicBezTo>
                  <a:pt x="28285" y="75009"/>
                  <a:pt x="35421" y="82146"/>
                  <a:pt x="35421" y="90923"/>
                </a:cubicBezTo>
                <a:cubicBezTo>
                  <a:pt x="35421" y="96028"/>
                  <a:pt x="32973" y="100794"/>
                  <a:pt x="28858" y="103789"/>
                </a:cubicBezTo>
                <a:lnTo>
                  <a:pt x="22607" y="108347"/>
                </a:lnTo>
                <a:lnTo>
                  <a:pt x="31254" y="108347"/>
                </a:lnTo>
                <a:cubicBezTo>
                  <a:pt x="34718" y="108347"/>
                  <a:pt x="37505" y="111134"/>
                  <a:pt x="37505" y="114598"/>
                </a:cubicBezTo>
                <a:cubicBezTo>
                  <a:pt x="37505" y="118062"/>
                  <a:pt x="34718" y="120848"/>
                  <a:pt x="31254" y="120848"/>
                </a:cubicBezTo>
                <a:lnTo>
                  <a:pt x="7631" y="120848"/>
                </a:lnTo>
                <a:cubicBezTo>
                  <a:pt x="3412" y="120848"/>
                  <a:pt x="0" y="117437"/>
                  <a:pt x="0" y="113217"/>
                </a:cubicBezTo>
                <a:cubicBezTo>
                  <a:pt x="0" y="110769"/>
                  <a:pt x="1172" y="108477"/>
                  <a:pt x="3151" y="107045"/>
                </a:cubicBezTo>
                <a:lnTo>
                  <a:pt x="21513" y="93684"/>
                </a:lnTo>
                <a:cubicBezTo>
                  <a:pt x="22399" y="93032"/>
                  <a:pt x="22920" y="92017"/>
                  <a:pt x="22920" y="90923"/>
                </a:cubicBezTo>
                <a:cubicBezTo>
                  <a:pt x="22920" y="89048"/>
                  <a:pt x="21383" y="87511"/>
                  <a:pt x="19508" y="87511"/>
                </a:cubicBezTo>
                <a:lnTo>
                  <a:pt x="18231" y="87511"/>
                </a:lnTo>
                <a:cubicBezTo>
                  <a:pt x="17216" y="87511"/>
                  <a:pt x="16226" y="87850"/>
                  <a:pt x="15419" y="88449"/>
                </a:cubicBezTo>
                <a:lnTo>
                  <a:pt x="10001" y="92512"/>
                </a:lnTo>
                <a:cubicBezTo>
                  <a:pt x="7240" y="94595"/>
                  <a:pt x="3334" y="94022"/>
                  <a:pt x="1250" y="91261"/>
                </a:cubicBezTo>
                <a:cubicBezTo>
                  <a:pt x="-833" y="88501"/>
                  <a:pt x="-260" y="84594"/>
                  <a:pt x="2500" y="82510"/>
                </a:cubicBezTo>
                <a:lnTo>
                  <a:pt x="7918" y="78447"/>
                </a:lnTo>
                <a:close/>
                <a:moveTo>
                  <a:pt x="58341" y="16669"/>
                </a:moveTo>
                <a:lnTo>
                  <a:pt x="125016" y="16669"/>
                </a:lnTo>
                <a:cubicBezTo>
                  <a:pt x="129626" y="16669"/>
                  <a:pt x="133350" y="20393"/>
                  <a:pt x="133350" y="25003"/>
                </a:cubicBezTo>
                <a:cubicBezTo>
                  <a:pt x="133350" y="29613"/>
                  <a:pt x="129626" y="33337"/>
                  <a:pt x="125016" y="33337"/>
                </a:cubicBezTo>
                <a:lnTo>
                  <a:pt x="58341" y="33337"/>
                </a:lnTo>
                <a:cubicBezTo>
                  <a:pt x="53731" y="33337"/>
                  <a:pt x="50006" y="29613"/>
                  <a:pt x="50006" y="25003"/>
                </a:cubicBezTo>
                <a:cubicBezTo>
                  <a:pt x="50006" y="20393"/>
                  <a:pt x="53731" y="16669"/>
                  <a:pt x="58341" y="16669"/>
                </a:cubicBezTo>
                <a:close/>
                <a:moveTo>
                  <a:pt x="58341" y="58341"/>
                </a:moveTo>
                <a:lnTo>
                  <a:pt x="125016" y="58341"/>
                </a:lnTo>
                <a:cubicBezTo>
                  <a:pt x="129626" y="58341"/>
                  <a:pt x="133350" y="62065"/>
                  <a:pt x="133350" y="66675"/>
                </a:cubicBezTo>
                <a:cubicBezTo>
                  <a:pt x="133350" y="71285"/>
                  <a:pt x="129626" y="75009"/>
                  <a:pt x="125016" y="75009"/>
                </a:cubicBezTo>
                <a:lnTo>
                  <a:pt x="58341" y="75009"/>
                </a:lnTo>
                <a:cubicBezTo>
                  <a:pt x="53731" y="75009"/>
                  <a:pt x="50006" y="71285"/>
                  <a:pt x="50006" y="66675"/>
                </a:cubicBezTo>
                <a:cubicBezTo>
                  <a:pt x="50006" y="62065"/>
                  <a:pt x="53731" y="58341"/>
                  <a:pt x="58341" y="58341"/>
                </a:cubicBezTo>
                <a:close/>
                <a:moveTo>
                  <a:pt x="58341" y="100013"/>
                </a:move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8341" y="116681"/>
                </a:lnTo>
                <a:cubicBezTo>
                  <a:pt x="53731" y="116681"/>
                  <a:pt x="50006" y="112957"/>
                  <a:pt x="50006" y="108347"/>
                </a:cubicBezTo>
                <a:cubicBezTo>
                  <a:pt x="50006" y="103737"/>
                  <a:pt x="53731" y="100013"/>
                  <a:pt x="58341" y="10001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1" name="Text 29"/>
          <p:cNvSpPr/>
          <p:nvPr/>
        </p:nvSpPr>
        <p:spPr>
          <a:xfrm>
            <a:off x="6643688" y="2376488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Backstory Decomposition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0" y="260508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claims with structured objects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24600" y="2947988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76198" y="0"/>
                </a:moveTo>
                <a:lnTo>
                  <a:pt x="5295902" y="0"/>
                </a:lnTo>
                <a:cubicBezTo>
                  <a:pt x="5337985" y="0"/>
                  <a:pt x="5372100" y="34115"/>
                  <a:pt x="5372100" y="76198"/>
                </a:cubicBezTo>
                <a:lnTo>
                  <a:pt x="5372100" y="495302"/>
                </a:lnTo>
                <a:cubicBezTo>
                  <a:pt x="5372100" y="537385"/>
                  <a:pt x="5337985" y="571500"/>
                  <a:pt x="52959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Shape 32"/>
          <p:cNvSpPr/>
          <p:nvPr/>
        </p:nvSpPr>
        <p:spPr>
          <a:xfrm>
            <a:off x="6419850" y="30527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5" name="Text 33"/>
          <p:cNvSpPr/>
          <p:nvPr/>
        </p:nvSpPr>
        <p:spPr>
          <a:xfrm>
            <a:off x="6643688" y="3024188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Retrieval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0" y="325278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 search + metadata filtering + reranking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24600" y="3595688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76198" y="0"/>
                </a:moveTo>
                <a:lnTo>
                  <a:pt x="5295902" y="0"/>
                </a:lnTo>
                <a:cubicBezTo>
                  <a:pt x="5337985" y="0"/>
                  <a:pt x="5372100" y="34115"/>
                  <a:pt x="5372100" y="76198"/>
                </a:cubicBezTo>
                <a:lnTo>
                  <a:pt x="5372100" y="495302"/>
                </a:lnTo>
                <a:cubicBezTo>
                  <a:pt x="5372100" y="537385"/>
                  <a:pt x="5337985" y="571500"/>
                  <a:pt x="52959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Shape 36"/>
          <p:cNvSpPr/>
          <p:nvPr/>
        </p:nvSpPr>
        <p:spPr>
          <a:xfrm>
            <a:off x="6411516" y="3700463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44172" y="39953"/>
                </a:moveTo>
                <a:lnTo>
                  <a:pt x="39302" y="35083"/>
                </a:lnTo>
                <a:cubicBezTo>
                  <a:pt x="36046" y="31827"/>
                  <a:pt x="36046" y="26540"/>
                  <a:pt x="39302" y="23284"/>
                </a:cubicBezTo>
                <a:lnTo>
                  <a:pt x="69175" y="-6615"/>
                </a:lnTo>
                <a:cubicBezTo>
                  <a:pt x="72431" y="-9871"/>
                  <a:pt x="77718" y="-9871"/>
                  <a:pt x="80974" y="-6615"/>
                </a:cubicBezTo>
                <a:lnTo>
                  <a:pt x="85844" y="-1719"/>
                </a:lnTo>
                <a:cubicBezTo>
                  <a:pt x="89100" y="1537"/>
                  <a:pt x="89100" y="6824"/>
                  <a:pt x="85844" y="10079"/>
                </a:cubicBezTo>
                <a:lnTo>
                  <a:pt x="55971" y="39953"/>
                </a:lnTo>
                <a:cubicBezTo>
                  <a:pt x="52715" y="43209"/>
                  <a:pt x="47428" y="43209"/>
                  <a:pt x="44172" y="39953"/>
                </a:cubicBezTo>
                <a:close/>
                <a:moveTo>
                  <a:pt x="71884" y="55137"/>
                </a:moveTo>
                <a:lnTo>
                  <a:pt x="63706" y="46959"/>
                </a:lnTo>
                <a:lnTo>
                  <a:pt x="92876" y="17789"/>
                </a:lnTo>
                <a:lnTo>
                  <a:pt x="123974" y="48886"/>
                </a:lnTo>
                <a:lnTo>
                  <a:pt x="94804" y="78057"/>
                </a:lnTo>
                <a:lnTo>
                  <a:pt x="86625" y="69879"/>
                </a:lnTo>
                <a:lnTo>
                  <a:pt x="26201" y="130303"/>
                </a:lnTo>
                <a:cubicBezTo>
                  <a:pt x="22138" y="134366"/>
                  <a:pt x="15549" y="134366"/>
                  <a:pt x="11460" y="130303"/>
                </a:cubicBezTo>
                <a:cubicBezTo>
                  <a:pt x="7371" y="126240"/>
                  <a:pt x="7397" y="119650"/>
                  <a:pt x="11460" y="115561"/>
                </a:cubicBezTo>
                <a:lnTo>
                  <a:pt x="71884" y="55137"/>
                </a:lnTo>
                <a:close/>
                <a:moveTo>
                  <a:pt x="101810" y="97564"/>
                </a:moveTo>
                <a:cubicBezTo>
                  <a:pt x="98554" y="94309"/>
                  <a:pt x="98554" y="89022"/>
                  <a:pt x="101810" y="85766"/>
                </a:cubicBezTo>
                <a:lnTo>
                  <a:pt x="131683" y="55892"/>
                </a:lnTo>
                <a:cubicBezTo>
                  <a:pt x="134939" y="52637"/>
                  <a:pt x="140226" y="52637"/>
                  <a:pt x="143481" y="55892"/>
                </a:cubicBezTo>
                <a:lnTo>
                  <a:pt x="148352" y="60763"/>
                </a:lnTo>
                <a:cubicBezTo>
                  <a:pt x="151607" y="64018"/>
                  <a:pt x="151607" y="69306"/>
                  <a:pt x="148352" y="72561"/>
                </a:cubicBezTo>
                <a:lnTo>
                  <a:pt x="118478" y="102461"/>
                </a:lnTo>
                <a:cubicBezTo>
                  <a:pt x="115223" y="105716"/>
                  <a:pt x="109936" y="105716"/>
                  <a:pt x="106680" y="102461"/>
                </a:cubicBezTo>
                <a:lnTo>
                  <a:pt x="101810" y="9759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9" name="Text 37"/>
          <p:cNvSpPr/>
          <p:nvPr/>
        </p:nvSpPr>
        <p:spPr>
          <a:xfrm>
            <a:off x="6643688" y="3671888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Verification Pipeline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0800" y="390048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Rule-based → LLM-based → Global coherence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1000" y="4414838"/>
            <a:ext cx="11430000" cy="1228725"/>
          </a:xfrm>
          <a:custGeom>
            <a:avLst/>
            <a:gdLst/>
            <a:ahLst/>
            <a:cxnLst/>
            <a:rect l="l" t="t" r="r" b="b"/>
            <a:pathLst>
              <a:path w="11430000" h="1228725">
                <a:moveTo>
                  <a:pt x="0" y="0"/>
                </a:moveTo>
                <a:lnTo>
                  <a:pt x="11430000" y="0"/>
                </a:lnTo>
                <a:lnTo>
                  <a:pt x="11430000" y="1152519"/>
                </a:lnTo>
                <a:cubicBezTo>
                  <a:pt x="11430000" y="1194607"/>
                  <a:pt x="11395882" y="1228725"/>
                  <a:pt x="11353794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42" name="Shape 40"/>
          <p:cNvSpPr/>
          <p:nvPr/>
        </p:nvSpPr>
        <p:spPr>
          <a:xfrm>
            <a:off x="381000" y="4414838"/>
            <a:ext cx="11430000" cy="38100"/>
          </a:xfrm>
          <a:custGeom>
            <a:avLst/>
            <a:gdLst/>
            <a:ahLst/>
            <a:cxnLst/>
            <a:rect l="l" t="t" r="r" b="b"/>
            <a:pathLst>
              <a:path w="11430000" h="38100">
                <a:moveTo>
                  <a:pt x="0" y="0"/>
                </a:moveTo>
                <a:lnTo>
                  <a:pt x="11430000" y="0"/>
                </a:lnTo>
                <a:lnTo>
                  <a:pt x="11430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3" name="Shape 41"/>
          <p:cNvSpPr/>
          <p:nvPr/>
        </p:nvSpPr>
        <p:spPr>
          <a:xfrm>
            <a:off x="519113" y="459581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4" name="Text 42"/>
          <p:cNvSpPr/>
          <p:nvPr/>
        </p:nvSpPr>
        <p:spPr>
          <a:xfrm>
            <a:off x="714375" y="4548188"/>
            <a:ext cx="1106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Graph Structure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2920" y="4898708"/>
            <a:ext cx="2472690" cy="624840"/>
          </a:xfrm>
          <a:custGeom>
            <a:avLst/>
            <a:gdLst/>
            <a:ahLst/>
            <a:cxnLst/>
            <a:rect l="l" t="t" r="r" b="b"/>
            <a:pathLst>
              <a:path w="2472690" h="624840">
                <a:moveTo>
                  <a:pt x="76199" y="0"/>
                </a:moveTo>
                <a:lnTo>
                  <a:pt x="2396491" y="0"/>
                </a:lnTo>
                <a:cubicBezTo>
                  <a:pt x="2438574" y="0"/>
                  <a:pt x="2472690" y="34116"/>
                  <a:pt x="2472690" y="76199"/>
                </a:cubicBezTo>
                <a:lnTo>
                  <a:pt x="2472690" y="548641"/>
                </a:lnTo>
                <a:cubicBezTo>
                  <a:pt x="2472690" y="590724"/>
                  <a:pt x="2438574" y="624840"/>
                  <a:pt x="2396491" y="624840"/>
                </a:cubicBezTo>
                <a:lnTo>
                  <a:pt x="76199" y="624840"/>
                </a:lnTo>
                <a:cubicBezTo>
                  <a:pt x="34116" y="624840"/>
                  <a:pt x="0" y="590724"/>
                  <a:pt x="0" y="54864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8165" y="4982528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3878" y="5172908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114675" y="513480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9" name="Shape 47"/>
          <p:cNvSpPr/>
          <p:nvPr/>
        </p:nvSpPr>
        <p:spPr>
          <a:xfrm>
            <a:off x="3408045" y="4898708"/>
            <a:ext cx="2472690" cy="624840"/>
          </a:xfrm>
          <a:custGeom>
            <a:avLst/>
            <a:gdLst/>
            <a:ahLst/>
            <a:cxnLst/>
            <a:rect l="l" t="t" r="r" b="b"/>
            <a:pathLst>
              <a:path w="2472690" h="624840">
                <a:moveTo>
                  <a:pt x="76199" y="0"/>
                </a:moveTo>
                <a:lnTo>
                  <a:pt x="2396491" y="0"/>
                </a:lnTo>
                <a:cubicBezTo>
                  <a:pt x="2438574" y="0"/>
                  <a:pt x="2472690" y="34116"/>
                  <a:pt x="2472690" y="76199"/>
                </a:cubicBezTo>
                <a:lnTo>
                  <a:pt x="2472690" y="548641"/>
                </a:lnTo>
                <a:cubicBezTo>
                  <a:pt x="2472690" y="590724"/>
                  <a:pt x="2438574" y="624840"/>
                  <a:pt x="2396491" y="624840"/>
                </a:cubicBezTo>
                <a:lnTo>
                  <a:pt x="76199" y="624840"/>
                </a:lnTo>
                <a:cubicBezTo>
                  <a:pt x="34116" y="624840"/>
                  <a:pt x="0" y="590724"/>
                  <a:pt x="0" y="54864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C5A57A">
                <a:alpha val="5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63290" y="4982528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449003" y="5172908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Entities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019800" y="513480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3" name="Shape 51"/>
          <p:cNvSpPr/>
          <p:nvPr/>
        </p:nvSpPr>
        <p:spPr>
          <a:xfrm>
            <a:off x="6313170" y="4898708"/>
            <a:ext cx="2472690" cy="624840"/>
          </a:xfrm>
          <a:custGeom>
            <a:avLst/>
            <a:gdLst/>
            <a:ahLst/>
            <a:cxnLst/>
            <a:rect l="l" t="t" r="r" b="b"/>
            <a:pathLst>
              <a:path w="2472690" h="624840">
                <a:moveTo>
                  <a:pt x="76199" y="0"/>
                </a:moveTo>
                <a:lnTo>
                  <a:pt x="2396491" y="0"/>
                </a:lnTo>
                <a:cubicBezTo>
                  <a:pt x="2438574" y="0"/>
                  <a:pt x="2472690" y="34116"/>
                  <a:pt x="2472690" y="76199"/>
                </a:cubicBezTo>
                <a:lnTo>
                  <a:pt x="2472690" y="548641"/>
                </a:lnTo>
                <a:cubicBezTo>
                  <a:pt x="2472690" y="590724"/>
                  <a:pt x="2438574" y="624840"/>
                  <a:pt x="2396491" y="624840"/>
                </a:cubicBezTo>
                <a:lnTo>
                  <a:pt x="76199" y="624840"/>
                </a:lnTo>
                <a:cubicBezTo>
                  <a:pt x="34116" y="624840"/>
                  <a:pt x="0" y="590724"/>
                  <a:pt x="0" y="54864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68415" y="4982528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54128" y="5172908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924925" y="513480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7" name="Shape 55"/>
          <p:cNvSpPr/>
          <p:nvPr/>
        </p:nvSpPr>
        <p:spPr>
          <a:xfrm>
            <a:off x="9218295" y="4898708"/>
            <a:ext cx="2472690" cy="624840"/>
          </a:xfrm>
          <a:custGeom>
            <a:avLst/>
            <a:gdLst/>
            <a:ahLst/>
            <a:cxnLst/>
            <a:rect l="l" t="t" r="r" b="b"/>
            <a:pathLst>
              <a:path w="2472690" h="624840">
                <a:moveTo>
                  <a:pt x="76199" y="0"/>
                </a:moveTo>
                <a:lnTo>
                  <a:pt x="2396491" y="0"/>
                </a:lnTo>
                <a:cubicBezTo>
                  <a:pt x="2438574" y="0"/>
                  <a:pt x="2472690" y="34116"/>
                  <a:pt x="2472690" y="76199"/>
                </a:cubicBezTo>
                <a:lnTo>
                  <a:pt x="2472690" y="548641"/>
                </a:lnTo>
                <a:cubicBezTo>
                  <a:pt x="2472690" y="590724"/>
                  <a:pt x="2438574" y="624840"/>
                  <a:pt x="2396491" y="624840"/>
                </a:cubicBezTo>
                <a:lnTo>
                  <a:pt x="76199" y="624840"/>
                </a:lnTo>
                <a:cubicBezTo>
                  <a:pt x="34116" y="624840"/>
                  <a:pt x="0" y="590724"/>
                  <a:pt x="0" y="54864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C5A57A">
                <a:alpha val="5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73540" y="4982528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Causal Links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259253" y="5172908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00050" y="5759648"/>
            <a:ext cx="5638800" cy="609600"/>
          </a:xfrm>
          <a:custGeom>
            <a:avLst/>
            <a:gdLst/>
            <a:ahLst/>
            <a:cxnLst/>
            <a:rect l="l" t="t" r="r" b="b"/>
            <a:pathLst>
              <a:path w="5638800" h="609600">
                <a:moveTo>
                  <a:pt x="0" y="0"/>
                </a:moveTo>
                <a:lnTo>
                  <a:pt x="5562600" y="0"/>
                </a:lnTo>
                <a:cubicBezTo>
                  <a:pt x="5604656" y="0"/>
                  <a:pt x="5638800" y="34144"/>
                  <a:pt x="5638800" y="76200"/>
                </a:cubicBezTo>
                <a:lnTo>
                  <a:pt x="5638800" y="533400"/>
                </a:lnTo>
                <a:cubicBezTo>
                  <a:pt x="5638800" y="575456"/>
                  <a:pt x="5604656" y="609600"/>
                  <a:pt x="5562600" y="609600"/>
                </a:cubicBez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61" name="Shape 59"/>
          <p:cNvSpPr/>
          <p:nvPr/>
        </p:nvSpPr>
        <p:spPr>
          <a:xfrm>
            <a:off x="400050" y="5759648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2" name="Shape 60"/>
          <p:cNvSpPr/>
          <p:nvPr/>
        </p:nvSpPr>
        <p:spPr>
          <a:xfrm>
            <a:off x="523875" y="587394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3" name="Text 61"/>
          <p:cNvSpPr/>
          <p:nvPr/>
        </p:nvSpPr>
        <p:spPr>
          <a:xfrm>
            <a:off x="685800" y="5835848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Graph Storage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95300" y="6102548"/>
            <a:ext cx="553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relationships: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Nested dictionaries for fast constraint lookup and causal traversal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72200" y="5759648"/>
            <a:ext cx="5638800" cy="609600"/>
          </a:xfrm>
          <a:custGeom>
            <a:avLst/>
            <a:gdLst/>
            <a:ahLst/>
            <a:cxnLst/>
            <a:rect l="l" t="t" r="r" b="b"/>
            <a:pathLst>
              <a:path w="5638800" h="609600">
                <a:moveTo>
                  <a:pt x="0" y="0"/>
                </a:moveTo>
                <a:lnTo>
                  <a:pt x="5562600" y="0"/>
                </a:lnTo>
                <a:cubicBezTo>
                  <a:pt x="5604656" y="0"/>
                  <a:pt x="5638800" y="34144"/>
                  <a:pt x="5638800" y="76200"/>
                </a:cubicBezTo>
                <a:lnTo>
                  <a:pt x="5638800" y="533400"/>
                </a:lnTo>
                <a:cubicBezTo>
                  <a:pt x="5638800" y="575456"/>
                  <a:pt x="5604656" y="609600"/>
                  <a:pt x="5562600" y="609600"/>
                </a:cubicBez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66" name="Shape 64"/>
          <p:cNvSpPr/>
          <p:nvPr/>
        </p:nvSpPr>
        <p:spPr>
          <a:xfrm>
            <a:off x="6172200" y="5759648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67" name="Shape 65"/>
          <p:cNvSpPr/>
          <p:nvPr/>
        </p:nvSpPr>
        <p:spPr>
          <a:xfrm>
            <a:off x="6286500" y="587394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68" name="Text 66"/>
          <p:cNvSpPr/>
          <p:nvPr/>
        </p:nvSpPr>
        <p:spPr>
          <a:xfrm>
            <a:off x="6457950" y="5835848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Database Storage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267450" y="6102548"/>
            <a:ext cx="553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search: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ChromaDB with chunk embeddings and metadata for similarity retrieval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400050"/>
            <a:ext cx="2838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Process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838200"/>
            <a:ext cx="1128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Chunking to Binary Judgment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00150"/>
            <a:ext cx="2228850" cy="1390650"/>
          </a:xfrm>
          <a:custGeom>
            <a:avLst/>
            <a:gdLst/>
            <a:ahLst/>
            <a:cxnLst/>
            <a:rect l="l" t="t" r="r" b="b"/>
            <a:pathLst>
              <a:path w="2228850" h="1390650">
                <a:moveTo>
                  <a:pt x="0" y="0"/>
                </a:moveTo>
                <a:lnTo>
                  <a:pt x="2228850" y="0"/>
                </a:lnTo>
                <a:lnTo>
                  <a:pt x="2228850" y="1314456"/>
                </a:lnTo>
                <a:cubicBezTo>
                  <a:pt x="2228850" y="1356509"/>
                  <a:pt x="2194709" y="1390650"/>
                  <a:pt x="2152656" y="1390650"/>
                </a:cubicBezTo>
                <a:lnTo>
                  <a:pt x="76194" y="1390650"/>
                </a:lnTo>
                <a:cubicBezTo>
                  <a:pt x="34141" y="1390650"/>
                  <a:pt x="0" y="1356509"/>
                  <a:pt x="0" y="1314456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381000" y="1200150"/>
            <a:ext cx="2228850" cy="38100"/>
          </a:xfrm>
          <a:custGeom>
            <a:avLst/>
            <a:gdLst/>
            <a:ahLst/>
            <a:cxnLst/>
            <a:rect l="l" t="t" r="r" b="b"/>
            <a:pathLst>
              <a:path w="2228850" h="38100">
                <a:moveTo>
                  <a:pt x="0" y="0"/>
                </a:moveTo>
                <a:lnTo>
                  <a:pt x="2228850" y="0"/>
                </a:lnTo>
                <a:lnTo>
                  <a:pt x="22288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954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9357" y="133350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0100" y="1314450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Chunking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6383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1000-token chunks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18669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Sentence boundary alignment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0955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200-token overlap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3241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Position tracking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82240" y="1200150"/>
            <a:ext cx="2228850" cy="1390650"/>
          </a:xfrm>
          <a:custGeom>
            <a:avLst/>
            <a:gdLst/>
            <a:ahLst/>
            <a:cxnLst/>
            <a:rect l="l" t="t" r="r" b="b"/>
            <a:pathLst>
              <a:path w="2228850" h="1390650">
                <a:moveTo>
                  <a:pt x="0" y="0"/>
                </a:moveTo>
                <a:lnTo>
                  <a:pt x="2228850" y="0"/>
                </a:lnTo>
                <a:lnTo>
                  <a:pt x="2228850" y="1314456"/>
                </a:lnTo>
                <a:cubicBezTo>
                  <a:pt x="2228850" y="1356509"/>
                  <a:pt x="2194709" y="1390650"/>
                  <a:pt x="2152656" y="1390650"/>
                </a:cubicBezTo>
                <a:lnTo>
                  <a:pt x="76194" y="1390650"/>
                </a:lnTo>
                <a:cubicBezTo>
                  <a:pt x="34141" y="1390650"/>
                  <a:pt x="0" y="1356509"/>
                  <a:pt x="0" y="1314456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2240" y="1200150"/>
            <a:ext cx="2228850" cy="38100"/>
          </a:xfrm>
          <a:custGeom>
            <a:avLst/>
            <a:gdLst/>
            <a:ahLst/>
            <a:cxnLst/>
            <a:rect l="l" t="t" r="r" b="b"/>
            <a:pathLst>
              <a:path w="2228850" h="38100">
                <a:moveTo>
                  <a:pt x="0" y="0"/>
                </a:moveTo>
                <a:lnTo>
                  <a:pt x="2228850" y="0"/>
                </a:lnTo>
                <a:lnTo>
                  <a:pt x="22288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6" name="Shape 14"/>
          <p:cNvSpPr/>
          <p:nvPr/>
        </p:nvSpPr>
        <p:spPr>
          <a:xfrm>
            <a:off x="2758440" y="12954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857738" y="133350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01340" y="131445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58440" y="16383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Events, characters, constraints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58440" y="18669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Causal relations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58440" y="20955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Structured JSON output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58440" y="23241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Error handling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83480" y="1200150"/>
            <a:ext cx="2228850" cy="1390650"/>
          </a:xfrm>
          <a:custGeom>
            <a:avLst/>
            <a:gdLst/>
            <a:ahLst/>
            <a:cxnLst/>
            <a:rect l="l" t="t" r="r" b="b"/>
            <a:pathLst>
              <a:path w="2228850" h="1390650">
                <a:moveTo>
                  <a:pt x="0" y="0"/>
                </a:moveTo>
                <a:lnTo>
                  <a:pt x="2228850" y="0"/>
                </a:lnTo>
                <a:lnTo>
                  <a:pt x="2228850" y="1314456"/>
                </a:lnTo>
                <a:cubicBezTo>
                  <a:pt x="2228850" y="1356509"/>
                  <a:pt x="2194709" y="1390650"/>
                  <a:pt x="2152656" y="1390650"/>
                </a:cubicBezTo>
                <a:lnTo>
                  <a:pt x="76194" y="1390650"/>
                </a:lnTo>
                <a:cubicBezTo>
                  <a:pt x="34141" y="1390650"/>
                  <a:pt x="0" y="1356509"/>
                  <a:pt x="0" y="1314456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1200150"/>
            <a:ext cx="2228850" cy="38100"/>
          </a:xfrm>
          <a:custGeom>
            <a:avLst/>
            <a:gdLst/>
            <a:ahLst/>
            <a:cxnLst/>
            <a:rect l="l" t="t" r="r" b="b"/>
            <a:pathLst>
              <a:path w="2228850" h="38100">
                <a:moveTo>
                  <a:pt x="0" y="0"/>
                </a:moveTo>
                <a:lnTo>
                  <a:pt x="2228850" y="0"/>
                </a:lnTo>
                <a:lnTo>
                  <a:pt x="22288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5" name="Shape 23"/>
          <p:cNvSpPr/>
          <p:nvPr/>
        </p:nvSpPr>
        <p:spPr>
          <a:xfrm>
            <a:off x="5059680" y="12954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157311" y="133350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02580" y="131445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 Construction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59680" y="16383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Nested dictionaries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59680" y="18669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Events, characters accumulated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59680" y="20955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Causal links stored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59680" y="23241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Fast traversal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84720" y="1200150"/>
            <a:ext cx="2228850" cy="1390650"/>
          </a:xfrm>
          <a:custGeom>
            <a:avLst/>
            <a:gdLst/>
            <a:ahLst/>
            <a:cxnLst/>
            <a:rect l="l" t="t" r="r" b="b"/>
            <a:pathLst>
              <a:path w="2228850" h="1390650">
                <a:moveTo>
                  <a:pt x="0" y="0"/>
                </a:moveTo>
                <a:lnTo>
                  <a:pt x="2228850" y="0"/>
                </a:lnTo>
                <a:lnTo>
                  <a:pt x="2228850" y="1314456"/>
                </a:lnTo>
                <a:cubicBezTo>
                  <a:pt x="2228850" y="1356509"/>
                  <a:pt x="2194709" y="1390650"/>
                  <a:pt x="2152656" y="1390650"/>
                </a:cubicBezTo>
                <a:lnTo>
                  <a:pt x="76194" y="1390650"/>
                </a:lnTo>
                <a:cubicBezTo>
                  <a:pt x="34141" y="1390650"/>
                  <a:pt x="0" y="1356509"/>
                  <a:pt x="0" y="1314456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33" name="Shape 31"/>
          <p:cNvSpPr/>
          <p:nvPr/>
        </p:nvSpPr>
        <p:spPr>
          <a:xfrm>
            <a:off x="7284720" y="1200150"/>
            <a:ext cx="2228850" cy="38100"/>
          </a:xfrm>
          <a:custGeom>
            <a:avLst/>
            <a:gdLst/>
            <a:ahLst/>
            <a:cxnLst/>
            <a:rect l="l" t="t" r="r" b="b"/>
            <a:pathLst>
              <a:path w="2228850" h="38100">
                <a:moveTo>
                  <a:pt x="0" y="0"/>
                </a:moveTo>
                <a:lnTo>
                  <a:pt x="2228850" y="0"/>
                </a:lnTo>
                <a:lnTo>
                  <a:pt x="22288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4" name="Shape 32"/>
          <p:cNvSpPr/>
          <p:nvPr/>
        </p:nvSpPr>
        <p:spPr>
          <a:xfrm>
            <a:off x="7360920" y="12954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460337" y="133350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03820" y="1314450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Indexing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60920" y="16383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ChromaDB embeddings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60920" y="18669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Metadata (position, characters)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60920" y="20955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Similarity search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60920" y="23241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Semantic retrieval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585960" y="1200150"/>
            <a:ext cx="2228850" cy="1390650"/>
          </a:xfrm>
          <a:custGeom>
            <a:avLst/>
            <a:gdLst/>
            <a:ahLst/>
            <a:cxnLst/>
            <a:rect l="l" t="t" r="r" b="b"/>
            <a:pathLst>
              <a:path w="2228850" h="1390650">
                <a:moveTo>
                  <a:pt x="0" y="0"/>
                </a:moveTo>
                <a:lnTo>
                  <a:pt x="2228850" y="0"/>
                </a:lnTo>
                <a:lnTo>
                  <a:pt x="2228850" y="1314456"/>
                </a:lnTo>
                <a:cubicBezTo>
                  <a:pt x="2228850" y="1356509"/>
                  <a:pt x="2194709" y="1390650"/>
                  <a:pt x="2152656" y="1390650"/>
                </a:cubicBezTo>
                <a:lnTo>
                  <a:pt x="76194" y="1390650"/>
                </a:lnTo>
                <a:cubicBezTo>
                  <a:pt x="34141" y="1390650"/>
                  <a:pt x="0" y="1356509"/>
                  <a:pt x="0" y="1314456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2" name="Shape 40"/>
          <p:cNvSpPr/>
          <p:nvPr/>
        </p:nvSpPr>
        <p:spPr>
          <a:xfrm>
            <a:off x="9585960" y="1200150"/>
            <a:ext cx="2228850" cy="38100"/>
          </a:xfrm>
          <a:custGeom>
            <a:avLst/>
            <a:gdLst/>
            <a:ahLst/>
            <a:cxnLst/>
            <a:rect l="l" t="t" r="r" b="b"/>
            <a:pathLst>
              <a:path w="2228850" h="38100">
                <a:moveTo>
                  <a:pt x="0" y="0"/>
                </a:moveTo>
                <a:lnTo>
                  <a:pt x="2228850" y="0"/>
                </a:lnTo>
                <a:lnTo>
                  <a:pt x="22288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3" name="Shape 41"/>
          <p:cNvSpPr/>
          <p:nvPr/>
        </p:nvSpPr>
        <p:spPr>
          <a:xfrm>
            <a:off x="9662160" y="12954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5A57A">
              <a:alpha val="3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759553" y="133350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005060" y="1314450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Summary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662160" y="16383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LLM creates overview(Map reduce)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662160" y="18669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~500 words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662160" y="20955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High-level narrative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662160" y="23241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Context setting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1000" y="2686050"/>
            <a:ext cx="2228850" cy="1162050"/>
          </a:xfrm>
          <a:custGeom>
            <a:avLst/>
            <a:gdLst/>
            <a:ahLst/>
            <a:cxnLst/>
            <a:rect l="l" t="t" r="r" b="b"/>
            <a:pathLst>
              <a:path w="2228850" h="1162050">
                <a:moveTo>
                  <a:pt x="0" y="0"/>
                </a:moveTo>
                <a:lnTo>
                  <a:pt x="2228850" y="0"/>
                </a:lnTo>
                <a:lnTo>
                  <a:pt x="2228850" y="1085854"/>
                </a:lnTo>
                <a:cubicBezTo>
                  <a:pt x="2228850" y="1127936"/>
                  <a:pt x="2194736" y="1162050"/>
                  <a:pt x="2152654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51" name="Shape 49"/>
          <p:cNvSpPr/>
          <p:nvPr/>
        </p:nvSpPr>
        <p:spPr>
          <a:xfrm>
            <a:off x="381000" y="2686050"/>
            <a:ext cx="2228850" cy="38100"/>
          </a:xfrm>
          <a:custGeom>
            <a:avLst/>
            <a:gdLst/>
            <a:ahLst/>
            <a:cxnLst/>
            <a:rect l="l" t="t" r="r" b="b"/>
            <a:pathLst>
              <a:path w="2228850" h="38100">
                <a:moveTo>
                  <a:pt x="0" y="0"/>
                </a:moveTo>
                <a:lnTo>
                  <a:pt x="2228850" y="0"/>
                </a:lnTo>
                <a:lnTo>
                  <a:pt x="22288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2" name="Shape 50"/>
          <p:cNvSpPr/>
          <p:nvPr/>
        </p:nvSpPr>
        <p:spPr>
          <a:xfrm>
            <a:off x="457200" y="27813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5A57A">
              <a:alpha val="3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53760" y="281940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00100" y="2800350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Backstory Decomposition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57200" y="31242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Atomic claims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57200" y="33528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Structured claim objects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57200" y="35814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Individual verification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2682240" y="2686050"/>
            <a:ext cx="2228850" cy="1162050"/>
          </a:xfrm>
          <a:custGeom>
            <a:avLst/>
            <a:gdLst/>
            <a:ahLst/>
            <a:cxnLst/>
            <a:rect l="l" t="t" r="r" b="b"/>
            <a:pathLst>
              <a:path w="2228850" h="1162050">
                <a:moveTo>
                  <a:pt x="0" y="0"/>
                </a:moveTo>
                <a:lnTo>
                  <a:pt x="2228850" y="0"/>
                </a:lnTo>
                <a:lnTo>
                  <a:pt x="2228850" y="1085854"/>
                </a:lnTo>
                <a:cubicBezTo>
                  <a:pt x="2228850" y="1127936"/>
                  <a:pt x="2194736" y="1162050"/>
                  <a:pt x="2152654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59" name="Shape 57"/>
          <p:cNvSpPr/>
          <p:nvPr/>
        </p:nvSpPr>
        <p:spPr>
          <a:xfrm>
            <a:off x="2682240" y="2686050"/>
            <a:ext cx="2228850" cy="38100"/>
          </a:xfrm>
          <a:custGeom>
            <a:avLst/>
            <a:gdLst/>
            <a:ahLst/>
            <a:cxnLst/>
            <a:rect l="l" t="t" r="r" b="b"/>
            <a:pathLst>
              <a:path w="2228850" h="38100">
                <a:moveTo>
                  <a:pt x="0" y="0"/>
                </a:moveTo>
                <a:lnTo>
                  <a:pt x="2228850" y="0"/>
                </a:lnTo>
                <a:lnTo>
                  <a:pt x="22288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0" name="Shape 58"/>
          <p:cNvSpPr/>
          <p:nvPr/>
        </p:nvSpPr>
        <p:spPr>
          <a:xfrm>
            <a:off x="2758440" y="27813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2861310" y="2819400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101340" y="2800350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Retrieval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2758440" y="31242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Vector search (semantic)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2758440" y="33528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Metadata filtering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2758440" y="35814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Scoring and reranking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983480" y="2686050"/>
            <a:ext cx="2228850" cy="1162050"/>
          </a:xfrm>
          <a:custGeom>
            <a:avLst/>
            <a:gdLst/>
            <a:ahLst/>
            <a:cxnLst/>
            <a:rect l="l" t="t" r="r" b="b"/>
            <a:pathLst>
              <a:path w="2228850" h="1162050">
                <a:moveTo>
                  <a:pt x="0" y="0"/>
                </a:moveTo>
                <a:lnTo>
                  <a:pt x="2228850" y="0"/>
                </a:lnTo>
                <a:lnTo>
                  <a:pt x="2228850" y="1085854"/>
                </a:lnTo>
                <a:cubicBezTo>
                  <a:pt x="2228850" y="1127936"/>
                  <a:pt x="2194736" y="1162050"/>
                  <a:pt x="2152654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67" name="Shape 65"/>
          <p:cNvSpPr/>
          <p:nvPr/>
        </p:nvSpPr>
        <p:spPr>
          <a:xfrm>
            <a:off x="4983480" y="2686050"/>
            <a:ext cx="2228850" cy="38100"/>
          </a:xfrm>
          <a:custGeom>
            <a:avLst/>
            <a:gdLst/>
            <a:ahLst/>
            <a:cxnLst/>
            <a:rect l="l" t="t" r="r" b="b"/>
            <a:pathLst>
              <a:path w="2228850" h="38100">
                <a:moveTo>
                  <a:pt x="0" y="0"/>
                </a:moveTo>
                <a:lnTo>
                  <a:pt x="2228850" y="0"/>
                </a:lnTo>
                <a:lnTo>
                  <a:pt x="22288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8" name="Shape 66"/>
          <p:cNvSpPr/>
          <p:nvPr/>
        </p:nvSpPr>
        <p:spPr>
          <a:xfrm>
            <a:off x="5059680" y="27813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5155764" y="281940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402580" y="280035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Rule-Based Check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059680" y="31242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Pattern matching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5059680" y="33528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"Never", "dead" detection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059680" y="35814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Fast rejection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284720" y="2686050"/>
            <a:ext cx="2228850" cy="1162050"/>
          </a:xfrm>
          <a:custGeom>
            <a:avLst/>
            <a:gdLst/>
            <a:ahLst/>
            <a:cxnLst/>
            <a:rect l="l" t="t" r="r" b="b"/>
            <a:pathLst>
              <a:path w="2228850" h="1162050">
                <a:moveTo>
                  <a:pt x="0" y="0"/>
                </a:moveTo>
                <a:lnTo>
                  <a:pt x="2228850" y="0"/>
                </a:lnTo>
                <a:lnTo>
                  <a:pt x="2228850" y="1085854"/>
                </a:lnTo>
                <a:cubicBezTo>
                  <a:pt x="2228850" y="1127936"/>
                  <a:pt x="2194736" y="1162050"/>
                  <a:pt x="2152654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75" name="Shape 73"/>
          <p:cNvSpPr/>
          <p:nvPr/>
        </p:nvSpPr>
        <p:spPr>
          <a:xfrm>
            <a:off x="7284720" y="2686050"/>
            <a:ext cx="2228850" cy="38100"/>
          </a:xfrm>
          <a:custGeom>
            <a:avLst/>
            <a:gdLst/>
            <a:ahLst/>
            <a:cxnLst/>
            <a:rect l="l" t="t" r="r" b="b"/>
            <a:pathLst>
              <a:path w="2228850" h="38100">
                <a:moveTo>
                  <a:pt x="0" y="0"/>
                </a:moveTo>
                <a:lnTo>
                  <a:pt x="2228850" y="0"/>
                </a:lnTo>
                <a:lnTo>
                  <a:pt x="22288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76" name="Shape 74"/>
          <p:cNvSpPr/>
          <p:nvPr/>
        </p:nvSpPr>
        <p:spPr>
          <a:xfrm>
            <a:off x="7360920" y="27813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5A57A">
              <a:alpha val="30196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7457361" y="281940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7703820" y="280035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Verification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7360920" y="31242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Evidence + context → verdict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7360920" y="33528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Confidence scoring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360920" y="35814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Reasoning generation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9585960" y="2686050"/>
            <a:ext cx="2228850" cy="1162050"/>
          </a:xfrm>
          <a:custGeom>
            <a:avLst/>
            <a:gdLst/>
            <a:ahLst/>
            <a:cxnLst/>
            <a:rect l="l" t="t" r="r" b="b"/>
            <a:pathLst>
              <a:path w="2228850" h="1162050">
                <a:moveTo>
                  <a:pt x="0" y="0"/>
                </a:moveTo>
                <a:lnTo>
                  <a:pt x="2228850" y="0"/>
                </a:lnTo>
                <a:lnTo>
                  <a:pt x="2228850" y="1085854"/>
                </a:lnTo>
                <a:cubicBezTo>
                  <a:pt x="2228850" y="1127936"/>
                  <a:pt x="2194736" y="1162050"/>
                  <a:pt x="2152654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83" name="Shape 81"/>
          <p:cNvSpPr/>
          <p:nvPr/>
        </p:nvSpPr>
        <p:spPr>
          <a:xfrm>
            <a:off x="9585960" y="2686050"/>
            <a:ext cx="2228850" cy="38100"/>
          </a:xfrm>
          <a:custGeom>
            <a:avLst/>
            <a:gdLst/>
            <a:ahLst/>
            <a:cxnLst/>
            <a:rect l="l" t="t" r="r" b="b"/>
            <a:pathLst>
              <a:path w="2228850" h="38100">
                <a:moveTo>
                  <a:pt x="0" y="0"/>
                </a:moveTo>
                <a:lnTo>
                  <a:pt x="2228850" y="0"/>
                </a:lnTo>
                <a:lnTo>
                  <a:pt x="22288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84" name="Shape 82"/>
          <p:cNvSpPr/>
          <p:nvPr/>
        </p:nvSpPr>
        <p:spPr>
          <a:xfrm>
            <a:off x="9662160" y="27813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5A57A">
              <a:alpha val="30196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9731097" y="2819400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10005060" y="280035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Coherence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9662160" y="31242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Consistency check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9662160" y="33528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Binary decision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9662160" y="35814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Rationale generation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381000" y="3943350"/>
            <a:ext cx="11430000" cy="1190625"/>
          </a:xfrm>
          <a:custGeom>
            <a:avLst/>
            <a:gdLst/>
            <a:ahLst/>
            <a:cxnLst/>
            <a:rect l="l" t="t" r="r" b="b"/>
            <a:pathLst>
              <a:path w="11430000" h="1190625">
                <a:moveTo>
                  <a:pt x="0" y="0"/>
                </a:moveTo>
                <a:lnTo>
                  <a:pt x="11430000" y="0"/>
                </a:lnTo>
                <a:lnTo>
                  <a:pt x="11430000" y="1114425"/>
                </a:lnTo>
                <a:cubicBezTo>
                  <a:pt x="11430000" y="1156481"/>
                  <a:pt x="11395856" y="1190625"/>
                  <a:pt x="11353800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91" name="Shape 89"/>
          <p:cNvSpPr/>
          <p:nvPr/>
        </p:nvSpPr>
        <p:spPr>
          <a:xfrm>
            <a:off x="381000" y="3943350"/>
            <a:ext cx="11430000" cy="38100"/>
          </a:xfrm>
          <a:custGeom>
            <a:avLst/>
            <a:gdLst/>
            <a:ahLst/>
            <a:cxnLst/>
            <a:rect l="l" t="t" r="r" b="b"/>
            <a:pathLst>
              <a:path w="11430000" h="38100">
                <a:moveTo>
                  <a:pt x="0" y="0"/>
                </a:moveTo>
                <a:lnTo>
                  <a:pt x="11430000" y="0"/>
                </a:lnTo>
                <a:lnTo>
                  <a:pt x="11430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2" name="Shape 90"/>
          <p:cNvSpPr/>
          <p:nvPr/>
        </p:nvSpPr>
        <p:spPr>
          <a:xfrm>
            <a:off x="519113" y="4124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3" name="Text 91"/>
          <p:cNvSpPr/>
          <p:nvPr/>
        </p:nvSpPr>
        <p:spPr>
          <a:xfrm>
            <a:off x="714375" y="4076700"/>
            <a:ext cx="1106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Process Flow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502920" y="4427220"/>
            <a:ext cx="2529840" cy="586740"/>
          </a:xfrm>
          <a:custGeom>
            <a:avLst/>
            <a:gdLst/>
            <a:ahLst/>
            <a:cxnLst/>
            <a:rect l="l" t="t" r="r" b="b"/>
            <a:pathLst>
              <a:path w="2529840" h="586740">
                <a:moveTo>
                  <a:pt x="76200" y="0"/>
                </a:moveTo>
                <a:lnTo>
                  <a:pt x="2453640" y="0"/>
                </a:lnTo>
                <a:cubicBezTo>
                  <a:pt x="2495724" y="0"/>
                  <a:pt x="2529840" y="34116"/>
                  <a:pt x="2529840" y="76200"/>
                </a:cubicBezTo>
                <a:lnTo>
                  <a:pt x="2529840" y="510540"/>
                </a:lnTo>
                <a:cubicBezTo>
                  <a:pt x="2529840" y="552624"/>
                  <a:pt x="2495724" y="586740"/>
                  <a:pt x="2453640" y="586740"/>
                </a:cubicBezTo>
                <a:lnTo>
                  <a:pt x="76200" y="586740"/>
                </a:lnTo>
                <a:cubicBezTo>
                  <a:pt x="34116" y="586740"/>
                  <a:pt x="0" y="552624"/>
                  <a:pt x="0" y="51054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58165" y="4511041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548640" y="470142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100K+ Token Narrative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3133725" y="46442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98" name="Shape 96"/>
          <p:cNvSpPr/>
          <p:nvPr/>
        </p:nvSpPr>
        <p:spPr>
          <a:xfrm>
            <a:off x="3388995" y="4427220"/>
            <a:ext cx="2529840" cy="586740"/>
          </a:xfrm>
          <a:custGeom>
            <a:avLst/>
            <a:gdLst/>
            <a:ahLst/>
            <a:cxnLst/>
            <a:rect l="l" t="t" r="r" b="b"/>
            <a:pathLst>
              <a:path w="2529840" h="586740">
                <a:moveTo>
                  <a:pt x="76200" y="0"/>
                </a:moveTo>
                <a:lnTo>
                  <a:pt x="2453640" y="0"/>
                </a:lnTo>
                <a:cubicBezTo>
                  <a:pt x="2495724" y="0"/>
                  <a:pt x="2529840" y="34116"/>
                  <a:pt x="2529840" y="76200"/>
                </a:cubicBezTo>
                <a:lnTo>
                  <a:pt x="2529840" y="510540"/>
                </a:lnTo>
                <a:cubicBezTo>
                  <a:pt x="2529840" y="552624"/>
                  <a:pt x="2495724" y="586740"/>
                  <a:pt x="2453640" y="586740"/>
                </a:cubicBezTo>
                <a:lnTo>
                  <a:pt x="76200" y="586740"/>
                </a:lnTo>
                <a:cubicBezTo>
                  <a:pt x="34116" y="586740"/>
                  <a:pt x="0" y="552624"/>
                  <a:pt x="0" y="51054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444240" y="4511041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3434715" y="470142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Extraction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6019800" y="46442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275070" y="4427220"/>
            <a:ext cx="2529840" cy="586740"/>
          </a:xfrm>
          <a:custGeom>
            <a:avLst/>
            <a:gdLst/>
            <a:ahLst/>
            <a:cxnLst/>
            <a:rect l="l" t="t" r="r" b="b"/>
            <a:pathLst>
              <a:path w="2529840" h="586740">
                <a:moveTo>
                  <a:pt x="76200" y="0"/>
                </a:moveTo>
                <a:lnTo>
                  <a:pt x="2453640" y="0"/>
                </a:lnTo>
                <a:cubicBezTo>
                  <a:pt x="2495724" y="0"/>
                  <a:pt x="2529840" y="34116"/>
                  <a:pt x="2529840" y="76200"/>
                </a:cubicBezTo>
                <a:lnTo>
                  <a:pt x="2529840" y="510540"/>
                </a:lnTo>
                <a:cubicBezTo>
                  <a:pt x="2529840" y="552624"/>
                  <a:pt x="2495724" y="586740"/>
                  <a:pt x="2453640" y="586740"/>
                </a:cubicBezTo>
                <a:lnTo>
                  <a:pt x="76200" y="586740"/>
                </a:lnTo>
                <a:cubicBezTo>
                  <a:pt x="34116" y="586740"/>
                  <a:pt x="0" y="552624"/>
                  <a:pt x="0" y="51054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C5A57A">
                <a:alpha val="50196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30315" y="4511041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6320790" y="470142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 Verification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8905875" y="46442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161145" y="4427220"/>
            <a:ext cx="2529840" cy="586740"/>
          </a:xfrm>
          <a:custGeom>
            <a:avLst/>
            <a:gdLst/>
            <a:ahLst/>
            <a:cxnLst/>
            <a:rect l="l" t="t" r="r" b="b"/>
            <a:pathLst>
              <a:path w="2529840" h="586740">
                <a:moveTo>
                  <a:pt x="76200" y="0"/>
                </a:moveTo>
                <a:lnTo>
                  <a:pt x="2453640" y="0"/>
                </a:lnTo>
                <a:cubicBezTo>
                  <a:pt x="2495724" y="0"/>
                  <a:pt x="2529840" y="34116"/>
                  <a:pt x="2529840" y="76200"/>
                </a:cubicBezTo>
                <a:lnTo>
                  <a:pt x="2529840" y="510540"/>
                </a:lnTo>
                <a:cubicBezTo>
                  <a:pt x="2529840" y="552624"/>
                  <a:pt x="2495724" y="586740"/>
                  <a:pt x="2453640" y="586740"/>
                </a:cubicBezTo>
                <a:lnTo>
                  <a:pt x="76200" y="586740"/>
                </a:lnTo>
                <a:cubicBezTo>
                  <a:pt x="34116" y="586740"/>
                  <a:pt x="0" y="552624"/>
                  <a:pt x="0" y="51054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C5A57A">
                <a:alpha val="50196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216390" y="4511041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9206865" y="470142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/ CONTRADICTORY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" name="Text 1"/>
          <p:cNvSpPr/>
          <p:nvPr/>
        </p:nvSpPr>
        <p:spPr>
          <a:xfrm>
            <a:off x="460375" y="333375"/>
            <a:ext cx="177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698500"/>
            <a:ext cx="1143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Breakthrough Techniques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984250"/>
            <a:ext cx="5715000" cy="2492375"/>
          </a:xfrm>
          <a:custGeom>
            <a:avLst/>
            <a:gdLst/>
            <a:ahLst/>
            <a:cxnLst/>
            <a:rect l="l" t="t" r="r" b="b"/>
            <a:pathLst>
              <a:path w="5715000" h="2492375">
                <a:moveTo>
                  <a:pt x="0" y="0"/>
                </a:moveTo>
                <a:lnTo>
                  <a:pt x="5651494" y="0"/>
                </a:lnTo>
                <a:cubicBezTo>
                  <a:pt x="5686568" y="0"/>
                  <a:pt x="5715000" y="28432"/>
                  <a:pt x="5715000" y="63506"/>
                </a:cubicBezTo>
                <a:lnTo>
                  <a:pt x="5715000" y="2428869"/>
                </a:lnTo>
                <a:cubicBezTo>
                  <a:pt x="5715000" y="2463943"/>
                  <a:pt x="5686568" y="2492375"/>
                  <a:pt x="5651494" y="2492375"/>
                </a:cubicBezTo>
                <a:lnTo>
                  <a:pt x="0" y="2492375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984250"/>
            <a:ext cx="31750" cy="2492375"/>
          </a:xfrm>
          <a:custGeom>
            <a:avLst/>
            <a:gdLst/>
            <a:ahLst/>
            <a:cxnLst/>
            <a:rect l="l" t="t" r="r" b="b"/>
            <a:pathLst>
              <a:path w="31750" h="2492375">
                <a:moveTo>
                  <a:pt x="0" y="0"/>
                </a:moveTo>
                <a:lnTo>
                  <a:pt x="31750" y="0"/>
                </a:lnTo>
                <a:lnTo>
                  <a:pt x="31750" y="2492375"/>
                </a:lnTo>
                <a:lnTo>
                  <a:pt x="0" y="2492375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444500" y="1079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80529" y="1127125"/>
            <a:ext cx="119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7250" y="1127125"/>
            <a:ext cx="2492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Constraint Tracking &amp; Propagation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4500" y="1460500"/>
            <a:ext cx="5564188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Accumulates world rules and character states throughout the narrative</a:t>
            </a:r>
            <a:r>
              <a:rPr lang="en-US" sz="875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preventing contradictions and enforcing logical consistency.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4500" y="1885156"/>
            <a:ext cx="5508625" cy="444500"/>
          </a:xfrm>
          <a:custGeom>
            <a:avLst/>
            <a:gdLst/>
            <a:ahLst/>
            <a:cxnLst/>
            <a:rect l="l" t="t" r="r" b="b"/>
            <a:pathLst>
              <a:path w="5508625" h="444500">
                <a:moveTo>
                  <a:pt x="63501" y="0"/>
                </a:moveTo>
                <a:lnTo>
                  <a:pt x="5445124" y="0"/>
                </a:lnTo>
                <a:cubicBezTo>
                  <a:pt x="5480195" y="0"/>
                  <a:pt x="5508625" y="28430"/>
                  <a:pt x="5508625" y="63501"/>
                </a:cubicBezTo>
                <a:lnTo>
                  <a:pt x="5508625" y="380999"/>
                </a:lnTo>
                <a:cubicBezTo>
                  <a:pt x="5508625" y="416070"/>
                  <a:pt x="5480195" y="444500"/>
                  <a:pt x="54451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508000" y="1948656"/>
            <a:ext cx="542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World Rules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8000" y="2107305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"Magic doesn't work in the Tower" → Alice used magic → Contradiction if in Tower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4500" y="2361305"/>
            <a:ext cx="5508625" cy="444500"/>
          </a:xfrm>
          <a:custGeom>
            <a:avLst/>
            <a:gdLst/>
            <a:ahLst/>
            <a:cxnLst/>
            <a:rect l="l" t="t" r="r" b="b"/>
            <a:pathLst>
              <a:path w="5508625" h="444500">
                <a:moveTo>
                  <a:pt x="63501" y="0"/>
                </a:moveTo>
                <a:lnTo>
                  <a:pt x="5445124" y="0"/>
                </a:lnTo>
                <a:cubicBezTo>
                  <a:pt x="5480195" y="0"/>
                  <a:pt x="5508625" y="28430"/>
                  <a:pt x="5508625" y="63501"/>
                </a:cubicBezTo>
                <a:lnTo>
                  <a:pt x="5508625" y="380999"/>
                </a:lnTo>
                <a:cubicBezTo>
                  <a:pt x="5508625" y="416070"/>
                  <a:pt x="5480195" y="444500"/>
                  <a:pt x="54451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508000" y="2424805"/>
            <a:ext cx="542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 State Tracking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8000" y="2583459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"Alice never left the village" → Backstory: "Alice was in the city" → Contradiction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59500" y="984250"/>
            <a:ext cx="5715000" cy="2492375"/>
          </a:xfrm>
          <a:custGeom>
            <a:avLst/>
            <a:gdLst/>
            <a:ahLst/>
            <a:cxnLst/>
            <a:rect l="l" t="t" r="r" b="b"/>
            <a:pathLst>
              <a:path w="5715000" h="2492375">
                <a:moveTo>
                  <a:pt x="0" y="0"/>
                </a:moveTo>
                <a:lnTo>
                  <a:pt x="5651494" y="0"/>
                </a:lnTo>
                <a:cubicBezTo>
                  <a:pt x="5686568" y="0"/>
                  <a:pt x="5715000" y="28432"/>
                  <a:pt x="5715000" y="63506"/>
                </a:cubicBezTo>
                <a:lnTo>
                  <a:pt x="5715000" y="2428869"/>
                </a:lnTo>
                <a:cubicBezTo>
                  <a:pt x="5715000" y="2463943"/>
                  <a:pt x="5686568" y="2492375"/>
                  <a:pt x="5651494" y="2492375"/>
                </a:cubicBezTo>
                <a:lnTo>
                  <a:pt x="0" y="2492375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18" name="Shape 16"/>
          <p:cNvSpPr/>
          <p:nvPr/>
        </p:nvSpPr>
        <p:spPr>
          <a:xfrm>
            <a:off x="6159500" y="984250"/>
            <a:ext cx="31750" cy="2492375"/>
          </a:xfrm>
          <a:custGeom>
            <a:avLst/>
            <a:gdLst/>
            <a:ahLst/>
            <a:cxnLst/>
            <a:rect l="l" t="t" r="r" b="b"/>
            <a:pathLst>
              <a:path w="31750" h="2492375">
                <a:moveTo>
                  <a:pt x="0" y="0"/>
                </a:moveTo>
                <a:lnTo>
                  <a:pt x="31750" y="0"/>
                </a:lnTo>
                <a:lnTo>
                  <a:pt x="31750" y="2492375"/>
                </a:lnTo>
                <a:lnTo>
                  <a:pt x="0" y="2492375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270625" y="1079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5A57A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92962" y="1127125"/>
            <a:ext cx="14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83375" y="1127125"/>
            <a:ext cx="1778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Tiered Evidence Scoring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70625" y="1460500"/>
            <a:ext cx="5564188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classification of evidence quality</a:t>
            </a:r>
            <a:r>
              <a:rPr lang="en-US" sz="875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distinguishing explicit, implicit, and semantic evidence with confidence weighting.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76975" y="1885156"/>
            <a:ext cx="5499100" cy="476250"/>
          </a:xfrm>
          <a:custGeom>
            <a:avLst/>
            <a:gdLst/>
            <a:ahLst/>
            <a:cxnLst/>
            <a:rect l="l" t="t" r="r" b="b"/>
            <a:pathLst>
              <a:path w="5499100" h="476250">
                <a:moveTo>
                  <a:pt x="12700" y="0"/>
                </a:moveTo>
                <a:lnTo>
                  <a:pt x="5435602" y="0"/>
                </a:lnTo>
                <a:cubicBezTo>
                  <a:pt x="5470671" y="0"/>
                  <a:pt x="5499100" y="28429"/>
                  <a:pt x="5499100" y="63498"/>
                </a:cubicBezTo>
                <a:lnTo>
                  <a:pt x="5499100" y="412752"/>
                </a:lnTo>
                <a:cubicBezTo>
                  <a:pt x="5499100" y="447821"/>
                  <a:pt x="5470671" y="476250"/>
                  <a:pt x="5435602" y="476250"/>
                </a:cubicBezTo>
                <a:lnTo>
                  <a:pt x="12700" y="476250"/>
                </a:lnTo>
                <a:cubicBezTo>
                  <a:pt x="5686" y="476250"/>
                  <a:pt x="0" y="470564"/>
                  <a:pt x="0" y="4635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Shape 22"/>
          <p:cNvSpPr/>
          <p:nvPr/>
        </p:nvSpPr>
        <p:spPr>
          <a:xfrm>
            <a:off x="6276975" y="1885156"/>
            <a:ext cx="12700" cy="476250"/>
          </a:xfrm>
          <a:custGeom>
            <a:avLst/>
            <a:gdLst/>
            <a:ahLst/>
            <a:cxnLst/>
            <a:rect l="l" t="t" r="r" b="b"/>
            <a:pathLst>
              <a:path w="12700" h="476250">
                <a:moveTo>
                  <a:pt x="12700" y="0"/>
                </a:moveTo>
                <a:lnTo>
                  <a:pt x="12700" y="0"/>
                </a:lnTo>
                <a:lnTo>
                  <a:pt x="12700" y="476250"/>
                </a:lnTo>
                <a:lnTo>
                  <a:pt x="12700" y="476250"/>
                </a:lnTo>
                <a:cubicBezTo>
                  <a:pt x="5691" y="476250"/>
                  <a:pt x="0" y="470559"/>
                  <a:pt x="0" y="4635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5" name="Text 23"/>
          <p:cNvSpPr/>
          <p:nvPr/>
        </p:nvSpPr>
        <p:spPr>
          <a:xfrm>
            <a:off x="6346825" y="1948656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Explicit (Weight: 1.0)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46825" y="2139156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statements: "Alice was born in the village"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76975" y="2393156"/>
            <a:ext cx="5499100" cy="476250"/>
          </a:xfrm>
          <a:custGeom>
            <a:avLst/>
            <a:gdLst/>
            <a:ahLst/>
            <a:cxnLst/>
            <a:rect l="l" t="t" r="r" b="b"/>
            <a:pathLst>
              <a:path w="5499100" h="476250">
                <a:moveTo>
                  <a:pt x="12700" y="0"/>
                </a:moveTo>
                <a:lnTo>
                  <a:pt x="5435602" y="0"/>
                </a:lnTo>
                <a:cubicBezTo>
                  <a:pt x="5470671" y="0"/>
                  <a:pt x="5499100" y="28429"/>
                  <a:pt x="5499100" y="63498"/>
                </a:cubicBezTo>
                <a:lnTo>
                  <a:pt x="5499100" y="412752"/>
                </a:lnTo>
                <a:cubicBezTo>
                  <a:pt x="5499100" y="447821"/>
                  <a:pt x="5470671" y="476250"/>
                  <a:pt x="5435602" y="476250"/>
                </a:cubicBezTo>
                <a:lnTo>
                  <a:pt x="12700" y="476250"/>
                </a:lnTo>
                <a:cubicBezTo>
                  <a:pt x="5686" y="476250"/>
                  <a:pt x="0" y="470564"/>
                  <a:pt x="0" y="4635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Shape 26"/>
          <p:cNvSpPr/>
          <p:nvPr/>
        </p:nvSpPr>
        <p:spPr>
          <a:xfrm>
            <a:off x="6276975" y="2393156"/>
            <a:ext cx="12700" cy="476250"/>
          </a:xfrm>
          <a:custGeom>
            <a:avLst/>
            <a:gdLst/>
            <a:ahLst/>
            <a:cxnLst/>
            <a:rect l="l" t="t" r="r" b="b"/>
            <a:pathLst>
              <a:path w="12700" h="476250">
                <a:moveTo>
                  <a:pt x="12700" y="0"/>
                </a:moveTo>
                <a:lnTo>
                  <a:pt x="12700" y="0"/>
                </a:lnTo>
                <a:lnTo>
                  <a:pt x="12700" y="476250"/>
                </a:lnTo>
                <a:lnTo>
                  <a:pt x="12700" y="476250"/>
                </a:lnTo>
                <a:cubicBezTo>
                  <a:pt x="5691" y="476250"/>
                  <a:pt x="0" y="470559"/>
                  <a:pt x="0" y="4635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9" name="Text 27"/>
          <p:cNvSpPr/>
          <p:nvPr/>
        </p:nvSpPr>
        <p:spPr>
          <a:xfrm>
            <a:off x="6346825" y="2456656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Implicit (Weight: 0.7)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46825" y="2647156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Inferable: No mention of travel → likely stayed in village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76975" y="2901156"/>
            <a:ext cx="5499100" cy="476250"/>
          </a:xfrm>
          <a:custGeom>
            <a:avLst/>
            <a:gdLst/>
            <a:ahLst/>
            <a:cxnLst/>
            <a:rect l="l" t="t" r="r" b="b"/>
            <a:pathLst>
              <a:path w="5499100" h="476250">
                <a:moveTo>
                  <a:pt x="12700" y="0"/>
                </a:moveTo>
                <a:lnTo>
                  <a:pt x="5435602" y="0"/>
                </a:lnTo>
                <a:cubicBezTo>
                  <a:pt x="5470671" y="0"/>
                  <a:pt x="5499100" y="28429"/>
                  <a:pt x="5499100" y="63498"/>
                </a:cubicBezTo>
                <a:lnTo>
                  <a:pt x="5499100" y="412752"/>
                </a:lnTo>
                <a:cubicBezTo>
                  <a:pt x="5499100" y="447821"/>
                  <a:pt x="5470671" y="476250"/>
                  <a:pt x="5435602" y="476250"/>
                </a:cubicBezTo>
                <a:lnTo>
                  <a:pt x="12700" y="476250"/>
                </a:lnTo>
                <a:cubicBezTo>
                  <a:pt x="5686" y="476250"/>
                  <a:pt x="0" y="470564"/>
                  <a:pt x="0" y="4635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2" name="Shape 30"/>
          <p:cNvSpPr/>
          <p:nvPr/>
        </p:nvSpPr>
        <p:spPr>
          <a:xfrm>
            <a:off x="6276975" y="2901156"/>
            <a:ext cx="12700" cy="476250"/>
          </a:xfrm>
          <a:custGeom>
            <a:avLst/>
            <a:gdLst/>
            <a:ahLst/>
            <a:cxnLst/>
            <a:rect l="l" t="t" r="r" b="b"/>
            <a:pathLst>
              <a:path w="12700" h="476250">
                <a:moveTo>
                  <a:pt x="12700" y="0"/>
                </a:moveTo>
                <a:lnTo>
                  <a:pt x="12700" y="0"/>
                </a:lnTo>
                <a:lnTo>
                  <a:pt x="12700" y="476250"/>
                </a:lnTo>
                <a:lnTo>
                  <a:pt x="12700" y="476250"/>
                </a:lnTo>
                <a:cubicBezTo>
                  <a:pt x="5691" y="476250"/>
                  <a:pt x="0" y="470559"/>
                  <a:pt x="0" y="4635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3" name="Text 31"/>
          <p:cNvSpPr/>
          <p:nvPr/>
        </p:nvSpPr>
        <p:spPr>
          <a:xfrm>
            <a:off x="6346825" y="2964656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(Weight: 0.3)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46825" y="3155156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Thematically related but not directly supportive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33375" y="3536156"/>
            <a:ext cx="5715000" cy="1920875"/>
          </a:xfrm>
          <a:custGeom>
            <a:avLst/>
            <a:gdLst/>
            <a:ahLst/>
            <a:cxnLst/>
            <a:rect l="l" t="t" r="r" b="b"/>
            <a:pathLst>
              <a:path w="5715000" h="1920875">
                <a:moveTo>
                  <a:pt x="0" y="0"/>
                </a:moveTo>
                <a:lnTo>
                  <a:pt x="5651496" y="0"/>
                </a:lnTo>
                <a:cubicBezTo>
                  <a:pt x="5686568" y="0"/>
                  <a:pt x="5715000" y="28432"/>
                  <a:pt x="5715000" y="63504"/>
                </a:cubicBezTo>
                <a:lnTo>
                  <a:pt x="5715000" y="1857371"/>
                </a:lnTo>
                <a:cubicBezTo>
                  <a:pt x="5715000" y="1892443"/>
                  <a:pt x="5686568" y="1920875"/>
                  <a:pt x="5651496" y="1920875"/>
                </a:cubicBezTo>
                <a:lnTo>
                  <a:pt x="0" y="1920875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36" name="Shape 34"/>
          <p:cNvSpPr/>
          <p:nvPr/>
        </p:nvSpPr>
        <p:spPr>
          <a:xfrm>
            <a:off x="333375" y="3536156"/>
            <a:ext cx="31750" cy="1920875"/>
          </a:xfrm>
          <a:custGeom>
            <a:avLst/>
            <a:gdLst/>
            <a:ahLst/>
            <a:cxnLst/>
            <a:rect l="l" t="t" r="r" b="b"/>
            <a:pathLst>
              <a:path w="31750" h="1920875">
                <a:moveTo>
                  <a:pt x="0" y="0"/>
                </a:moveTo>
                <a:lnTo>
                  <a:pt x="31750" y="0"/>
                </a:lnTo>
                <a:lnTo>
                  <a:pt x="31750" y="1920875"/>
                </a:lnTo>
                <a:lnTo>
                  <a:pt x="0" y="1920875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7" name="Shape 35"/>
          <p:cNvSpPr/>
          <p:nvPr/>
        </p:nvSpPr>
        <p:spPr>
          <a:xfrm>
            <a:off x="444500" y="363140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64952" y="3679031"/>
            <a:ext cx="15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7250" y="3679031"/>
            <a:ext cx="2968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Staged Verification (Cheap → Expensive)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4500" y="4012406"/>
            <a:ext cx="5564188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Optimizes computational efficiency</a:t>
            </a:r>
            <a:r>
              <a:rPr lang="en-US" sz="875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progressive verification stages, avoiding costly LLM calls when possible.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4500" y="4437063"/>
            <a:ext cx="5508625" cy="444500"/>
          </a:xfrm>
          <a:custGeom>
            <a:avLst/>
            <a:gdLst/>
            <a:ahLst/>
            <a:cxnLst/>
            <a:rect l="l" t="t" r="r" b="b"/>
            <a:pathLst>
              <a:path w="5508625" h="444500">
                <a:moveTo>
                  <a:pt x="63501" y="0"/>
                </a:moveTo>
                <a:lnTo>
                  <a:pt x="5445124" y="0"/>
                </a:lnTo>
                <a:cubicBezTo>
                  <a:pt x="5480195" y="0"/>
                  <a:pt x="5508625" y="28430"/>
                  <a:pt x="5508625" y="63501"/>
                </a:cubicBezTo>
                <a:lnTo>
                  <a:pt x="5508625" y="380999"/>
                </a:lnTo>
                <a:cubicBezTo>
                  <a:pt x="5508625" y="416070"/>
                  <a:pt x="5480195" y="444500"/>
                  <a:pt x="54451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Text 40"/>
          <p:cNvSpPr/>
          <p:nvPr/>
        </p:nvSpPr>
        <p:spPr>
          <a:xfrm>
            <a:off x="508000" y="4500563"/>
            <a:ext cx="130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Rule-Based Fast Rejection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30131" y="4516438"/>
            <a:ext cx="603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~0.001% cost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8000" y="4659313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matching for "never", "dead" → instant reject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4500" y="4913313"/>
            <a:ext cx="5508625" cy="444500"/>
          </a:xfrm>
          <a:custGeom>
            <a:avLst/>
            <a:gdLst/>
            <a:ahLst/>
            <a:cxnLst/>
            <a:rect l="l" t="t" r="r" b="b"/>
            <a:pathLst>
              <a:path w="5508625" h="444500">
                <a:moveTo>
                  <a:pt x="63501" y="0"/>
                </a:moveTo>
                <a:lnTo>
                  <a:pt x="5445124" y="0"/>
                </a:lnTo>
                <a:cubicBezTo>
                  <a:pt x="5480195" y="0"/>
                  <a:pt x="5508625" y="28430"/>
                  <a:pt x="5508625" y="63501"/>
                </a:cubicBezTo>
                <a:lnTo>
                  <a:pt x="5508625" y="380999"/>
                </a:lnTo>
                <a:cubicBezTo>
                  <a:pt x="5508625" y="416070"/>
                  <a:pt x="5480195" y="444500"/>
                  <a:pt x="54451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Text 44"/>
          <p:cNvSpPr/>
          <p:nvPr/>
        </p:nvSpPr>
        <p:spPr>
          <a:xfrm>
            <a:off x="508000" y="4976813"/>
            <a:ext cx="833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Verification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61595" y="4992688"/>
            <a:ext cx="476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cost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08000" y="5135563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reasoning only for non-trivial cases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59500" y="3536156"/>
            <a:ext cx="5715000" cy="1920875"/>
          </a:xfrm>
          <a:custGeom>
            <a:avLst/>
            <a:gdLst/>
            <a:ahLst/>
            <a:cxnLst/>
            <a:rect l="l" t="t" r="r" b="b"/>
            <a:pathLst>
              <a:path w="5715000" h="1920875">
                <a:moveTo>
                  <a:pt x="0" y="0"/>
                </a:moveTo>
                <a:lnTo>
                  <a:pt x="5651496" y="0"/>
                </a:lnTo>
                <a:cubicBezTo>
                  <a:pt x="5686568" y="0"/>
                  <a:pt x="5715000" y="28432"/>
                  <a:pt x="5715000" y="63504"/>
                </a:cubicBezTo>
                <a:lnTo>
                  <a:pt x="5715000" y="1857371"/>
                </a:lnTo>
                <a:cubicBezTo>
                  <a:pt x="5715000" y="1892443"/>
                  <a:pt x="5686568" y="1920875"/>
                  <a:pt x="5651496" y="1920875"/>
                </a:cubicBezTo>
                <a:lnTo>
                  <a:pt x="0" y="1920875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50" name="Shape 48"/>
          <p:cNvSpPr/>
          <p:nvPr/>
        </p:nvSpPr>
        <p:spPr>
          <a:xfrm>
            <a:off x="6159500" y="3536156"/>
            <a:ext cx="31750" cy="1920875"/>
          </a:xfrm>
          <a:custGeom>
            <a:avLst/>
            <a:gdLst/>
            <a:ahLst/>
            <a:cxnLst/>
            <a:rect l="l" t="t" r="r" b="b"/>
            <a:pathLst>
              <a:path w="31750" h="1920875">
                <a:moveTo>
                  <a:pt x="0" y="0"/>
                </a:moveTo>
                <a:lnTo>
                  <a:pt x="31750" y="0"/>
                </a:lnTo>
                <a:lnTo>
                  <a:pt x="31750" y="1920875"/>
                </a:lnTo>
                <a:lnTo>
                  <a:pt x="0" y="1920875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1" name="Shape 49"/>
          <p:cNvSpPr/>
          <p:nvPr/>
        </p:nvSpPr>
        <p:spPr>
          <a:xfrm>
            <a:off x="6270625" y="363140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5A57A">
              <a:alpha val="3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393061" y="3679031"/>
            <a:ext cx="14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83375" y="3679031"/>
            <a:ext cx="2143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 vs. Noise Methodology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270625" y="4012406"/>
            <a:ext cx="55641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filtering of irrelevant retrieved text</a:t>
            </a:r>
            <a:r>
              <a:rPr lang="en-US" sz="875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metadata boosting and relevance scoring.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70625" y="4256484"/>
            <a:ext cx="5508625" cy="444500"/>
          </a:xfrm>
          <a:custGeom>
            <a:avLst/>
            <a:gdLst/>
            <a:ahLst/>
            <a:cxnLst/>
            <a:rect l="l" t="t" r="r" b="b"/>
            <a:pathLst>
              <a:path w="5508625" h="444500">
                <a:moveTo>
                  <a:pt x="63501" y="0"/>
                </a:moveTo>
                <a:lnTo>
                  <a:pt x="5445124" y="0"/>
                </a:lnTo>
                <a:cubicBezTo>
                  <a:pt x="5480195" y="0"/>
                  <a:pt x="5508625" y="28430"/>
                  <a:pt x="5508625" y="63501"/>
                </a:cubicBezTo>
                <a:lnTo>
                  <a:pt x="5508625" y="380999"/>
                </a:lnTo>
                <a:cubicBezTo>
                  <a:pt x="5508625" y="416070"/>
                  <a:pt x="5480195" y="444500"/>
                  <a:pt x="54451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6" name="Text 54"/>
          <p:cNvSpPr/>
          <p:nvPr/>
        </p:nvSpPr>
        <p:spPr>
          <a:xfrm>
            <a:off x="6334125" y="4319984"/>
            <a:ext cx="542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Character/Constraint Boosting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34125" y="4478634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Relevant character mentions get 3x score boost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70625" y="4732634"/>
            <a:ext cx="5508625" cy="444500"/>
          </a:xfrm>
          <a:custGeom>
            <a:avLst/>
            <a:gdLst/>
            <a:ahLst/>
            <a:cxnLst/>
            <a:rect l="l" t="t" r="r" b="b"/>
            <a:pathLst>
              <a:path w="5508625" h="444500">
                <a:moveTo>
                  <a:pt x="63501" y="0"/>
                </a:moveTo>
                <a:lnTo>
                  <a:pt x="5445124" y="0"/>
                </a:lnTo>
                <a:cubicBezTo>
                  <a:pt x="5480195" y="0"/>
                  <a:pt x="5508625" y="28430"/>
                  <a:pt x="5508625" y="63501"/>
                </a:cubicBezTo>
                <a:lnTo>
                  <a:pt x="5508625" y="380999"/>
                </a:lnTo>
                <a:cubicBezTo>
                  <a:pt x="5508625" y="416070"/>
                  <a:pt x="5480195" y="444500"/>
                  <a:pt x="54451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9" name="Text 57"/>
          <p:cNvSpPr/>
          <p:nvPr/>
        </p:nvSpPr>
        <p:spPr>
          <a:xfrm>
            <a:off x="6334125" y="4796134"/>
            <a:ext cx="542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Proximity Scoring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34125" y="4954787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Nearby timeline events weighted higher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17500" y="5532438"/>
            <a:ext cx="11557000" cy="1222375"/>
          </a:xfrm>
          <a:custGeom>
            <a:avLst/>
            <a:gdLst/>
            <a:ahLst/>
            <a:cxnLst/>
            <a:rect l="l" t="t" r="r" b="b"/>
            <a:pathLst>
              <a:path w="11557000" h="1222375">
                <a:moveTo>
                  <a:pt x="0" y="0"/>
                </a:moveTo>
                <a:lnTo>
                  <a:pt x="11557000" y="0"/>
                </a:lnTo>
                <a:lnTo>
                  <a:pt x="11557000" y="1158873"/>
                </a:lnTo>
                <a:cubicBezTo>
                  <a:pt x="11557000" y="1193944"/>
                  <a:pt x="11528569" y="1222375"/>
                  <a:pt x="11493498" y="1222375"/>
                </a:cubicBezTo>
                <a:lnTo>
                  <a:pt x="63502" y="1222375"/>
                </a:lnTo>
                <a:cubicBezTo>
                  <a:pt x="28431" y="1222375"/>
                  <a:pt x="0" y="1193944"/>
                  <a:pt x="0" y="1158873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62" name="Shape 60"/>
          <p:cNvSpPr/>
          <p:nvPr/>
        </p:nvSpPr>
        <p:spPr>
          <a:xfrm>
            <a:off x="317500" y="5532438"/>
            <a:ext cx="11557000" cy="31750"/>
          </a:xfrm>
          <a:custGeom>
            <a:avLst/>
            <a:gdLst/>
            <a:ahLst/>
            <a:cxnLst/>
            <a:rect l="l" t="t" r="r" b="b"/>
            <a:pathLst>
              <a:path w="11557000" h="31750">
                <a:moveTo>
                  <a:pt x="0" y="0"/>
                </a:moveTo>
                <a:lnTo>
                  <a:pt x="11557000" y="0"/>
                </a:lnTo>
                <a:lnTo>
                  <a:pt x="11557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3" name="Shape 61"/>
          <p:cNvSpPr/>
          <p:nvPr/>
        </p:nvSpPr>
        <p:spPr>
          <a:xfrm>
            <a:off x="432594" y="56832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17859"/>
                </a:moveTo>
                <a:cubicBezTo>
                  <a:pt x="17859" y="12920"/>
                  <a:pt x="13869" y="8930"/>
                  <a:pt x="8930" y="8930"/>
                </a:cubicBezTo>
                <a:cubicBezTo>
                  <a:pt x="3990" y="8930"/>
                  <a:pt x="0" y="12920"/>
                  <a:pt x="0" y="17859"/>
                </a:cubicBezTo>
                <a:lnTo>
                  <a:pt x="0" y="111621"/>
                </a:lnTo>
                <a:cubicBezTo>
                  <a:pt x="0" y="123955"/>
                  <a:pt x="9990" y="133945"/>
                  <a:pt x="22324" y="133945"/>
                </a:cubicBezTo>
                <a:lnTo>
                  <a:pt x="133945" y="133945"/>
                </a:lnTo>
                <a:cubicBezTo>
                  <a:pt x="138885" y="133945"/>
                  <a:pt x="142875" y="129955"/>
                  <a:pt x="142875" y="125016"/>
                </a:cubicBezTo>
                <a:cubicBezTo>
                  <a:pt x="142875" y="120076"/>
                  <a:pt x="138885" y="116086"/>
                  <a:pt x="133945" y="116086"/>
                </a:cubicBezTo>
                <a:lnTo>
                  <a:pt x="22324" y="116086"/>
                </a:lnTo>
                <a:cubicBezTo>
                  <a:pt x="19869" y="116086"/>
                  <a:pt x="17859" y="114077"/>
                  <a:pt x="17859" y="111621"/>
                </a:cubicBezTo>
                <a:lnTo>
                  <a:pt x="17859" y="17859"/>
                </a:lnTo>
                <a:close/>
                <a:moveTo>
                  <a:pt x="131322" y="42025"/>
                </a:moveTo>
                <a:cubicBezTo>
                  <a:pt x="134810" y="38537"/>
                  <a:pt x="134810" y="32872"/>
                  <a:pt x="131322" y="29384"/>
                </a:cubicBezTo>
                <a:cubicBezTo>
                  <a:pt x="127834" y="25896"/>
                  <a:pt x="122169" y="25896"/>
                  <a:pt x="118681" y="29384"/>
                </a:cubicBezTo>
                <a:lnTo>
                  <a:pt x="89297" y="58796"/>
                </a:lnTo>
                <a:lnTo>
                  <a:pt x="73279" y="42807"/>
                </a:lnTo>
                <a:cubicBezTo>
                  <a:pt x="69791" y="39319"/>
                  <a:pt x="64126" y="39319"/>
                  <a:pt x="60638" y="42807"/>
                </a:cubicBezTo>
                <a:lnTo>
                  <a:pt x="33849" y="69596"/>
                </a:lnTo>
                <a:cubicBezTo>
                  <a:pt x="30361" y="73084"/>
                  <a:pt x="30361" y="78749"/>
                  <a:pt x="33849" y="82237"/>
                </a:cubicBezTo>
                <a:cubicBezTo>
                  <a:pt x="37337" y="85725"/>
                  <a:pt x="43002" y="85725"/>
                  <a:pt x="46490" y="82237"/>
                </a:cubicBezTo>
                <a:lnTo>
                  <a:pt x="66973" y="61754"/>
                </a:lnTo>
                <a:lnTo>
                  <a:pt x="82990" y="77772"/>
                </a:lnTo>
                <a:cubicBezTo>
                  <a:pt x="86478" y="81260"/>
                  <a:pt x="92143" y="81260"/>
                  <a:pt x="95631" y="77772"/>
                </a:cubicBezTo>
                <a:lnTo>
                  <a:pt x="131350" y="4205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4" name="Text 62"/>
          <p:cNvSpPr/>
          <p:nvPr/>
        </p:nvSpPr>
        <p:spPr>
          <a:xfrm>
            <a:off x="595313" y="5643563"/>
            <a:ext cx="1125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Improvements from Key Features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12750" y="5929313"/>
            <a:ext cx="2770188" cy="730250"/>
          </a:xfrm>
          <a:custGeom>
            <a:avLst/>
            <a:gdLst/>
            <a:ahLst/>
            <a:cxnLst/>
            <a:rect l="l" t="t" r="r" b="b"/>
            <a:pathLst>
              <a:path w="2770188" h="730250">
                <a:moveTo>
                  <a:pt x="63503" y="0"/>
                </a:moveTo>
                <a:lnTo>
                  <a:pt x="2706685" y="0"/>
                </a:lnTo>
                <a:cubicBezTo>
                  <a:pt x="2741756" y="0"/>
                  <a:pt x="2770188" y="28431"/>
                  <a:pt x="2770188" y="63503"/>
                </a:cubicBezTo>
                <a:lnTo>
                  <a:pt x="2770188" y="666747"/>
                </a:lnTo>
                <a:cubicBezTo>
                  <a:pt x="2770188" y="701819"/>
                  <a:pt x="2741756" y="730250"/>
                  <a:pt x="270668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6" name="Text 64"/>
          <p:cNvSpPr/>
          <p:nvPr/>
        </p:nvSpPr>
        <p:spPr>
          <a:xfrm>
            <a:off x="452438" y="5992813"/>
            <a:ext cx="2690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kern="0" spc="38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 Tracking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428625" y="6151462"/>
            <a:ext cx="2738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+35%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48469" y="6437115"/>
            <a:ext cx="269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improvement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278188" y="5929313"/>
            <a:ext cx="2770188" cy="730250"/>
          </a:xfrm>
          <a:custGeom>
            <a:avLst/>
            <a:gdLst/>
            <a:ahLst/>
            <a:cxnLst/>
            <a:rect l="l" t="t" r="r" b="b"/>
            <a:pathLst>
              <a:path w="2770188" h="730250">
                <a:moveTo>
                  <a:pt x="63503" y="0"/>
                </a:moveTo>
                <a:lnTo>
                  <a:pt x="2706685" y="0"/>
                </a:lnTo>
                <a:cubicBezTo>
                  <a:pt x="2741756" y="0"/>
                  <a:pt x="2770188" y="28431"/>
                  <a:pt x="2770188" y="63503"/>
                </a:cubicBezTo>
                <a:lnTo>
                  <a:pt x="2770188" y="666747"/>
                </a:lnTo>
                <a:cubicBezTo>
                  <a:pt x="2770188" y="701819"/>
                  <a:pt x="2741756" y="730250"/>
                  <a:pt x="270668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0" name="Text 68"/>
          <p:cNvSpPr/>
          <p:nvPr/>
        </p:nvSpPr>
        <p:spPr>
          <a:xfrm>
            <a:off x="3317875" y="5992813"/>
            <a:ext cx="2690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kern="0" spc="38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 Scoring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294063" y="6151462"/>
            <a:ext cx="2738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+28%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3313906" y="6437115"/>
            <a:ext cx="269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boost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143625" y="5929313"/>
            <a:ext cx="2770188" cy="730250"/>
          </a:xfrm>
          <a:custGeom>
            <a:avLst/>
            <a:gdLst/>
            <a:ahLst/>
            <a:cxnLst/>
            <a:rect l="l" t="t" r="r" b="b"/>
            <a:pathLst>
              <a:path w="2770188" h="730250">
                <a:moveTo>
                  <a:pt x="63503" y="0"/>
                </a:moveTo>
                <a:lnTo>
                  <a:pt x="2706685" y="0"/>
                </a:lnTo>
                <a:cubicBezTo>
                  <a:pt x="2741756" y="0"/>
                  <a:pt x="2770188" y="28431"/>
                  <a:pt x="2770188" y="63503"/>
                </a:cubicBezTo>
                <a:lnTo>
                  <a:pt x="2770188" y="666747"/>
                </a:lnTo>
                <a:cubicBezTo>
                  <a:pt x="2770188" y="701819"/>
                  <a:pt x="2741756" y="730250"/>
                  <a:pt x="270668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4" name="Text 72"/>
          <p:cNvSpPr/>
          <p:nvPr/>
        </p:nvSpPr>
        <p:spPr>
          <a:xfrm>
            <a:off x="6183313" y="5992813"/>
            <a:ext cx="2690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kern="0" spc="38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Staged Verification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159500" y="6151462"/>
            <a:ext cx="2738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-30%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179344" y="6437115"/>
            <a:ext cx="269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009063" y="5929313"/>
            <a:ext cx="2770188" cy="730250"/>
          </a:xfrm>
          <a:custGeom>
            <a:avLst/>
            <a:gdLst/>
            <a:ahLst/>
            <a:cxnLst/>
            <a:rect l="l" t="t" r="r" b="b"/>
            <a:pathLst>
              <a:path w="2770188" h="730250">
                <a:moveTo>
                  <a:pt x="63503" y="0"/>
                </a:moveTo>
                <a:lnTo>
                  <a:pt x="2706685" y="0"/>
                </a:lnTo>
                <a:cubicBezTo>
                  <a:pt x="2741756" y="0"/>
                  <a:pt x="2770188" y="28431"/>
                  <a:pt x="2770188" y="63503"/>
                </a:cubicBezTo>
                <a:lnTo>
                  <a:pt x="2770188" y="666747"/>
                </a:lnTo>
                <a:cubicBezTo>
                  <a:pt x="2770188" y="701819"/>
                  <a:pt x="2741756" y="730250"/>
                  <a:pt x="270668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8" name="Text 76"/>
          <p:cNvSpPr/>
          <p:nvPr/>
        </p:nvSpPr>
        <p:spPr>
          <a:xfrm>
            <a:off x="9048750" y="5992813"/>
            <a:ext cx="2690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kern="0" spc="38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 Filtering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9024938" y="6151462"/>
            <a:ext cx="2738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+42%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044781" y="6437115"/>
            <a:ext cx="269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Relevance gain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2327" y="322327"/>
            <a:ext cx="48349" cy="322327"/>
          </a:xfrm>
          <a:custGeom>
            <a:avLst/>
            <a:gdLst/>
            <a:ahLst/>
            <a:cxnLst/>
            <a:rect l="l" t="t" r="r" b="b"/>
            <a:pathLst>
              <a:path w="48349" h="322327">
                <a:moveTo>
                  <a:pt x="24174" y="0"/>
                </a:moveTo>
                <a:lnTo>
                  <a:pt x="24174" y="0"/>
                </a:lnTo>
                <a:cubicBezTo>
                  <a:pt x="37517" y="0"/>
                  <a:pt x="48349" y="10832"/>
                  <a:pt x="48349" y="24174"/>
                </a:cubicBezTo>
                <a:lnTo>
                  <a:pt x="48349" y="298152"/>
                </a:lnTo>
                <a:cubicBezTo>
                  <a:pt x="48349" y="311503"/>
                  <a:pt x="37526" y="322327"/>
                  <a:pt x="24174" y="322327"/>
                </a:cubicBezTo>
                <a:lnTo>
                  <a:pt x="24174" y="322327"/>
                </a:lnTo>
                <a:cubicBezTo>
                  <a:pt x="10823" y="322327"/>
                  <a:pt x="0" y="311503"/>
                  <a:pt x="0" y="298152"/>
                </a:cubicBezTo>
                <a:lnTo>
                  <a:pt x="0" y="24174"/>
                </a:lnTo>
                <a:cubicBezTo>
                  <a:pt x="0" y="10832"/>
                  <a:pt x="10832" y="0"/>
                  <a:pt x="24174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" name="Text 1"/>
          <p:cNvSpPr/>
          <p:nvPr/>
        </p:nvSpPr>
        <p:spPr>
          <a:xfrm>
            <a:off x="467373" y="338443"/>
            <a:ext cx="3932383" cy="29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0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Further Enhancement Opportunities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8443" y="709118"/>
            <a:ext cx="5705179" cy="2264344"/>
          </a:xfrm>
          <a:custGeom>
            <a:avLst/>
            <a:gdLst/>
            <a:ahLst/>
            <a:cxnLst/>
            <a:rect l="l" t="t" r="r" b="b"/>
            <a:pathLst>
              <a:path w="5705179" h="2264344">
                <a:moveTo>
                  <a:pt x="0" y="0"/>
                </a:moveTo>
                <a:lnTo>
                  <a:pt x="5640713" y="0"/>
                </a:lnTo>
                <a:cubicBezTo>
                  <a:pt x="5676317" y="0"/>
                  <a:pt x="5705179" y="28862"/>
                  <a:pt x="5705179" y="64466"/>
                </a:cubicBezTo>
                <a:lnTo>
                  <a:pt x="5705179" y="2199878"/>
                </a:lnTo>
                <a:cubicBezTo>
                  <a:pt x="5705179" y="2235481"/>
                  <a:pt x="5676317" y="2264344"/>
                  <a:pt x="5640713" y="2264344"/>
                </a:cubicBezTo>
                <a:lnTo>
                  <a:pt x="0" y="2264344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5" name="Shape 3"/>
          <p:cNvSpPr/>
          <p:nvPr/>
        </p:nvSpPr>
        <p:spPr>
          <a:xfrm>
            <a:off x="338443" y="709118"/>
            <a:ext cx="32233" cy="2264344"/>
          </a:xfrm>
          <a:custGeom>
            <a:avLst/>
            <a:gdLst/>
            <a:ahLst/>
            <a:cxnLst/>
            <a:rect l="l" t="t" r="r" b="b"/>
            <a:pathLst>
              <a:path w="32233" h="2264344">
                <a:moveTo>
                  <a:pt x="0" y="0"/>
                </a:moveTo>
                <a:lnTo>
                  <a:pt x="32233" y="0"/>
                </a:lnTo>
                <a:lnTo>
                  <a:pt x="32233" y="2264344"/>
                </a:lnTo>
                <a:lnTo>
                  <a:pt x="0" y="2264344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" name="Shape 4"/>
          <p:cNvSpPr/>
          <p:nvPr/>
        </p:nvSpPr>
        <p:spPr>
          <a:xfrm>
            <a:off x="451257" y="805816"/>
            <a:ext cx="322327" cy="322327"/>
          </a:xfrm>
          <a:custGeom>
            <a:avLst/>
            <a:gdLst/>
            <a:ahLst/>
            <a:cxnLst/>
            <a:rect l="l" t="t" r="r" b="b"/>
            <a:pathLst>
              <a:path w="322327" h="322327">
                <a:moveTo>
                  <a:pt x="161163" y="0"/>
                </a:moveTo>
                <a:lnTo>
                  <a:pt x="161163" y="0"/>
                </a:lnTo>
                <a:cubicBezTo>
                  <a:pt x="250171" y="0"/>
                  <a:pt x="322327" y="72155"/>
                  <a:pt x="322327" y="161163"/>
                </a:cubicBezTo>
                <a:lnTo>
                  <a:pt x="322327" y="161163"/>
                </a:lnTo>
                <a:cubicBezTo>
                  <a:pt x="322327" y="250171"/>
                  <a:pt x="250171" y="322327"/>
                  <a:pt x="161163" y="322327"/>
                </a:cubicBezTo>
                <a:lnTo>
                  <a:pt x="161163" y="322327"/>
                </a:lnTo>
                <a:cubicBezTo>
                  <a:pt x="72155" y="322327"/>
                  <a:pt x="0" y="250171"/>
                  <a:pt x="0" y="161163"/>
                </a:cubicBezTo>
                <a:lnTo>
                  <a:pt x="0" y="161163"/>
                </a:lnTo>
                <a:cubicBezTo>
                  <a:pt x="0" y="72155"/>
                  <a:pt x="72155" y="0"/>
                  <a:pt x="161163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781" y="894456"/>
            <a:ext cx="181309" cy="145047"/>
          </a:xfrm>
          <a:custGeom>
            <a:avLst/>
            <a:gdLst/>
            <a:ahLst/>
            <a:cxnLst/>
            <a:rect l="l" t="t" r="r" b="b"/>
            <a:pathLst>
              <a:path w="181309" h="145047">
                <a:moveTo>
                  <a:pt x="90654" y="4533"/>
                </a:moveTo>
                <a:cubicBezTo>
                  <a:pt x="106915" y="4533"/>
                  <a:pt x="120117" y="17734"/>
                  <a:pt x="120117" y="33995"/>
                </a:cubicBezTo>
                <a:cubicBezTo>
                  <a:pt x="120117" y="50256"/>
                  <a:pt x="106915" y="63458"/>
                  <a:pt x="90654" y="63458"/>
                </a:cubicBezTo>
                <a:cubicBezTo>
                  <a:pt x="74393" y="63458"/>
                  <a:pt x="61192" y="50256"/>
                  <a:pt x="61192" y="33995"/>
                </a:cubicBezTo>
                <a:cubicBezTo>
                  <a:pt x="61192" y="17734"/>
                  <a:pt x="74393" y="4533"/>
                  <a:pt x="90654" y="4533"/>
                </a:cubicBezTo>
                <a:close/>
                <a:moveTo>
                  <a:pt x="27196" y="24930"/>
                </a:moveTo>
                <a:cubicBezTo>
                  <a:pt x="38454" y="24930"/>
                  <a:pt x="47594" y="34070"/>
                  <a:pt x="47594" y="45327"/>
                </a:cubicBezTo>
                <a:cubicBezTo>
                  <a:pt x="47594" y="56585"/>
                  <a:pt x="38454" y="65724"/>
                  <a:pt x="27196" y="65724"/>
                </a:cubicBezTo>
                <a:cubicBezTo>
                  <a:pt x="15939" y="65724"/>
                  <a:pt x="6799" y="56585"/>
                  <a:pt x="6799" y="45327"/>
                </a:cubicBezTo>
                <a:cubicBezTo>
                  <a:pt x="6799" y="34070"/>
                  <a:pt x="15939" y="24930"/>
                  <a:pt x="27196" y="24930"/>
                </a:cubicBezTo>
                <a:close/>
                <a:moveTo>
                  <a:pt x="0" y="117851"/>
                </a:moveTo>
                <a:cubicBezTo>
                  <a:pt x="0" y="97822"/>
                  <a:pt x="16233" y="81589"/>
                  <a:pt x="36262" y="81589"/>
                </a:cubicBezTo>
                <a:cubicBezTo>
                  <a:pt x="39888" y="81589"/>
                  <a:pt x="43401" y="82127"/>
                  <a:pt x="46715" y="83119"/>
                </a:cubicBezTo>
                <a:cubicBezTo>
                  <a:pt x="37395" y="93544"/>
                  <a:pt x="31729" y="107312"/>
                  <a:pt x="31729" y="122383"/>
                </a:cubicBezTo>
                <a:lnTo>
                  <a:pt x="31729" y="126916"/>
                </a:lnTo>
                <a:cubicBezTo>
                  <a:pt x="31729" y="130146"/>
                  <a:pt x="32409" y="133205"/>
                  <a:pt x="33627" y="135981"/>
                </a:cubicBezTo>
                <a:lnTo>
                  <a:pt x="9065" y="135981"/>
                </a:lnTo>
                <a:cubicBezTo>
                  <a:pt x="4051" y="135981"/>
                  <a:pt x="0" y="131930"/>
                  <a:pt x="0" y="126916"/>
                </a:cubicBezTo>
                <a:lnTo>
                  <a:pt x="0" y="117851"/>
                </a:lnTo>
                <a:close/>
                <a:moveTo>
                  <a:pt x="147682" y="135981"/>
                </a:moveTo>
                <a:cubicBezTo>
                  <a:pt x="148900" y="133205"/>
                  <a:pt x="149580" y="130146"/>
                  <a:pt x="149580" y="126916"/>
                </a:cubicBezTo>
                <a:lnTo>
                  <a:pt x="149580" y="122383"/>
                </a:lnTo>
                <a:cubicBezTo>
                  <a:pt x="149580" y="107312"/>
                  <a:pt x="143914" y="93544"/>
                  <a:pt x="134593" y="83119"/>
                </a:cubicBezTo>
                <a:cubicBezTo>
                  <a:pt x="137908" y="82127"/>
                  <a:pt x="141421" y="81589"/>
                  <a:pt x="145047" y="81589"/>
                </a:cubicBezTo>
                <a:cubicBezTo>
                  <a:pt x="165076" y="81589"/>
                  <a:pt x="181309" y="97822"/>
                  <a:pt x="181309" y="117851"/>
                </a:cubicBezTo>
                <a:lnTo>
                  <a:pt x="181309" y="126916"/>
                </a:lnTo>
                <a:cubicBezTo>
                  <a:pt x="181309" y="131930"/>
                  <a:pt x="177258" y="135981"/>
                  <a:pt x="172243" y="135981"/>
                </a:cubicBezTo>
                <a:lnTo>
                  <a:pt x="147682" y="135981"/>
                </a:lnTo>
                <a:close/>
                <a:moveTo>
                  <a:pt x="133715" y="45327"/>
                </a:moveTo>
                <a:cubicBezTo>
                  <a:pt x="133715" y="34070"/>
                  <a:pt x="142855" y="24930"/>
                  <a:pt x="154112" y="24930"/>
                </a:cubicBezTo>
                <a:cubicBezTo>
                  <a:pt x="165370" y="24930"/>
                  <a:pt x="174510" y="34070"/>
                  <a:pt x="174510" y="45327"/>
                </a:cubicBezTo>
                <a:cubicBezTo>
                  <a:pt x="174510" y="56585"/>
                  <a:pt x="165370" y="65724"/>
                  <a:pt x="154112" y="65724"/>
                </a:cubicBezTo>
                <a:cubicBezTo>
                  <a:pt x="142855" y="65724"/>
                  <a:pt x="133715" y="56585"/>
                  <a:pt x="133715" y="45327"/>
                </a:cubicBezTo>
                <a:close/>
                <a:moveTo>
                  <a:pt x="45327" y="122383"/>
                </a:moveTo>
                <a:cubicBezTo>
                  <a:pt x="45327" y="97340"/>
                  <a:pt x="65611" y="77056"/>
                  <a:pt x="90654" y="77056"/>
                </a:cubicBezTo>
                <a:cubicBezTo>
                  <a:pt x="115698" y="77056"/>
                  <a:pt x="135981" y="97340"/>
                  <a:pt x="135981" y="122383"/>
                </a:cubicBezTo>
                <a:lnTo>
                  <a:pt x="135981" y="126916"/>
                </a:lnTo>
                <a:cubicBezTo>
                  <a:pt x="135981" y="131930"/>
                  <a:pt x="131930" y="135981"/>
                  <a:pt x="126916" y="135981"/>
                </a:cubicBezTo>
                <a:lnTo>
                  <a:pt x="54393" y="135981"/>
                </a:lnTo>
                <a:cubicBezTo>
                  <a:pt x="49378" y="135981"/>
                  <a:pt x="45327" y="131930"/>
                  <a:pt x="45327" y="126916"/>
                </a:cubicBezTo>
                <a:lnTo>
                  <a:pt x="45327" y="12238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" name="Text 6"/>
          <p:cNvSpPr/>
          <p:nvPr/>
        </p:nvSpPr>
        <p:spPr>
          <a:xfrm>
            <a:off x="870282" y="854165"/>
            <a:ext cx="2095122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Multi-Agent Voting Systems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1257" y="1192608"/>
            <a:ext cx="5552074" cy="37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8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collaborative reasoning architectures</a:t>
            </a:r>
            <a:r>
              <a:rPr lang="en-US" sz="88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like MALT (Generator-Verifier-Refiner) with majority voting to improve accuracy through agent consensus.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1257" y="1623720"/>
            <a:ext cx="5495667" cy="676886"/>
          </a:xfrm>
          <a:custGeom>
            <a:avLst/>
            <a:gdLst/>
            <a:ahLst/>
            <a:cxnLst/>
            <a:rect l="l" t="t" r="r" b="b"/>
            <a:pathLst>
              <a:path w="5495667" h="676886">
                <a:moveTo>
                  <a:pt x="64467" y="0"/>
                </a:moveTo>
                <a:lnTo>
                  <a:pt x="5431200" y="0"/>
                </a:lnTo>
                <a:cubicBezTo>
                  <a:pt x="5466804" y="0"/>
                  <a:pt x="5495667" y="28863"/>
                  <a:pt x="5495667" y="64467"/>
                </a:cubicBezTo>
                <a:lnTo>
                  <a:pt x="5495667" y="612419"/>
                </a:lnTo>
                <a:cubicBezTo>
                  <a:pt x="5495667" y="648023"/>
                  <a:pt x="5466804" y="676886"/>
                  <a:pt x="5431200" y="676886"/>
                </a:cubicBezTo>
                <a:lnTo>
                  <a:pt x="64467" y="676886"/>
                </a:lnTo>
                <a:cubicBezTo>
                  <a:pt x="28863" y="676886"/>
                  <a:pt x="0" y="648023"/>
                  <a:pt x="0" y="612419"/>
                </a:cubicBezTo>
                <a:lnTo>
                  <a:pt x="0" y="64467"/>
                </a:lnTo>
                <a:cubicBezTo>
                  <a:pt x="0" y="28887"/>
                  <a:pt x="28887" y="0"/>
                  <a:pt x="6446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9"/>
          <p:cNvSpPr/>
          <p:nvPr/>
        </p:nvSpPr>
        <p:spPr>
          <a:xfrm>
            <a:off x="515722" y="1688185"/>
            <a:ext cx="5415085" cy="128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1" b="1" kern="0" spc="38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MALT Performance (MATH Dataset)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7519" y="1849246"/>
            <a:ext cx="483490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32" y="2010409"/>
            <a:ext cx="507664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69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49.5%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79176" y="1978177"/>
            <a:ext cx="128931" cy="128931"/>
          </a:xfrm>
          <a:custGeom>
            <a:avLst/>
            <a:gdLst/>
            <a:ahLst/>
            <a:cxnLst/>
            <a:rect l="l" t="t" r="r" b="b"/>
            <a:pathLst>
              <a:path w="128931" h="128931">
                <a:moveTo>
                  <a:pt x="126564" y="70156"/>
                </a:moveTo>
                <a:cubicBezTo>
                  <a:pt x="129711" y="67009"/>
                  <a:pt x="129711" y="61897"/>
                  <a:pt x="126564" y="58749"/>
                </a:cubicBezTo>
                <a:lnTo>
                  <a:pt x="86273" y="18458"/>
                </a:lnTo>
                <a:cubicBezTo>
                  <a:pt x="83125" y="15311"/>
                  <a:pt x="78013" y="15311"/>
                  <a:pt x="74865" y="18458"/>
                </a:cubicBezTo>
                <a:cubicBezTo>
                  <a:pt x="71718" y="21606"/>
                  <a:pt x="71718" y="26718"/>
                  <a:pt x="74865" y="29866"/>
                </a:cubicBezTo>
                <a:lnTo>
                  <a:pt x="101407" y="56407"/>
                </a:lnTo>
                <a:lnTo>
                  <a:pt x="8058" y="56407"/>
                </a:lnTo>
                <a:cubicBezTo>
                  <a:pt x="3601" y="56407"/>
                  <a:pt x="0" y="60008"/>
                  <a:pt x="0" y="64465"/>
                </a:cubicBezTo>
                <a:cubicBezTo>
                  <a:pt x="0" y="68922"/>
                  <a:pt x="3601" y="72523"/>
                  <a:pt x="8058" y="72523"/>
                </a:cubicBezTo>
                <a:lnTo>
                  <a:pt x="101407" y="72523"/>
                </a:lnTo>
                <a:lnTo>
                  <a:pt x="74865" y="99065"/>
                </a:lnTo>
                <a:cubicBezTo>
                  <a:pt x="71718" y="102213"/>
                  <a:pt x="71718" y="107325"/>
                  <a:pt x="74865" y="110472"/>
                </a:cubicBezTo>
                <a:cubicBezTo>
                  <a:pt x="78013" y="113620"/>
                  <a:pt x="83125" y="113620"/>
                  <a:pt x="86273" y="110472"/>
                </a:cubicBezTo>
                <a:lnTo>
                  <a:pt x="126564" y="70182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5" name="Text 13"/>
          <p:cNvSpPr/>
          <p:nvPr/>
        </p:nvSpPr>
        <p:spPr>
          <a:xfrm>
            <a:off x="2116074" y="1849246"/>
            <a:ext cx="547955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03986" y="2010409"/>
            <a:ext cx="572130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69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53.5%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69779" y="1978177"/>
            <a:ext cx="128931" cy="128931"/>
          </a:xfrm>
          <a:custGeom>
            <a:avLst/>
            <a:gdLst/>
            <a:ahLst/>
            <a:cxnLst/>
            <a:rect l="l" t="t" r="r" b="b"/>
            <a:pathLst>
              <a:path w="128931" h="128931">
                <a:moveTo>
                  <a:pt x="126564" y="70156"/>
                </a:moveTo>
                <a:cubicBezTo>
                  <a:pt x="129711" y="67009"/>
                  <a:pt x="129711" y="61897"/>
                  <a:pt x="126564" y="58749"/>
                </a:cubicBezTo>
                <a:lnTo>
                  <a:pt x="86273" y="18458"/>
                </a:lnTo>
                <a:cubicBezTo>
                  <a:pt x="83125" y="15311"/>
                  <a:pt x="78013" y="15311"/>
                  <a:pt x="74865" y="18458"/>
                </a:cubicBezTo>
                <a:cubicBezTo>
                  <a:pt x="71718" y="21606"/>
                  <a:pt x="71718" y="26718"/>
                  <a:pt x="74865" y="29866"/>
                </a:cubicBezTo>
                <a:lnTo>
                  <a:pt x="101407" y="56407"/>
                </a:lnTo>
                <a:lnTo>
                  <a:pt x="8058" y="56407"/>
                </a:lnTo>
                <a:cubicBezTo>
                  <a:pt x="3601" y="56407"/>
                  <a:pt x="0" y="60008"/>
                  <a:pt x="0" y="64465"/>
                </a:cubicBezTo>
                <a:cubicBezTo>
                  <a:pt x="0" y="68922"/>
                  <a:pt x="3601" y="72523"/>
                  <a:pt x="8058" y="72523"/>
                </a:cubicBezTo>
                <a:lnTo>
                  <a:pt x="101407" y="72523"/>
                </a:lnTo>
                <a:lnTo>
                  <a:pt x="74865" y="99065"/>
                </a:lnTo>
                <a:cubicBezTo>
                  <a:pt x="71718" y="102213"/>
                  <a:pt x="71718" y="107325"/>
                  <a:pt x="74865" y="110472"/>
                </a:cubicBezTo>
                <a:cubicBezTo>
                  <a:pt x="78013" y="113620"/>
                  <a:pt x="83125" y="113620"/>
                  <a:pt x="86273" y="110472"/>
                </a:cubicBezTo>
                <a:lnTo>
                  <a:pt x="126564" y="70182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8" name="Text 16"/>
          <p:cNvSpPr/>
          <p:nvPr/>
        </p:nvSpPr>
        <p:spPr>
          <a:xfrm>
            <a:off x="3806676" y="1849246"/>
            <a:ext cx="49154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+Verifier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94589" y="2010409"/>
            <a:ext cx="515722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69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55.8%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04176" y="1978177"/>
            <a:ext cx="128931" cy="128931"/>
          </a:xfrm>
          <a:custGeom>
            <a:avLst/>
            <a:gdLst/>
            <a:ahLst/>
            <a:cxnLst/>
            <a:rect l="l" t="t" r="r" b="b"/>
            <a:pathLst>
              <a:path w="128931" h="128931">
                <a:moveTo>
                  <a:pt x="126564" y="70156"/>
                </a:moveTo>
                <a:cubicBezTo>
                  <a:pt x="129711" y="67009"/>
                  <a:pt x="129711" y="61897"/>
                  <a:pt x="126564" y="58749"/>
                </a:cubicBezTo>
                <a:lnTo>
                  <a:pt x="86273" y="18458"/>
                </a:lnTo>
                <a:cubicBezTo>
                  <a:pt x="83125" y="15311"/>
                  <a:pt x="78013" y="15311"/>
                  <a:pt x="74865" y="18458"/>
                </a:cubicBezTo>
                <a:cubicBezTo>
                  <a:pt x="71718" y="21606"/>
                  <a:pt x="71718" y="26718"/>
                  <a:pt x="74865" y="29866"/>
                </a:cubicBezTo>
                <a:lnTo>
                  <a:pt x="101407" y="56407"/>
                </a:lnTo>
                <a:lnTo>
                  <a:pt x="8058" y="56407"/>
                </a:lnTo>
                <a:cubicBezTo>
                  <a:pt x="3601" y="56407"/>
                  <a:pt x="0" y="60008"/>
                  <a:pt x="0" y="64465"/>
                </a:cubicBezTo>
                <a:cubicBezTo>
                  <a:pt x="0" y="68922"/>
                  <a:pt x="3601" y="72523"/>
                  <a:pt x="8058" y="72523"/>
                </a:cubicBezTo>
                <a:lnTo>
                  <a:pt x="101407" y="72523"/>
                </a:lnTo>
                <a:lnTo>
                  <a:pt x="74865" y="99065"/>
                </a:lnTo>
                <a:cubicBezTo>
                  <a:pt x="71718" y="102213"/>
                  <a:pt x="71718" y="107325"/>
                  <a:pt x="74865" y="110472"/>
                </a:cubicBezTo>
                <a:cubicBezTo>
                  <a:pt x="78013" y="113620"/>
                  <a:pt x="83125" y="113620"/>
                  <a:pt x="86273" y="110472"/>
                </a:cubicBezTo>
                <a:lnTo>
                  <a:pt x="126564" y="70182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1" name="Text 19"/>
          <p:cNvSpPr/>
          <p:nvPr/>
        </p:nvSpPr>
        <p:spPr>
          <a:xfrm>
            <a:off x="5441073" y="1849246"/>
            <a:ext cx="47543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+Refiner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28986" y="2010409"/>
            <a:ext cx="499606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69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57.3%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1257" y="2364968"/>
            <a:ext cx="5552074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88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Sequential verification and refinement with majority voting yields strong self-improvement.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59962" y="709118"/>
            <a:ext cx="5705179" cy="2264344"/>
          </a:xfrm>
          <a:custGeom>
            <a:avLst/>
            <a:gdLst/>
            <a:ahLst/>
            <a:cxnLst/>
            <a:rect l="l" t="t" r="r" b="b"/>
            <a:pathLst>
              <a:path w="5705179" h="2264344">
                <a:moveTo>
                  <a:pt x="0" y="0"/>
                </a:moveTo>
                <a:lnTo>
                  <a:pt x="5640713" y="0"/>
                </a:lnTo>
                <a:cubicBezTo>
                  <a:pt x="5676317" y="0"/>
                  <a:pt x="5705179" y="28862"/>
                  <a:pt x="5705179" y="64466"/>
                </a:cubicBezTo>
                <a:lnTo>
                  <a:pt x="5705179" y="2199878"/>
                </a:lnTo>
                <a:cubicBezTo>
                  <a:pt x="5705179" y="2235481"/>
                  <a:pt x="5676317" y="2264344"/>
                  <a:pt x="5640713" y="2264344"/>
                </a:cubicBezTo>
                <a:lnTo>
                  <a:pt x="0" y="2264344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159962" y="709118"/>
            <a:ext cx="32233" cy="2264344"/>
          </a:xfrm>
          <a:custGeom>
            <a:avLst/>
            <a:gdLst/>
            <a:ahLst/>
            <a:cxnLst/>
            <a:rect l="l" t="t" r="r" b="b"/>
            <a:pathLst>
              <a:path w="32233" h="2264344">
                <a:moveTo>
                  <a:pt x="0" y="0"/>
                </a:moveTo>
                <a:lnTo>
                  <a:pt x="32233" y="0"/>
                </a:lnTo>
                <a:lnTo>
                  <a:pt x="32233" y="2264344"/>
                </a:lnTo>
                <a:lnTo>
                  <a:pt x="0" y="2264344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6" name="Shape 24"/>
          <p:cNvSpPr/>
          <p:nvPr/>
        </p:nvSpPr>
        <p:spPr>
          <a:xfrm>
            <a:off x="6272776" y="805816"/>
            <a:ext cx="322327" cy="322327"/>
          </a:xfrm>
          <a:custGeom>
            <a:avLst/>
            <a:gdLst/>
            <a:ahLst/>
            <a:cxnLst/>
            <a:rect l="l" t="t" r="r" b="b"/>
            <a:pathLst>
              <a:path w="322327" h="322327">
                <a:moveTo>
                  <a:pt x="161163" y="0"/>
                </a:moveTo>
                <a:lnTo>
                  <a:pt x="161163" y="0"/>
                </a:lnTo>
                <a:cubicBezTo>
                  <a:pt x="250171" y="0"/>
                  <a:pt x="322327" y="72155"/>
                  <a:pt x="322327" y="161163"/>
                </a:cubicBezTo>
                <a:lnTo>
                  <a:pt x="322327" y="161163"/>
                </a:lnTo>
                <a:cubicBezTo>
                  <a:pt x="322327" y="250171"/>
                  <a:pt x="250171" y="322327"/>
                  <a:pt x="161163" y="322327"/>
                </a:cubicBezTo>
                <a:lnTo>
                  <a:pt x="161163" y="322327"/>
                </a:lnTo>
                <a:cubicBezTo>
                  <a:pt x="72155" y="322327"/>
                  <a:pt x="0" y="250171"/>
                  <a:pt x="0" y="161163"/>
                </a:cubicBezTo>
                <a:lnTo>
                  <a:pt x="0" y="161163"/>
                </a:lnTo>
                <a:cubicBezTo>
                  <a:pt x="0" y="72155"/>
                  <a:pt x="72155" y="0"/>
                  <a:pt x="161163" y="0"/>
                </a:cubicBezTo>
                <a:close/>
              </a:path>
            </a:pathLst>
          </a:custGeom>
          <a:solidFill>
            <a:srgbClr val="C5A57A">
              <a:alpha val="3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363430" y="894456"/>
            <a:ext cx="145047" cy="145047"/>
          </a:xfrm>
          <a:custGeom>
            <a:avLst/>
            <a:gdLst/>
            <a:ahLst/>
            <a:cxnLst/>
            <a:rect l="l" t="t" r="r" b="b"/>
            <a:pathLst>
              <a:path w="145047" h="145047">
                <a:moveTo>
                  <a:pt x="72523" y="0"/>
                </a:moveTo>
                <a:cubicBezTo>
                  <a:pt x="112550" y="0"/>
                  <a:pt x="145047" y="32497"/>
                  <a:pt x="145047" y="72523"/>
                </a:cubicBezTo>
                <a:cubicBezTo>
                  <a:pt x="145047" y="112550"/>
                  <a:pt x="112550" y="145047"/>
                  <a:pt x="72523" y="145047"/>
                </a:cubicBezTo>
                <a:cubicBezTo>
                  <a:pt x="32497" y="145047"/>
                  <a:pt x="0" y="112550"/>
                  <a:pt x="0" y="72523"/>
                </a:cubicBezTo>
                <a:cubicBezTo>
                  <a:pt x="0" y="32497"/>
                  <a:pt x="32497" y="0"/>
                  <a:pt x="72523" y="0"/>
                </a:cubicBezTo>
                <a:close/>
                <a:moveTo>
                  <a:pt x="65724" y="33995"/>
                </a:moveTo>
                <a:lnTo>
                  <a:pt x="65724" y="72523"/>
                </a:lnTo>
                <a:cubicBezTo>
                  <a:pt x="65724" y="74790"/>
                  <a:pt x="66858" y="76915"/>
                  <a:pt x="68756" y="78189"/>
                </a:cubicBezTo>
                <a:lnTo>
                  <a:pt x="95952" y="96320"/>
                </a:lnTo>
                <a:cubicBezTo>
                  <a:pt x="99068" y="98417"/>
                  <a:pt x="103289" y="97567"/>
                  <a:pt x="105386" y="94422"/>
                </a:cubicBezTo>
                <a:cubicBezTo>
                  <a:pt x="107482" y="91278"/>
                  <a:pt x="106632" y="87085"/>
                  <a:pt x="103488" y="84988"/>
                </a:cubicBezTo>
                <a:lnTo>
                  <a:pt x="79323" y="68897"/>
                </a:lnTo>
                <a:lnTo>
                  <a:pt x="79323" y="33995"/>
                </a:lnTo>
                <a:cubicBezTo>
                  <a:pt x="79323" y="30228"/>
                  <a:pt x="76291" y="27196"/>
                  <a:pt x="72523" y="27196"/>
                </a:cubicBezTo>
                <a:cubicBezTo>
                  <a:pt x="68756" y="27196"/>
                  <a:pt x="65724" y="30228"/>
                  <a:pt x="65724" y="33995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8" name="Text 26"/>
          <p:cNvSpPr/>
          <p:nvPr/>
        </p:nvSpPr>
        <p:spPr>
          <a:xfrm>
            <a:off x="6691800" y="854165"/>
            <a:ext cx="2763950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Graph Indexing &amp; Validation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72776" y="1192608"/>
            <a:ext cx="5552074" cy="37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8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temporal graph neural networks</a:t>
            </a:r>
            <a:r>
              <a:rPr lang="en-US" sz="88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causal attention for modeling event-sentiment dynamics and temporal relationships.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72776" y="1623720"/>
            <a:ext cx="5495667" cy="483490"/>
          </a:xfrm>
          <a:custGeom>
            <a:avLst/>
            <a:gdLst/>
            <a:ahLst/>
            <a:cxnLst/>
            <a:rect l="l" t="t" r="r" b="b"/>
            <a:pathLst>
              <a:path w="5495667" h="483490">
                <a:moveTo>
                  <a:pt x="64464" y="0"/>
                </a:moveTo>
                <a:lnTo>
                  <a:pt x="5431203" y="0"/>
                </a:lnTo>
                <a:cubicBezTo>
                  <a:pt x="5466806" y="0"/>
                  <a:pt x="5495667" y="28861"/>
                  <a:pt x="5495667" y="64464"/>
                </a:cubicBezTo>
                <a:lnTo>
                  <a:pt x="5495667" y="419026"/>
                </a:lnTo>
                <a:cubicBezTo>
                  <a:pt x="5495667" y="454628"/>
                  <a:pt x="5466806" y="483490"/>
                  <a:pt x="5431203" y="483490"/>
                </a:cubicBezTo>
                <a:lnTo>
                  <a:pt x="64464" y="483490"/>
                </a:lnTo>
                <a:cubicBezTo>
                  <a:pt x="28861" y="483490"/>
                  <a:pt x="0" y="454628"/>
                  <a:pt x="0" y="419026"/>
                </a:cubicBezTo>
                <a:lnTo>
                  <a:pt x="0" y="64464"/>
                </a:lnTo>
                <a:cubicBezTo>
                  <a:pt x="0" y="28861"/>
                  <a:pt x="28861" y="0"/>
                  <a:pt x="6446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Text 29"/>
          <p:cNvSpPr/>
          <p:nvPr/>
        </p:nvSpPr>
        <p:spPr>
          <a:xfrm>
            <a:off x="6337241" y="1688185"/>
            <a:ext cx="5423143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Temporal Causal Graph Network (NTCGN)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37241" y="1881581"/>
            <a:ext cx="5423143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Integrates temporal GNNs with Causal Attention Network for complex, dynamic relationships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72776" y="2139442"/>
            <a:ext cx="5495667" cy="741351"/>
          </a:xfrm>
          <a:custGeom>
            <a:avLst/>
            <a:gdLst/>
            <a:ahLst/>
            <a:cxnLst/>
            <a:rect l="l" t="t" r="r" b="b"/>
            <a:pathLst>
              <a:path w="5495667" h="741351">
                <a:moveTo>
                  <a:pt x="64468" y="0"/>
                </a:moveTo>
                <a:lnTo>
                  <a:pt x="5431199" y="0"/>
                </a:lnTo>
                <a:cubicBezTo>
                  <a:pt x="5466804" y="0"/>
                  <a:pt x="5495667" y="28863"/>
                  <a:pt x="5495667" y="64468"/>
                </a:cubicBezTo>
                <a:lnTo>
                  <a:pt x="5495667" y="676883"/>
                </a:lnTo>
                <a:cubicBezTo>
                  <a:pt x="5495667" y="712488"/>
                  <a:pt x="5466804" y="741351"/>
                  <a:pt x="5431199" y="741351"/>
                </a:cubicBezTo>
                <a:lnTo>
                  <a:pt x="64468" y="741351"/>
                </a:lnTo>
                <a:cubicBezTo>
                  <a:pt x="28863" y="741351"/>
                  <a:pt x="0" y="712488"/>
                  <a:pt x="0" y="676883"/>
                </a:cubicBezTo>
                <a:lnTo>
                  <a:pt x="0" y="64468"/>
                </a:lnTo>
                <a:cubicBezTo>
                  <a:pt x="0" y="28887"/>
                  <a:pt x="28887" y="0"/>
                  <a:pt x="6446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Text 32"/>
          <p:cNvSpPr/>
          <p:nvPr/>
        </p:nvSpPr>
        <p:spPr>
          <a:xfrm>
            <a:off x="6337241" y="2203907"/>
            <a:ext cx="5423143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37241" y="2397303"/>
            <a:ext cx="2651135" cy="419024"/>
          </a:xfrm>
          <a:custGeom>
            <a:avLst/>
            <a:gdLst/>
            <a:ahLst/>
            <a:cxnLst/>
            <a:rect l="l" t="t" r="r" b="b"/>
            <a:pathLst>
              <a:path w="2651135" h="419024">
                <a:moveTo>
                  <a:pt x="32231" y="0"/>
                </a:moveTo>
                <a:lnTo>
                  <a:pt x="2618904" y="0"/>
                </a:lnTo>
                <a:cubicBezTo>
                  <a:pt x="2636705" y="0"/>
                  <a:pt x="2651135" y="14430"/>
                  <a:pt x="2651135" y="32231"/>
                </a:cubicBezTo>
                <a:lnTo>
                  <a:pt x="2651135" y="386793"/>
                </a:lnTo>
                <a:cubicBezTo>
                  <a:pt x="2651135" y="404594"/>
                  <a:pt x="2636705" y="419024"/>
                  <a:pt x="2618904" y="419024"/>
                </a:cubicBezTo>
                <a:lnTo>
                  <a:pt x="32231" y="419024"/>
                </a:lnTo>
                <a:cubicBezTo>
                  <a:pt x="14430" y="419024"/>
                  <a:pt x="0" y="404594"/>
                  <a:pt x="0" y="386793"/>
                </a:cubicBezTo>
                <a:lnTo>
                  <a:pt x="0" y="32231"/>
                </a:lnTo>
                <a:cubicBezTo>
                  <a:pt x="0" y="14430"/>
                  <a:pt x="14430" y="0"/>
                  <a:pt x="32231" y="0"/>
                </a:cubicBez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36" name="Text 34"/>
          <p:cNvSpPr/>
          <p:nvPr/>
        </p:nvSpPr>
        <p:spPr>
          <a:xfrm>
            <a:off x="6345299" y="2429536"/>
            <a:ext cx="2635019" cy="128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1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33212" y="2558364"/>
            <a:ext cx="2659194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2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0.798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54655" y="2397303"/>
            <a:ext cx="2651135" cy="419024"/>
          </a:xfrm>
          <a:custGeom>
            <a:avLst/>
            <a:gdLst/>
            <a:ahLst/>
            <a:cxnLst/>
            <a:rect l="l" t="t" r="r" b="b"/>
            <a:pathLst>
              <a:path w="2651135" h="419024">
                <a:moveTo>
                  <a:pt x="32231" y="0"/>
                </a:moveTo>
                <a:lnTo>
                  <a:pt x="2618904" y="0"/>
                </a:lnTo>
                <a:cubicBezTo>
                  <a:pt x="2636705" y="0"/>
                  <a:pt x="2651135" y="14430"/>
                  <a:pt x="2651135" y="32231"/>
                </a:cubicBezTo>
                <a:lnTo>
                  <a:pt x="2651135" y="386793"/>
                </a:lnTo>
                <a:cubicBezTo>
                  <a:pt x="2651135" y="404594"/>
                  <a:pt x="2636705" y="419024"/>
                  <a:pt x="2618904" y="419024"/>
                </a:cubicBezTo>
                <a:lnTo>
                  <a:pt x="32231" y="419024"/>
                </a:lnTo>
                <a:cubicBezTo>
                  <a:pt x="14430" y="419024"/>
                  <a:pt x="0" y="404594"/>
                  <a:pt x="0" y="386793"/>
                </a:cubicBezTo>
                <a:lnTo>
                  <a:pt x="0" y="32231"/>
                </a:lnTo>
                <a:cubicBezTo>
                  <a:pt x="0" y="14430"/>
                  <a:pt x="14430" y="0"/>
                  <a:pt x="32231" y="0"/>
                </a:cubicBez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39" name="Text 37"/>
          <p:cNvSpPr/>
          <p:nvPr/>
        </p:nvSpPr>
        <p:spPr>
          <a:xfrm>
            <a:off x="9062713" y="2429536"/>
            <a:ext cx="2635019" cy="128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1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 Score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050626" y="2558364"/>
            <a:ext cx="2659194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2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0.795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38443" y="3041854"/>
            <a:ext cx="5705179" cy="2079006"/>
          </a:xfrm>
          <a:custGeom>
            <a:avLst/>
            <a:gdLst/>
            <a:ahLst/>
            <a:cxnLst/>
            <a:rect l="l" t="t" r="r" b="b"/>
            <a:pathLst>
              <a:path w="5705179" h="2079006">
                <a:moveTo>
                  <a:pt x="0" y="0"/>
                </a:moveTo>
                <a:lnTo>
                  <a:pt x="5640709" y="0"/>
                </a:lnTo>
                <a:cubicBezTo>
                  <a:pt x="5676315" y="0"/>
                  <a:pt x="5705179" y="28864"/>
                  <a:pt x="5705179" y="64470"/>
                </a:cubicBezTo>
                <a:lnTo>
                  <a:pt x="5705179" y="2014536"/>
                </a:lnTo>
                <a:cubicBezTo>
                  <a:pt x="5705179" y="2050142"/>
                  <a:pt x="5676315" y="2079006"/>
                  <a:pt x="5640709" y="2079006"/>
                </a:cubicBezTo>
                <a:lnTo>
                  <a:pt x="0" y="2079006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42" name="Shape 40"/>
          <p:cNvSpPr/>
          <p:nvPr/>
        </p:nvSpPr>
        <p:spPr>
          <a:xfrm>
            <a:off x="338443" y="3041854"/>
            <a:ext cx="32233" cy="2079006"/>
          </a:xfrm>
          <a:custGeom>
            <a:avLst/>
            <a:gdLst/>
            <a:ahLst/>
            <a:cxnLst/>
            <a:rect l="l" t="t" r="r" b="b"/>
            <a:pathLst>
              <a:path w="32233" h="2079006">
                <a:moveTo>
                  <a:pt x="0" y="0"/>
                </a:moveTo>
                <a:lnTo>
                  <a:pt x="32233" y="0"/>
                </a:lnTo>
                <a:lnTo>
                  <a:pt x="32233" y="2079006"/>
                </a:lnTo>
                <a:lnTo>
                  <a:pt x="0" y="2079006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3" name="Shape 41"/>
          <p:cNvSpPr/>
          <p:nvPr/>
        </p:nvSpPr>
        <p:spPr>
          <a:xfrm>
            <a:off x="451257" y="3138552"/>
            <a:ext cx="322327" cy="322327"/>
          </a:xfrm>
          <a:custGeom>
            <a:avLst/>
            <a:gdLst/>
            <a:ahLst/>
            <a:cxnLst/>
            <a:rect l="l" t="t" r="r" b="b"/>
            <a:pathLst>
              <a:path w="322327" h="322327">
                <a:moveTo>
                  <a:pt x="161163" y="0"/>
                </a:moveTo>
                <a:lnTo>
                  <a:pt x="161163" y="0"/>
                </a:lnTo>
                <a:cubicBezTo>
                  <a:pt x="250171" y="0"/>
                  <a:pt x="322327" y="72155"/>
                  <a:pt x="322327" y="161163"/>
                </a:cubicBezTo>
                <a:lnTo>
                  <a:pt x="322327" y="161163"/>
                </a:lnTo>
                <a:cubicBezTo>
                  <a:pt x="322327" y="250171"/>
                  <a:pt x="250171" y="322327"/>
                  <a:pt x="161163" y="322327"/>
                </a:cubicBezTo>
                <a:lnTo>
                  <a:pt x="161163" y="322327"/>
                </a:lnTo>
                <a:cubicBezTo>
                  <a:pt x="72155" y="322327"/>
                  <a:pt x="0" y="250171"/>
                  <a:pt x="0" y="161163"/>
                </a:cubicBezTo>
                <a:lnTo>
                  <a:pt x="0" y="161163"/>
                </a:lnTo>
                <a:cubicBezTo>
                  <a:pt x="0" y="72155"/>
                  <a:pt x="72155" y="0"/>
                  <a:pt x="161163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41911" y="3227192"/>
            <a:ext cx="145047" cy="145047"/>
          </a:xfrm>
          <a:custGeom>
            <a:avLst/>
            <a:gdLst/>
            <a:ahLst/>
            <a:cxnLst/>
            <a:rect l="l" t="t" r="r" b="b"/>
            <a:pathLst>
              <a:path w="145047" h="145047">
                <a:moveTo>
                  <a:pt x="33995" y="15865"/>
                </a:moveTo>
                <a:cubicBezTo>
                  <a:pt x="33995" y="7111"/>
                  <a:pt x="41106" y="0"/>
                  <a:pt x="49860" y="0"/>
                </a:cubicBezTo>
                <a:lnTo>
                  <a:pt x="56659" y="0"/>
                </a:lnTo>
                <a:cubicBezTo>
                  <a:pt x="61673" y="0"/>
                  <a:pt x="65724" y="4051"/>
                  <a:pt x="65724" y="9065"/>
                </a:cubicBezTo>
                <a:lnTo>
                  <a:pt x="65724" y="135981"/>
                </a:lnTo>
                <a:cubicBezTo>
                  <a:pt x="65724" y="140996"/>
                  <a:pt x="61673" y="145047"/>
                  <a:pt x="56659" y="145047"/>
                </a:cubicBezTo>
                <a:lnTo>
                  <a:pt x="47594" y="145047"/>
                </a:lnTo>
                <a:cubicBezTo>
                  <a:pt x="39151" y="145047"/>
                  <a:pt x="32041" y="139268"/>
                  <a:pt x="30029" y="131449"/>
                </a:cubicBezTo>
                <a:cubicBezTo>
                  <a:pt x="29831" y="131449"/>
                  <a:pt x="29661" y="131449"/>
                  <a:pt x="29463" y="131449"/>
                </a:cubicBezTo>
                <a:cubicBezTo>
                  <a:pt x="16941" y="131449"/>
                  <a:pt x="6799" y="121307"/>
                  <a:pt x="6799" y="108785"/>
                </a:cubicBezTo>
                <a:cubicBezTo>
                  <a:pt x="6799" y="103686"/>
                  <a:pt x="8499" y="98983"/>
                  <a:pt x="11332" y="95187"/>
                </a:cubicBezTo>
                <a:cubicBezTo>
                  <a:pt x="5836" y="91051"/>
                  <a:pt x="2266" y="84479"/>
                  <a:pt x="2266" y="77056"/>
                </a:cubicBezTo>
                <a:cubicBezTo>
                  <a:pt x="2266" y="68302"/>
                  <a:pt x="7252" y="60682"/>
                  <a:pt x="14505" y="56914"/>
                </a:cubicBezTo>
                <a:cubicBezTo>
                  <a:pt x="12493" y="53514"/>
                  <a:pt x="11332" y="49548"/>
                  <a:pt x="11332" y="45327"/>
                </a:cubicBezTo>
                <a:cubicBezTo>
                  <a:pt x="11332" y="32806"/>
                  <a:pt x="21474" y="22664"/>
                  <a:pt x="33995" y="22664"/>
                </a:cubicBezTo>
                <a:lnTo>
                  <a:pt x="33995" y="15865"/>
                </a:lnTo>
                <a:close/>
                <a:moveTo>
                  <a:pt x="111052" y="15865"/>
                </a:moveTo>
                <a:lnTo>
                  <a:pt x="111052" y="22664"/>
                </a:lnTo>
                <a:cubicBezTo>
                  <a:pt x="123573" y="22664"/>
                  <a:pt x="133715" y="32806"/>
                  <a:pt x="133715" y="45327"/>
                </a:cubicBezTo>
                <a:cubicBezTo>
                  <a:pt x="133715" y="49577"/>
                  <a:pt x="132554" y="53543"/>
                  <a:pt x="130542" y="56914"/>
                </a:cubicBezTo>
                <a:cubicBezTo>
                  <a:pt x="137823" y="60682"/>
                  <a:pt x="142781" y="68274"/>
                  <a:pt x="142781" y="77056"/>
                </a:cubicBezTo>
                <a:cubicBezTo>
                  <a:pt x="142781" y="84479"/>
                  <a:pt x="139211" y="91051"/>
                  <a:pt x="133715" y="95187"/>
                </a:cubicBezTo>
                <a:cubicBezTo>
                  <a:pt x="136548" y="98983"/>
                  <a:pt x="138248" y="103686"/>
                  <a:pt x="138248" y="108785"/>
                </a:cubicBezTo>
                <a:cubicBezTo>
                  <a:pt x="138248" y="121307"/>
                  <a:pt x="128106" y="131449"/>
                  <a:pt x="115584" y="131449"/>
                </a:cubicBezTo>
                <a:cubicBezTo>
                  <a:pt x="115386" y="131449"/>
                  <a:pt x="115216" y="131449"/>
                  <a:pt x="115018" y="131449"/>
                </a:cubicBezTo>
                <a:cubicBezTo>
                  <a:pt x="113006" y="139268"/>
                  <a:pt x="105896" y="145047"/>
                  <a:pt x="97453" y="145047"/>
                </a:cubicBezTo>
                <a:lnTo>
                  <a:pt x="88388" y="145047"/>
                </a:lnTo>
                <a:cubicBezTo>
                  <a:pt x="83374" y="145047"/>
                  <a:pt x="79323" y="140996"/>
                  <a:pt x="79323" y="135981"/>
                </a:cubicBezTo>
                <a:lnTo>
                  <a:pt x="79323" y="9065"/>
                </a:lnTo>
                <a:cubicBezTo>
                  <a:pt x="79323" y="4051"/>
                  <a:pt x="83374" y="0"/>
                  <a:pt x="88388" y="0"/>
                </a:cubicBezTo>
                <a:lnTo>
                  <a:pt x="95187" y="0"/>
                </a:lnTo>
                <a:cubicBezTo>
                  <a:pt x="103941" y="0"/>
                  <a:pt x="111052" y="7111"/>
                  <a:pt x="111052" y="1586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5" name="Text 43"/>
          <p:cNvSpPr/>
          <p:nvPr/>
        </p:nvSpPr>
        <p:spPr>
          <a:xfrm>
            <a:off x="870282" y="3186901"/>
            <a:ext cx="2232111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Neuro-Symbolic AI Integration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1257" y="3525344"/>
            <a:ext cx="5552074" cy="37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8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LLMs with symbolic reasoners</a:t>
            </a:r>
            <a:r>
              <a:rPr lang="en-US" sz="88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like Prolog for causal reasoning proofs, ensuring both accuracy and interpretability.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1257" y="3956459"/>
            <a:ext cx="5495667" cy="1063677"/>
          </a:xfrm>
          <a:custGeom>
            <a:avLst/>
            <a:gdLst/>
            <a:ahLst/>
            <a:cxnLst/>
            <a:rect l="l" t="t" r="r" b="b"/>
            <a:pathLst>
              <a:path w="5495667" h="1063677">
                <a:moveTo>
                  <a:pt x="64469" y="0"/>
                </a:moveTo>
                <a:lnTo>
                  <a:pt x="5431197" y="0"/>
                </a:lnTo>
                <a:cubicBezTo>
                  <a:pt x="5466779" y="0"/>
                  <a:pt x="5495667" y="28888"/>
                  <a:pt x="5495667" y="64469"/>
                </a:cubicBezTo>
                <a:lnTo>
                  <a:pt x="5495667" y="999208"/>
                </a:lnTo>
                <a:cubicBezTo>
                  <a:pt x="5495667" y="1034813"/>
                  <a:pt x="5466803" y="1063677"/>
                  <a:pt x="5431197" y="1063677"/>
                </a:cubicBezTo>
                <a:lnTo>
                  <a:pt x="64469" y="1063677"/>
                </a:lnTo>
                <a:cubicBezTo>
                  <a:pt x="28888" y="1063677"/>
                  <a:pt x="0" y="1034790"/>
                  <a:pt x="0" y="999208"/>
                </a:cubicBezTo>
                <a:lnTo>
                  <a:pt x="0" y="64469"/>
                </a:lnTo>
                <a:cubicBezTo>
                  <a:pt x="0" y="28888"/>
                  <a:pt x="28888" y="0"/>
                  <a:pt x="6446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Text 46"/>
          <p:cNvSpPr/>
          <p:nvPr/>
        </p:nvSpPr>
        <p:spPr>
          <a:xfrm>
            <a:off x="515722" y="4020925"/>
            <a:ext cx="5423143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CARING Framework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15722" y="4214321"/>
            <a:ext cx="5423143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LLM translates natural language → Prolog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15722" y="4407717"/>
            <a:ext cx="5423143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Prolog interpreter executes symbolic reasoning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15722" y="4601112"/>
            <a:ext cx="5423143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Custom meta-interpreters ensure causal proofs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15722" y="4794508"/>
            <a:ext cx="5423143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Significant improvements in accuracy &amp; interpretability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59962" y="3041854"/>
            <a:ext cx="5705179" cy="2079006"/>
          </a:xfrm>
          <a:custGeom>
            <a:avLst/>
            <a:gdLst/>
            <a:ahLst/>
            <a:cxnLst/>
            <a:rect l="l" t="t" r="r" b="b"/>
            <a:pathLst>
              <a:path w="5705179" h="2079006">
                <a:moveTo>
                  <a:pt x="0" y="0"/>
                </a:moveTo>
                <a:lnTo>
                  <a:pt x="5640709" y="0"/>
                </a:lnTo>
                <a:cubicBezTo>
                  <a:pt x="5676315" y="0"/>
                  <a:pt x="5705179" y="28864"/>
                  <a:pt x="5705179" y="64470"/>
                </a:cubicBezTo>
                <a:lnTo>
                  <a:pt x="5705179" y="2014536"/>
                </a:lnTo>
                <a:cubicBezTo>
                  <a:pt x="5705179" y="2050142"/>
                  <a:pt x="5676315" y="2079006"/>
                  <a:pt x="5640709" y="2079006"/>
                </a:cubicBezTo>
                <a:lnTo>
                  <a:pt x="0" y="2079006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54" name="Shape 52"/>
          <p:cNvSpPr/>
          <p:nvPr/>
        </p:nvSpPr>
        <p:spPr>
          <a:xfrm>
            <a:off x="6159962" y="3041854"/>
            <a:ext cx="32233" cy="2079006"/>
          </a:xfrm>
          <a:custGeom>
            <a:avLst/>
            <a:gdLst/>
            <a:ahLst/>
            <a:cxnLst/>
            <a:rect l="l" t="t" r="r" b="b"/>
            <a:pathLst>
              <a:path w="32233" h="2079006">
                <a:moveTo>
                  <a:pt x="0" y="0"/>
                </a:moveTo>
                <a:lnTo>
                  <a:pt x="32233" y="0"/>
                </a:lnTo>
                <a:lnTo>
                  <a:pt x="32233" y="2079006"/>
                </a:lnTo>
                <a:lnTo>
                  <a:pt x="0" y="2079006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5" name="Shape 53"/>
          <p:cNvSpPr/>
          <p:nvPr/>
        </p:nvSpPr>
        <p:spPr>
          <a:xfrm>
            <a:off x="6272776" y="3138552"/>
            <a:ext cx="322327" cy="322327"/>
          </a:xfrm>
          <a:custGeom>
            <a:avLst/>
            <a:gdLst/>
            <a:ahLst/>
            <a:cxnLst/>
            <a:rect l="l" t="t" r="r" b="b"/>
            <a:pathLst>
              <a:path w="322327" h="322327">
                <a:moveTo>
                  <a:pt x="161163" y="0"/>
                </a:moveTo>
                <a:lnTo>
                  <a:pt x="161163" y="0"/>
                </a:lnTo>
                <a:cubicBezTo>
                  <a:pt x="250171" y="0"/>
                  <a:pt x="322327" y="72155"/>
                  <a:pt x="322327" y="161163"/>
                </a:cubicBezTo>
                <a:lnTo>
                  <a:pt x="322327" y="161163"/>
                </a:lnTo>
                <a:cubicBezTo>
                  <a:pt x="322327" y="250171"/>
                  <a:pt x="250171" y="322327"/>
                  <a:pt x="161163" y="322327"/>
                </a:cubicBezTo>
                <a:lnTo>
                  <a:pt x="161163" y="322327"/>
                </a:lnTo>
                <a:cubicBezTo>
                  <a:pt x="72155" y="322327"/>
                  <a:pt x="0" y="250171"/>
                  <a:pt x="0" y="161163"/>
                </a:cubicBezTo>
                <a:lnTo>
                  <a:pt x="0" y="161163"/>
                </a:lnTo>
                <a:cubicBezTo>
                  <a:pt x="0" y="72155"/>
                  <a:pt x="72155" y="0"/>
                  <a:pt x="161163" y="0"/>
                </a:cubicBezTo>
                <a:close/>
              </a:path>
            </a:pathLst>
          </a:custGeom>
          <a:solidFill>
            <a:srgbClr val="C5A57A">
              <a:alpha val="3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363430" y="3227192"/>
            <a:ext cx="145047" cy="145047"/>
          </a:xfrm>
          <a:custGeom>
            <a:avLst/>
            <a:gdLst/>
            <a:ahLst/>
            <a:cxnLst/>
            <a:rect l="l" t="t" r="r" b="b"/>
            <a:pathLst>
              <a:path w="145047" h="145047">
                <a:moveTo>
                  <a:pt x="142384" y="42664"/>
                </a:moveTo>
                <a:lnTo>
                  <a:pt x="115188" y="69860"/>
                </a:lnTo>
                <a:cubicBezTo>
                  <a:pt x="112581" y="72467"/>
                  <a:pt x="108700" y="73232"/>
                  <a:pt x="105301" y="71815"/>
                </a:cubicBezTo>
                <a:cubicBezTo>
                  <a:pt x="101901" y="70399"/>
                  <a:pt x="99720" y="67113"/>
                  <a:pt x="99720" y="63458"/>
                </a:cubicBezTo>
                <a:lnTo>
                  <a:pt x="99720" y="45327"/>
                </a:lnTo>
                <a:lnTo>
                  <a:pt x="9065" y="45327"/>
                </a:lnTo>
                <a:cubicBezTo>
                  <a:pt x="4051" y="45327"/>
                  <a:pt x="0" y="41276"/>
                  <a:pt x="0" y="36262"/>
                </a:cubicBezTo>
                <a:cubicBezTo>
                  <a:pt x="0" y="31247"/>
                  <a:pt x="4051" y="27196"/>
                  <a:pt x="9065" y="27196"/>
                </a:cubicBezTo>
                <a:lnTo>
                  <a:pt x="99720" y="27196"/>
                </a:lnTo>
                <a:lnTo>
                  <a:pt x="99720" y="9065"/>
                </a:lnTo>
                <a:cubicBezTo>
                  <a:pt x="99720" y="5411"/>
                  <a:pt x="101929" y="2096"/>
                  <a:pt x="105329" y="680"/>
                </a:cubicBezTo>
                <a:cubicBezTo>
                  <a:pt x="108729" y="-737"/>
                  <a:pt x="112610" y="57"/>
                  <a:pt x="115216" y="2635"/>
                </a:cubicBezTo>
                <a:lnTo>
                  <a:pt x="142412" y="29831"/>
                </a:lnTo>
                <a:cubicBezTo>
                  <a:pt x="145953" y="33372"/>
                  <a:pt x="145953" y="39123"/>
                  <a:pt x="142412" y="42664"/>
                </a:cubicBezTo>
                <a:close/>
                <a:moveTo>
                  <a:pt x="29831" y="142384"/>
                </a:moveTo>
                <a:lnTo>
                  <a:pt x="2635" y="115188"/>
                </a:lnTo>
                <a:cubicBezTo>
                  <a:pt x="-907" y="111646"/>
                  <a:pt x="-907" y="105896"/>
                  <a:pt x="2635" y="102354"/>
                </a:cubicBezTo>
                <a:lnTo>
                  <a:pt x="29831" y="75158"/>
                </a:lnTo>
                <a:cubicBezTo>
                  <a:pt x="32437" y="72552"/>
                  <a:pt x="36318" y="71787"/>
                  <a:pt x="39718" y="73203"/>
                </a:cubicBezTo>
                <a:cubicBezTo>
                  <a:pt x="43117" y="74620"/>
                  <a:pt x="45327" y="77934"/>
                  <a:pt x="45327" y="81589"/>
                </a:cubicBezTo>
                <a:lnTo>
                  <a:pt x="45327" y="99720"/>
                </a:lnTo>
                <a:lnTo>
                  <a:pt x="135981" y="99720"/>
                </a:lnTo>
                <a:cubicBezTo>
                  <a:pt x="140996" y="99720"/>
                  <a:pt x="145047" y="103771"/>
                  <a:pt x="145047" y="108785"/>
                </a:cubicBezTo>
                <a:cubicBezTo>
                  <a:pt x="145047" y="113800"/>
                  <a:pt x="140996" y="117851"/>
                  <a:pt x="135981" y="117851"/>
                </a:cubicBezTo>
                <a:lnTo>
                  <a:pt x="45327" y="117851"/>
                </a:lnTo>
                <a:lnTo>
                  <a:pt x="45327" y="135981"/>
                </a:lnTo>
                <a:cubicBezTo>
                  <a:pt x="45327" y="139636"/>
                  <a:pt x="43117" y="142951"/>
                  <a:pt x="39718" y="144367"/>
                </a:cubicBezTo>
                <a:cubicBezTo>
                  <a:pt x="36318" y="145783"/>
                  <a:pt x="32437" y="144990"/>
                  <a:pt x="29831" y="142412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7" name="Text 55"/>
          <p:cNvSpPr/>
          <p:nvPr/>
        </p:nvSpPr>
        <p:spPr>
          <a:xfrm>
            <a:off x="6691800" y="3186901"/>
            <a:ext cx="3336079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Causal &amp; Counterfactual Reasoning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272776" y="3525344"/>
            <a:ext cx="5552074" cy="18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8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causal discovery and counterfactual reasoning</a:t>
            </a:r>
            <a:r>
              <a:rPr lang="en-US" sz="88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high-reliability applications.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72776" y="3773136"/>
            <a:ext cx="5495667" cy="483490"/>
          </a:xfrm>
          <a:custGeom>
            <a:avLst/>
            <a:gdLst/>
            <a:ahLst/>
            <a:cxnLst/>
            <a:rect l="l" t="t" r="r" b="b"/>
            <a:pathLst>
              <a:path w="5495667" h="483490">
                <a:moveTo>
                  <a:pt x="64464" y="0"/>
                </a:moveTo>
                <a:lnTo>
                  <a:pt x="5431203" y="0"/>
                </a:lnTo>
                <a:cubicBezTo>
                  <a:pt x="5466806" y="0"/>
                  <a:pt x="5495667" y="28861"/>
                  <a:pt x="5495667" y="64464"/>
                </a:cubicBezTo>
                <a:lnTo>
                  <a:pt x="5495667" y="419026"/>
                </a:lnTo>
                <a:cubicBezTo>
                  <a:pt x="5495667" y="454628"/>
                  <a:pt x="5466806" y="483490"/>
                  <a:pt x="5431203" y="483490"/>
                </a:cubicBezTo>
                <a:lnTo>
                  <a:pt x="64464" y="483490"/>
                </a:lnTo>
                <a:cubicBezTo>
                  <a:pt x="28861" y="483490"/>
                  <a:pt x="0" y="454628"/>
                  <a:pt x="0" y="419026"/>
                </a:cubicBezTo>
                <a:lnTo>
                  <a:pt x="0" y="64464"/>
                </a:lnTo>
                <a:cubicBezTo>
                  <a:pt x="0" y="28861"/>
                  <a:pt x="28861" y="0"/>
                  <a:pt x="6446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0" name="Text 58"/>
          <p:cNvSpPr/>
          <p:nvPr/>
        </p:nvSpPr>
        <p:spPr>
          <a:xfrm>
            <a:off x="6337241" y="3837602"/>
            <a:ext cx="5423143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Causal Discovery Techniques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37241" y="4030997"/>
            <a:ext cx="5423143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 algorithm,GES, causal discovery from observational data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272776" y="4288859"/>
            <a:ext cx="5495667" cy="483490"/>
          </a:xfrm>
          <a:custGeom>
            <a:avLst/>
            <a:gdLst/>
            <a:ahLst/>
            <a:cxnLst/>
            <a:rect l="l" t="t" r="r" b="b"/>
            <a:pathLst>
              <a:path w="5495667" h="483490">
                <a:moveTo>
                  <a:pt x="64464" y="0"/>
                </a:moveTo>
                <a:lnTo>
                  <a:pt x="5431203" y="0"/>
                </a:lnTo>
                <a:cubicBezTo>
                  <a:pt x="5466806" y="0"/>
                  <a:pt x="5495667" y="28861"/>
                  <a:pt x="5495667" y="64464"/>
                </a:cubicBezTo>
                <a:lnTo>
                  <a:pt x="5495667" y="419026"/>
                </a:lnTo>
                <a:cubicBezTo>
                  <a:pt x="5495667" y="454628"/>
                  <a:pt x="5466806" y="483490"/>
                  <a:pt x="5431203" y="483490"/>
                </a:cubicBezTo>
                <a:lnTo>
                  <a:pt x="64464" y="483490"/>
                </a:lnTo>
                <a:cubicBezTo>
                  <a:pt x="28861" y="483490"/>
                  <a:pt x="0" y="454628"/>
                  <a:pt x="0" y="419026"/>
                </a:cubicBezTo>
                <a:lnTo>
                  <a:pt x="0" y="64464"/>
                </a:lnTo>
                <a:cubicBezTo>
                  <a:pt x="0" y="28861"/>
                  <a:pt x="28861" y="0"/>
                  <a:pt x="6446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3" name="Text 61"/>
          <p:cNvSpPr/>
          <p:nvPr/>
        </p:nvSpPr>
        <p:spPr>
          <a:xfrm>
            <a:off x="6337241" y="4353324"/>
            <a:ext cx="5423143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Restricted Industries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37241" y="4546720"/>
            <a:ext cx="5423143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 (treatment planning), Finance (risk assessment), Autonomous systems (decision-making)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22327" y="5197417"/>
            <a:ext cx="11547347" cy="1176492"/>
          </a:xfrm>
          <a:custGeom>
            <a:avLst/>
            <a:gdLst/>
            <a:ahLst/>
            <a:cxnLst/>
            <a:rect l="l" t="t" r="r" b="b"/>
            <a:pathLst>
              <a:path w="11547347" h="1176492">
                <a:moveTo>
                  <a:pt x="0" y="0"/>
                </a:moveTo>
                <a:lnTo>
                  <a:pt x="11547347" y="0"/>
                </a:lnTo>
                <a:lnTo>
                  <a:pt x="11547347" y="1112032"/>
                </a:lnTo>
                <a:cubicBezTo>
                  <a:pt x="11547347" y="1147632"/>
                  <a:pt x="11518487" y="1176492"/>
                  <a:pt x="11482887" y="1176492"/>
                </a:cubicBezTo>
                <a:lnTo>
                  <a:pt x="64460" y="1176492"/>
                </a:lnTo>
                <a:cubicBezTo>
                  <a:pt x="28860" y="1176492"/>
                  <a:pt x="0" y="1147632"/>
                  <a:pt x="0" y="1112032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66" name="Shape 64"/>
          <p:cNvSpPr/>
          <p:nvPr/>
        </p:nvSpPr>
        <p:spPr>
          <a:xfrm>
            <a:off x="322327" y="5197417"/>
            <a:ext cx="11547347" cy="32233"/>
          </a:xfrm>
          <a:custGeom>
            <a:avLst/>
            <a:gdLst/>
            <a:ahLst/>
            <a:cxnLst/>
            <a:rect l="l" t="t" r="r" b="b"/>
            <a:pathLst>
              <a:path w="11547347" h="32233">
                <a:moveTo>
                  <a:pt x="0" y="0"/>
                </a:moveTo>
                <a:lnTo>
                  <a:pt x="11547347" y="0"/>
                </a:lnTo>
                <a:lnTo>
                  <a:pt x="11547347" y="32233"/>
                </a:lnTo>
                <a:lnTo>
                  <a:pt x="0" y="32233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7" name="Shape 65"/>
          <p:cNvSpPr/>
          <p:nvPr/>
        </p:nvSpPr>
        <p:spPr>
          <a:xfrm>
            <a:off x="439170" y="5350522"/>
            <a:ext cx="145047" cy="145047"/>
          </a:xfrm>
          <a:custGeom>
            <a:avLst/>
            <a:gdLst/>
            <a:ahLst/>
            <a:cxnLst/>
            <a:rect l="l" t="t" r="r" b="b"/>
            <a:pathLst>
              <a:path w="145047" h="145047">
                <a:moveTo>
                  <a:pt x="63430" y="9065"/>
                </a:moveTo>
                <a:lnTo>
                  <a:pt x="41843" y="9065"/>
                </a:lnTo>
                <a:cubicBezTo>
                  <a:pt x="33514" y="9065"/>
                  <a:pt x="26233" y="14760"/>
                  <a:pt x="24250" y="22834"/>
                </a:cubicBezTo>
                <a:lnTo>
                  <a:pt x="397" y="119125"/>
                </a:lnTo>
                <a:cubicBezTo>
                  <a:pt x="-1728" y="127681"/>
                  <a:pt x="4759" y="135981"/>
                  <a:pt x="13598" y="135981"/>
                </a:cubicBezTo>
                <a:lnTo>
                  <a:pt x="63430" y="135981"/>
                </a:lnTo>
                <a:lnTo>
                  <a:pt x="63430" y="117851"/>
                </a:lnTo>
                <a:cubicBezTo>
                  <a:pt x="63430" y="112836"/>
                  <a:pt x="67481" y="108785"/>
                  <a:pt x="72495" y="108785"/>
                </a:cubicBezTo>
                <a:cubicBezTo>
                  <a:pt x="77509" y="108785"/>
                  <a:pt x="81561" y="112836"/>
                  <a:pt x="81561" y="117851"/>
                </a:cubicBezTo>
                <a:lnTo>
                  <a:pt x="81561" y="135981"/>
                </a:lnTo>
                <a:lnTo>
                  <a:pt x="131449" y="135981"/>
                </a:lnTo>
                <a:cubicBezTo>
                  <a:pt x="140288" y="135981"/>
                  <a:pt x="146775" y="127681"/>
                  <a:pt x="144650" y="119125"/>
                </a:cubicBezTo>
                <a:lnTo>
                  <a:pt x="120825" y="22834"/>
                </a:lnTo>
                <a:cubicBezTo>
                  <a:pt x="118814" y="14760"/>
                  <a:pt x="111561" y="9065"/>
                  <a:pt x="103204" y="9065"/>
                </a:cubicBezTo>
                <a:lnTo>
                  <a:pt x="81561" y="9065"/>
                </a:lnTo>
                <a:lnTo>
                  <a:pt x="81561" y="27196"/>
                </a:lnTo>
                <a:cubicBezTo>
                  <a:pt x="81561" y="32211"/>
                  <a:pt x="77509" y="36262"/>
                  <a:pt x="72495" y="36262"/>
                </a:cubicBezTo>
                <a:cubicBezTo>
                  <a:pt x="67481" y="36262"/>
                  <a:pt x="63430" y="32211"/>
                  <a:pt x="63430" y="27196"/>
                </a:cubicBezTo>
                <a:lnTo>
                  <a:pt x="63430" y="9065"/>
                </a:lnTo>
                <a:close/>
                <a:moveTo>
                  <a:pt x="81561" y="63458"/>
                </a:moveTo>
                <a:lnTo>
                  <a:pt x="81561" y="81589"/>
                </a:lnTo>
                <a:cubicBezTo>
                  <a:pt x="81561" y="86603"/>
                  <a:pt x="77509" y="90654"/>
                  <a:pt x="72495" y="90654"/>
                </a:cubicBezTo>
                <a:cubicBezTo>
                  <a:pt x="67481" y="90654"/>
                  <a:pt x="63430" y="86603"/>
                  <a:pt x="63430" y="81589"/>
                </a:cubicBezTo>
                <a:lnTo>
                  <a:pt x="63430" y="63458"/>
                </a:lnTo>
                <a:cubicBezTo>
                  <a:pt x="63430" y="58444"/>
                  <a:pt x="67481" y="54393"/>
                  <a:pt x="72495" y="54393"/>
                </a:cubicBezTo>
                <a:cubicBezTo>
                  <a:pt x="77509" y="54393"/>
                  <a:pt x="81561" y="58444"/>
                  <a:pt x="81561" y="6345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8" name="Text 66"/>
          <p:cNvSpPr/>
          <p:nvPr/>
        </p:nvSpPr>
        <p:spPr>
          <a:xfrm>
            <a:off x="604362" y="5310231"/>
            <a:ext cx="11241137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2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Enhancement Roadmap &amp; Expected Impact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19024" y="5600325"/>
            <a:ext cx="2763950" cy="676886"/>
          </a:xfrm>
          <a:custGeom>
            <a:avLst/>
            <a:gdLst/>
            <a:ahLst/>
            <a:cxnLst/>
            <a:rect l="l" t="t" r="r" b="b"/>
            <a:pathLst>
              <a:path w="2763950" h="676886">
                <a:moveTo>
                  <a:pt x="64467" y="0"/>
                </a:moveTo>
                <a:lnTo>
                  <a:pt x="2699483" y="0"/>
                </a:lnTo>
                <a:cubicBezTo>
                  <a:pt x="2735087" y="0"/>
                  <a:pt x="2763950" y="28863"/>
                  <a:pt x="2763950" y="64467"/>
                </a:cubicBezTo>
                <a:lnTo>
                  <a:pt x="2763950" y="612419"/>
                </a:lnTo>
                <a:cubicBezTo>
                  <a:pt x="2763950" y="648023"/>
                  <a:pt x="2735087" y="676886"/>
                  <a:pt x="2699483" y="676886"/>
                </a:cubicBezTo>
                <a:lnTo>
                  <a:pt x="64467" y="676886"/>
                </a:lnTo>
                <a:cubicBezTo>
                  <a:pt x="28863" y="676886"/>
                  <a:pt x="0" y="648023"/>
                  <a:pt x="0" y="612419"/>
                </a:cubicBezTo>
                <a:lnTo>
                  <a:pt x="0" y="64467"/>
                </a:lnTo>
                <a:cubicBezTo>
                  <a:pt x="0" y="28887"/>
                  <a:pt x="28887" y="0"/>
                  <a:pt x="6446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0" name="Text 68"/>
          <p:cNvSpPr/>
          <p:nvPr/>
        </p:nvSpPr>
        <p:spPr>
          <a:xfrm>
            <a:off x="459315" y="5664790"/>
            <a:ext cx="2683368" cy="128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1" b="1" kern="0" spc="38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Near-term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451257" y="5825851"/>
            <a:ext cx="269948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Multi-Agent Voting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455286" y="6051479"/>
            <a:ext cx="2691426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Expected: +8-12% accuracy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281384" y="5600325"/>
            <a:ext cx="2763950" cy="676886"/>
          </a:xfrm>
          <a:custGeom>
            <a:avLst/>
            <a:gdLst/>
            <a:ahLst/>
            <a:cxnLst/>
            <a:rect l="l" t="t" r="r" b="b"/>
            <a:pathLst>
              <a:path w="2763950" h="676886">
                <a:moveTo>
                  <a:pt x="64467" y="0"/>
                </a:moveTo>
                <a:lnTo>
                  <a:pt x="2699483" y="0"/>
                </a:lnTo>
                <a:cubicBezTo>
                  <a:pt x="2735087" y="0"/>
                  <a:pt x="2763950" y="28863"/>
                  <a:pt x="2763950" y="64467"/>
                </a:cubicBezTo>
                <a:lnTo>
                  <a:pt x="2763950" y="612419"/>
                </a:lnTo>
                <a:cubicBezTo>
                  <a:pt x="2763950" y="648023"/>
                  <a:pt x="2735087" y="676886"/>
                  <a:pt x="2699483" y="676886"/>
                </a:cubicBezTo>
                <a:lnTo>
                  <a:pt x="64467" y="676886"/>
                </a:lnTo>
                <a:cubicBezTo>
                  <a:pt x="28863" y="676886"/>
                  <a:pt x="0" y="648023"/>
                  <a:pt x="0" y="612419"/>
                </a:cubicBezTo>
                <a:lnTo>
                  <a:pt x="0" y="64467"/>
                </a:lnTo>
                <a:cubicBezTo>
                  <a:pt x="0" y="28887"/>
                  <a:pt x="28887" y="0"/>
                  <a:pt x="6446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4" name="Text 72"/>
          <p:cNvSpPr/>
          <p:nvPr/>
        </p:nvSpPr>
        <p:spPr>
          <a:xfrm>
            <a:off x="3321675" y="5664790"/>
            <a:ext cx="2683368" cy="128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1" b="1" kern="0" spc="38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Mid-term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3313617" y="5825851"/>
            <a:ext cx="269948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Graph Indexing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3317646" y="6051479"/>
            <a:ext cx="2691426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temporal reasoning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143845" y="5600325"/>
            <a:ext cx="2763950" cy="676886"/>
          </a:xfrm>
          <a:custGeom>
            <a:avLst/>
            <a:gdLst/>
            <a:ahLst/>
            <a:cxnLst/>
            <a:rect l="l" t="t" r="r" b="b"/>
            <a:pathLst>
              <a:path w="2763950" h="676886">
                <a:moveTo>
                  <a:pt x="64467" y="0"/>
                </a:moveTo>
                <a:lnTo>
                  <a:pt x="2699483" y="0"/>
                </a:lnTo>
                <a:cubicBezTo>
                  <a:pt x="2735087" y="0"/>
                  <a:pt x="2763950" y="28863"/>
                  <a:pt x="2763950" y="64467"/>
                </a:cubicBezTo>
                <a:lnTo>
                  <a:pt x="2763950" y="612419"/>
                </a:lnTo>
                <a:cubicBezTo>
                  <a:pt x="2763950" y="648023"/>
                  <a:pt x="2735087" y="676886"/>
                  <a:pt x="2699483" y="676886"/>
                </a:cubicBezTo>
                <a:lnTo>
                  <a:pt x="64467" y="676886"/>
                </a:lnTo>
                <a:cubicBezTo>
                  <a:pt x="28863" y="676886"/>
                  <a:pt x="0" y="648023"/>
                  <a:pt x="0" y="612419"/>
                </a:cubicBezTo>
                <a:lnTo>
                  <a:pt x="0" y="64467"/>
                </a:lnTo>
                <a:cubicBezTo>
                  <a:pt x="0" y="28887"/>
                  <a:pt x="28887" y="0"/>
                  <a:pt x="6446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8" name="Text 76"/>
          <p:cNvSpPr/>
          <p:nvPr/>
        </p:nvSpPr>
        <p:spPr>
          <a:xfrm>
            <a:off x="6184136" y="5664790"/>
            <a:ext cx="2683368" cy="128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1" b="1" kern="0" spc="38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176078" y="5825851"/>
            <a:ext cx="269948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Neuro-Symbolic AI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180107" y="6051479"/>
            <a:ext cx="2691426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causal proofs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006306" y="5600325"/>
            <a:ext cx="2763950" cy="676886"/>
          </a:xfrm>
          <a:custGeom>
            <a:avLst/>
            <a:gdLst/>
            <a:ahLst/>
            <a:cxnLst/>
            <a:rect l="l" t="t" r="r" b="b"/>
            <a:pathLst>
              <a:path w="2763950" h="676886">
                <a:moveTo>
                  <a:pt x="64467" y="0"/>
                </a:moveTo>
                <a:lnTo>
                  <a:pt x="2699483" y="0"/>
                </a:lnTo>
                <a:cubicBezTo>
                  <a:pt x="2735087" y="0"/>
                  <a:pt x="2763950" y="28863"/>
                  <a:pt x="2763950" y="64467"/>
                </a:cubicBezTo>
                <a:lnTo>
                  <a:pt x="2763950" y="612419"/>
                </a:lnTo>
                <a:cubicBezTo>
                  <a:pt x="2763950" y="648023"/>
                  <a:pt x="2735087" y="676886"/>
                  <a:pt x="2699483" y="676886"/>
                </a:cubicBezTo>
                <a:lnTo>
                  <a:pt x="64467" y="676886"/>
                </a:lnTo>
                <a:cubicBezTo>
                  <a:pt x="28863" y="676886"/>
                  <a:pt x="0" y="648023"/>
                  <a:pt x="0" y="612419"/>
                </a:cubicBezTo>
                <a:lnTo>
                  <a:pt x="0" y="64467"/>
                </a:lnTo>
                <a:cubicBezTo>
                  <a:pt x="0" y="28887"/>
                  <a:pt x="28887" y="0"/>
                  <a:pt x="6446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2" name="Text 80"/>
          <p:cNvSpPr/>
          <p:nvPr/>
        </p:nvSpPr>
        <p:spPr>
          <a:xfrm>
            <a:off x="9046597" y="5664790"/>
            <a:ext cx="2683368" cy="128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1" b="1" kern="0" spc="38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9038539" y="5825851"/>
            <a:ext cx="269948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Counterfactual Reasoning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9042568" y="6051479"/>
            <a:ext cx="2691426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deployment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400050"/>
            <a:ext cx="4905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Impact &amp; Validation Metrics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838200"/>
            <a:ext cx="3714750" cy="2324100"/>
          </a:xfrm>
          <a:custGeom>
            <a:avLst/>
            <a:gdLst/>
            <a:ahLst/>
            <a:cxnLst/>
            <a:rect l="l" t="t" r="r" b="b"/>
            <a:pathLst>
              <a:path w="3714750" h="2324100">
                <a:moveTo>
                  <a:pt x="0" y="0"/>
                </a:moveTo>
                <a:lnTo>
                  <a:pt x="3638543" y="0"/>
                </a:lnTo>
                <a:cubicBezTo>
                  <a:pt x="3680631" y="0"/>
                  <a:pt x="3714750" y="34119"/>
                  <a:pt x="3714750" y="76207"/>
                </a:cubicBezTo>
                <a:lnTo>
                  <a:pt x="3714750" y="2247893"/>
                </a:lnTo>
                <a:cubicBezTo>
                  <a:pt x="3714750" y="2289981"/>
                  <a:pt x="3680631" y="2324100"/>
                  <a:pt x="3638543" y="2324100"/>
                </a:cubicBez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838200"/>
            <a:ext cx="38100" cy="2324100"/>
          </a:xfrm>
          <a:custGeom>
            <a:avLst/>
            <a:gdLst/>
            <a:ahLst/>
            <a:cxnLst/>
            <a:rect l="l" t="t" r="r" b="b"/>
            <a:pathLst>
              <a:path w="38100" h="2324100">
                <a:moveTo>
                  <a:pt x="0" y="0"/>
                </a:moveTo>
                <a:lnTo>
                  <a:pt x="38100" y="0"/>
                </a:lnTo>
                <a:lnTo>
                  <a:pt x="3810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" name="Shape 4"/>
          <p:cNvSpPr/>
          <p:nvPr/>
        </p:nvSpPr>
        <p:spPr>
          <a:xfrm>
            <a:off x="557213" y="1000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Text 5"/>
          <p:cNvSpPr/>
          <p:nvPr/>
        </p:nvSpPr>
        <p:spPr>
          <a:xfrm>
            <a:off x="752475" y="952500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Improvements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3400" y="1295400"/>
            <a:ext cx="3467100" cy="533400"/>
          </a:xfrm>
          <a:custGeom>
            <a:avLst/>
            <a:gdLst/>
            <a:ahLst/>
            <a:cxnLst/>
            <a:rect l="l" t="t" r="r" b="b"/>
            <a:pathLst>
              <a:path w="3467100" h="533400">
                <a:moveTo>
                  <a:pt x="76202" y="0"/>
                </a:moveTo>
                <a:lnTo>
                  <a:pt x="3390898" y="0"/>
                </a:lnTo>
                <a:cubicBezTo>
                  <a:pt x="3432983" y="0"/>
                  <a:pt x="3467100" y="34117"/>
                  <a:pt x="3467100" y="76202"/>
                </a:cubicBezTo>
                <a:lnTo>
                  <a:pt x="3467100" y="457198"/>
                </a:lnTo>
                <a:cubicBezTo>
                  <a:pt x="3467100" y="499283"/>
                  <a:pt x="3432983" y="533400"/>
                  <a:pt x="33908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1409700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LLM (Direct)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517" y="1371600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1676400"/>
            <a:ext cx="3314700" cy="76200"/>
          </a:xfrm>
          <a:custGeom>
            <a:avLst/>
            <a:gdLst/>
            <a:ahLst/>
            <a:cxnLst/>
            <a:rect l="l" t="t" r="r" b="b"/>
            <a:pathLst>
              <a:path w="3314700" h="76200">
                <a:moveTo>
                  <a:pt x="38100" y="0"/>
                </a:moveTo>
                <a:lnTo>
                  <a:pt x="3276600" y="0"/>
                </a:lnTo>
                <a:cubicBezTo>
                  <a:pt x="3297628" y="0"/>
                  <a:pt x="3314700" y="17072"/>
                  <a:pt x="3314700" y="38100"/>
                </a:cubicBezTo>
                <a:lnTo>
                  <a:pt x="3314700" y="38100"/>
                </a:lnTo>
                <a:cubicBezTo>
                  <a:pt x="3314700" y="59128"/>
                  <a:pt x="3297628" y="76200"/>
                  <a:pt x="3276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1676400"/>
            <a:ext cx="2057400" cy="76200"/>
          </a:xfrm>
          <a:custGeom>
            <a:avLst/>
            <a:gdLst/>
            <a:ahLst/>
            <a:cxnLst/>
            <a:rect l="l" t="t" r="r" b="b"/>
            <a:pathLst>
              <a:path w="2057400" h="76200">
                <a:moveTo>
                  <a:pt x="38100" y="0"/>
                </a:moveTo>
                <a:lnTo>
                  <a:pt x="2019300" y="0"/>
                </a:lnTo>
                <a:cubicBezTo>
                  <a:pt x="2040328" y="0"/>
                  <a:pt x="2057400" y="17072"/>
                  <a:pt x="2057400" y="38100"/>
                </a:cubicBezTo>
                <a:lnTo>
                  <a:pt x="2057400" y="38100"/>
                </a:lnTo>
                <a:cubicBezTo>
                  <a:pt x="2057400" y="59128"/>
                  <a:pt x="2040328" y="76200"/>
                  <a:pt x="2019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3" name="Shape 11"/>
          <p:cNvSpPr/>
          <p:nvPr/>
        </p:nvSpPr>
        <p:spPr>
          <a:xfrm>
            <a:off x="533400" y="1905000"/>
            <a:ext cx="3467100" cy="533400"/>
          </a:xfrm>
          <a:custGeom>
            <a:avLst/>
            <a:gdLst/>
            <a:ahLst/>
            <a:cxnLst/>
            <a:rect l="l" t="t" r="r" b="b"/>
            <a:pathLst>
              <a:path w="3467100" h="533400">
                <a:moveTo>
                  <a:pt x="76202" y="0"/>
                </a:moveTo>
                <a:lnTo>
                  <a:pt x="3390898" y="0"/>
                </a:lnTo>
                <a:cubicBezTo>
                  <a:pt x="3432983" y="0"/>
                  <a:pt x="3467100" y="34117"/>
                  <a:pt x="3467100" y="76202"/>
                </a:cubicBezTo>
                <a:lnTo>
                  <a:pt x="3467100" y="457198"/>
                </a:lnTo>
                <a:cubicBezTo>
                  <a:pt x="3467100" y="499283"/>
                  <a:pt x="3432983" y="533400"/>
                  <a:pt x="33908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" y="2019300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+ CoT Prompting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20929" y="1981200"/>
            <a:ext cx="40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71%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2286000"/>
            <a:ext cx="3314700" cy="76200"/>
          </a:xfrm>
          <a:custGeom>
            <a:avLst/>
            <a:gdLst/>
            <a:ahLst/>
            <a:cxnLst/>
            <a:rect l="l" t="t" r="r" b="b"/>
            <a:pathLst>
              <a:path w="3314700" h="76200">
                <a:moveTo>
                  <a:pt x="38100" y="0"/>
                </a:moveTo>
                <a:lnTo>
                  <a:pt x="3276600" y="0"/>
                </a:lnTo>
                <a:cubicBezTo>
                  <a:pt x="3297628" y="0"/>
                  <a:pt x="3314700" y="17072"/>
                  <a:pt x="3314700" y="38100"/>
                </a:cubicBezTo>
                <a:lnTo>
                  <a:pt x="3314700" y="38100"/>
                </a:lnTo>
                <a:cubicBezTo>
                  <a:pt x="3314700" y="59128"/>
                  <a:pt x="3297628" y="76200"/>
                  <a:pt x="3276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600" y="2286000"/>
            <a:ext cx="2352675" cy="76200"/>
          </a:xfrm>
          <a:custGeom>
            <a:avLst/>
            <a:gdLst/>
            <a:ahLst/>
            <a:cxnLst/>
            <a:rect l="l" t="t" r="r" b="b"/>
            <a:pathLst>
              <a:path w="2352675" h="76200">
                <a:moveTo>
                  <a:pt x="38100" y="0"/>
                </a:moveTo>
                <a:lnTo>
                  <a:pt x="2314575" y="0"/>
                </a:lnTo>
                <a:cubicBezTo>
                  <a:pt x="2335603" y="0"/>
                  <a:pt x="2352675" y="17072"/>
                  <a:pt x="2352675" y="38100"/>
                </a:cubicBezTo>
                <a:lnTo>
                  <a:pt x="2352675" y="38100"/>
                </a:lnTo>
                <a:cubicBezTo>
                  <a:pt x="2352675" y="59128"/>
                  <a:pt x="2335603" y="76200"/>
                  <a:pt x="23145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533400" y="2514600"/>
            <a:ext cx="3467100" cy="533400"/>
          </a:xfrm>
          <a:custGeom>
            <a:avLst/>
            <a:gdLst/>
            <a:ahLst/>
            <a:cxnLst/>
            <a:rect l="l" t="t" r="r" b="b"/>
            <a:pathLst>
              <a:path w="3467100" h="533400">
                <a:moveTo>
                  <a:pt x="76202" y="0"/>
                </a:moveTo>
                <a:lnTo>
                  <a:pt x="3390898" y="0"/>
                </a:lnTo>
                <a:cubicBezTo>
                  <a:pt x="3432983" y="0"/>
                  <a:pt x="3467100" y="34117"/>
                  <a:pt x="3467100" y="76202"/>
                </a:cubicBezTo>
                <a:lnTo>
                  <a:pt x="3467100" y="457198"/>
                </a:lnTo>
                <a:cubicBezTo>
                  <a:pt x="3467100" y="499283"/>
                  <a:pt x="3432983" y="533400"/>
                  <a:pt x="33908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" y="262890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Causal Reasoning Engine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56992" y="2590800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9600" y="2895600"/>
            <a:ext cx="3314700" cy="76200"/>
          </a:xfrm>
          <a:custGeom>
            <a:avLst/>
            <a:gdLst/>
            <a:ahLst/>
            <a:cxnLst/>
            <a:rect l="l" t="t" r="r" b="b"/>
            <a:pathLst>
              <a:path w="3314700" h="76200">
                <a:moveTo>
                  <a:pt x="38100" y="0"/>
                </a:moveTo>
                <a:lnTo>
                  <a:pt x="3276600" y="0"/>
                </a:lnTo>
                <a:cubicBezTo>
                  <a:pt x="3297628" y="0"/>
                  <a:pt x="3314700" y="17072"/>
                  <a:pt x="3314700" y="38100"/>
                </a:cubicBezTo>
                <a:lnTo>
                  <a:pt x="3314700" y="38100"/>
                </a:lnTo>
                <a:cubicBezTo>
                  <a:pt x="3314700" y="59128"/>
                  <a:pt x="3297628" y="76200"/>
                  <a:pt x="3276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600" y="2895600"/>
            <a:ext cx="2952750" cy="76200"/>
          </a:xfrm>
          <a:custGeom>
            <a:avLst/>
            <a:gdLst/>
            <a:ahLst/>
            <a:cxnLst/>
            <a:rect l="l" t="t" r="r" b="b"/>
            <a:pathLst>
              <a:path w="2952750" h="76200">
                <a:moveTo>
                  <a:pt x="38100" y="0"/>
                </a:moveTo>
                <a:lnTo>
                  <a:pt x="2914650" y="0"/>
                </a:lnTo>
                <a:cubicBezTo>
                  <a:pt x="2935678" y="0"/>
                  <a:pt x="2952750" y="17072"/>
                  <a:pt x="2952750" y="38100"/>
                </a:cubicBezTo>
                <a:lnTo>
                  <a:pt x="2952750" y="38100"/>
                </a:lnTo>
                <a:cubicBezTo>
                  <a:pt x="2952750" y="59128"/>
                  <a:pt x="2935678" y="76200"/>
                  <a:pt x="29146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3" name="Shape 21"/>
          <p:cNvSpPr/>
          <p:nvPr/>
        </p:nvSpPr>
        <p:spPr>
          <a:xfrm>
            <a:off x="4248150" y="838200"/>
            <a:ext cx="3714750" cy="2324100"/>
          </a:xfrm>
          <a:custGeom>
            <a:avLst/>
            <a:gdLst/>
            <a:ahLst/>
            <a:cxnLst/>
            <a:rect l="l" t="t" r="r" b="b"/>
            <a:pathLst>
              <a:path w="3714750" h="2324100">
                <a:moveTo>
                  <a:pt x="0" y="0"/>
                </a:moveTo>
                <a:lnTo>
                  <a:pt x="3638543" y="0"/>
                </a:lnTo>
                <a:cubicBezTo>
                  <a:pt x="3680631" y="0"/>
                  <a:pt x="3714750" y="34119"/>
                  <a:pt x="3714750" y="76207"/>
                </a:cubicBezTo>
                <a:lnTo>
                  <a:pt x="3714750" y="2247893"/>
                </a:lnTo>
                <a:cubicBezTo>
                  <a:pt x="3714750" y="2289981"/>
                  <a:pt x="3680631" y="2324100"/>
                  <a:pt x="3638543" y="2324100"/>
                </a:cubicBez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24" name="Shape 22"/>
          <p:cNvSpPr/>
          <p:nvPr/>
        </p:nvSpPr>
        <p:spPr>
          <a:xfrm>
            <a:off x="4248150" y="838200"/>
            <a:ext cx="38100" cy="2324100"/>
          </a:xfrm>
          <a:custGeom>
            <a:avLst/>
            <a:gdLst/>
            <a:ahLst/>
            <a:cxnLst/>
            <a:rect l="l" t="t" r="r" b="b"/>
            <a:pathLst>
              <a:path w="38100" h="2324100">
                <a:moveTo>
                  <a:pt x="0" y="0"/>
                </a:moveTo>
                <a:lnTo>
                  <a:pt x="38100" y="0"/>
                </a:lnTo>
                <a:lnTo>
                  <a:pt x="3810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3881" y="10001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6" name="Text 24"/>
          <p:cNvSpPr/>
          <p:nvPr/>
        </p:nvSpPr>
        <p:spPr>
          <a:xfrm>
            <a:off x="4600575" y="952500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Performance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81500" y="1295400"/>
            <a:ext cx="3467100" cy="381000"/>
          </a:xfrm>
          <a:custGeom>
            <a:avLst/>
            <a:gdLst/>
            <a:ahLst/>
            <a:cxnLst/>
            <a:rect l="l" t="t" r="r" b="b"/>
            <a:pathLst>
              <a:path w="3467100" h="381000">
                <a:moveTo>
                  <a:pt x="76200" y="0"/>
                </a:moveTo>
                <a:lnTo>
                  <a:pt x="3390900" y="0"/>
                </a:lnTo>
                <a:cubicBezTo>
                  <a:pt x="3432956" y="0"/>
                  <a:pt x="3467100" y="34144"/>
                  <a:pt x="3467100" y="76200"/>
                </a:cubicBezTo>
                <a:lnTo>
                  <a:pt x="3467100" y="304800"/>
                </a:lnTo>
                <a:cubicBezTo>
                  <a:pt x="3467100" y="346856"/>
                  <a:pt x="3432956" y="381000"/>
                  <a:pt x="33909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4457700" y="139065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 Tracking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86174" y="1371600"/>
            <a:ext cx="36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81500" y="1752600"/>
            <a:ext cx="3467100" cy="381000"/>
          </a:xfrm>
          <a:custGeom>
            <a:avLst/>
            <a:gdLst/>
            <a:ahLst/>
            <a:cxnLst/>
            <a:rect l="l" t="t" r="r" b="b"/>
            <a:pathLst>
              <a:path w="3467100" h="381000">
                <a:moveTo>
                  <a:pt x="76200" y="0"/>
                </a:moveTo>
                <a:lnTo>
                  <a:pt x="3390900" y="0"/>
                </a:lnTo>
                <a:cubicBezTo>
                  <a:pt x="3432956" y="0"/>
                  <a:pt x="3467100" y="34144"/>
                  <a:pt x="3467100" y="76200"/>
                </a:cubicBezTo>
                <a:lnTo>
                  <a:pt x="3467100" y="304800"/>
                </a:lnTo>
                <a:cubicBezTo>
                  <a:pt x="3467100" y="346856"/>
                  <a:pt x="3432956" y="381000"/>
                  <a:pt x="33909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Text 29"/>
          <p:cNvSpPr/>
          <p:nvPr/>
        </p:nvSpPr>
        <p:spPr>
          <a:xfrm>
            <a:off x="4457700" y="184785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 Retrieval (P@10)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15225" y="1828800"/>
            <a:ext cx="33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91%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81500" y="2209800"/>
            <a:ext cx="3467100" cy="381000"/>
          </a:xfrm>
          <a:custGeom>
            <a:avLst/>
            <a:gdLst/>
            <a:ahLst/>
            <a:cxnLst/>
            <a:rect l="l" t="t" r="r" b="b"/>
            <a:pathLst>
              <a:path w="3467100" h="381000">
                <a:moveTo>
                  <a:pt x="76200" y="0"/>
                </a:moveTo>
                <a:lnTo>
                  <a:pt x="3390900" y="0"/>
                </a:lnTo>
                <a:cubicBezTo>
                  <a:pt x="3432956" y="0"/>
                  <a:pt x="3467100" y="34144"/>
                  <a:pt x="3467100" y="76200"/>
                </a:cubicBezTo>
                <a:lnTo>
                  <a:pt x="3467100" y="304800"/>
                </a:lnTo>
                <a:cubicBezTo>
                  <a:pt x="3467100" y="346856"/>
                  <a:pt x="3432956" y="381000"/>
                  <a:pt x="33909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Text 32"/>
          <p:cNvSpPr/>
          <p:nvPr/>
        </p:nvSpPr>
        <p:spPr>
          <a:xfrm>
            <a:off x="4457700" y="230505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Causal ID Accuracy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92961" y="2286000"/>
            <a:ext cx="3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87%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81500" y="2667000"/>
            <a:ext cx="3467100" cy="381000"/>
          </a:xfrm>
          <a:custGeom>
            <a:avLst/>
            <a:gdLst/>
            <a:ahLst/>
            <a:cxnLst/>
            <a:rect l="l" t="t" r="r" b="b"/>
            <a:pathLst>
              <a:path w="3467100" h="381000">
                <a:moveTo>
                  <a:pt x="76200" y="0"/>
                </a:moveTo>
                <a:lnTo>
                  <a:pt x="3390900" y="0"/>
                </a:lnTo>
                <a:cubicBezTo>
                  <a:pt x="3432956" y="0"/>
                  <a:pt x="3467100" y="34144"/>
                  <a:pt x="3467100" y="76200"/>
                </a:cubicBezTo>
                <a:lnTo>
                  <a:pt x="3467100" y="304800"/>
                </a:lnTo>
                <a:cubicBezTo>
                  <a:pt x="3467100" y="346856"/>
                  <a:pt x="3432956" y="381000"/>
                  <a:pt x="33909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Text 35"/>
          <p:cNvSpPr/>
          <p:nvPr/>
        </p:nvSpPr>
        <p:spPr>
          <a:xfrm>
            <a:off x="4457700" y="276225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Classification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78554" y="2743200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89%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96250" y="838200"/>
            <a:ext cx="3714750" cy="2324100"/>
          </a:xfrm>
          <a:custGeom>
            <a:avLst/>
            <a:gdLst/>
            <a:ahLst/>
            <a:cxnLst/>
            <a:rect l="l" t="t" r="r" b="b"/>
            <a:pathLst>
              <a:path w="3714750" h="2324100">
                <a:moveTo>
                  <a:pt x="0" y="0"/>
                </a:moveTo>
                <a:lnTo>
                  <a:pt x="3638543" y="0"/>
                </a:lnTo>
                <a:cubicBezTo>
                  <a:pt x="3680631" y="0"/>
                  <a:pt x="3714750" y="34119"/>
                  <a:pt x="3714750" y="76207"/>
                </a:cubicBezTo>
                <a:lnTo>
                  <a:pt x="3714750" y="2247893"/>
                </a:lnTo>
                <a:cubicBezTo>
                  <a:pt x="3714750" y="2289981"/>
                  <a:pt x="3680631" y="2324100"/>
                  <a:pt x="3638543" y="2324100"/>
                </a:cubicBez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40" name="Shape 38"/>
          <p:cNvSpPr/>
          <p:nvPr/>
        </p:nvSpPr>
        <p:spPr>
          <a:xfrm>
            <a:off x="8096250" y="838200"/>
            <a:ext cx="38100" cy="2324100"/>
          </a:xfrm>
          <a:custGeom>
            <a:avLst/>
            <a:gdLst/>
            <a:ahLst/>
            <a:cxnLst/>
            <a:rect l="l" t="t" r="r" b="b"/>
            <a:pathLst>
              <a:path w="38100" h="2324100">
                <a:moveTo>
                  <a:pt x="0" y="0"/>
                </a:moveTo>
                <a:lnTo>
                  <a:pt x="38100" y="0"/>
                </a:lnTo>
                <a:lnTo>
                  <a:pt x="3810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1" name="Shape 39"/>
          <p:cNvSpPr/>
          <p:nvPr/>
        </p:nvSpPr>
        <p:spPr>
          <a:xfrm>
            <a:off x="8253412" y="1000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2" name="Text 40"/>
          <p:cNvSpPr/>
          <p:nvPr/>
        </p:nvSpPr>
        <p:spPr>
          <a:xfrm>
            <a:off x="8448675" y="952500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Computational Efficiency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29600" y="1390892"/>
            <a:ext cx="3467100" cy="647700"/>
          </a:xfrm>
          <a:custGeom>
            <a:avLst/>
            <a:gdLst/>
            <a:ahLst/>
            <a:cxnLst/>
            <a:rect l="l" t="t" r="r" b="b"/>
            <a:pathLst>
              <a:path w="3467100" h="647700">
                <a:moveTo>
                  <a:pt x="76202" y="0"/>
                </a:moveTo>
                <a:lnTo>
                  <a:pt x="3390898" y="0"/>
                </a:lnTo>
                <a:cubicBezTo>
                  <a:pt x="3432983" y="0"/>
                  <a:pt x="3467100" y="34117"/>
                  <a:pt x="3467100" y="76202"/>
                </a:cubicBezTo>
                <a:lnTo>
                  <a:pt x="3467100" y="571498"/>
                </a:lnTo>
                <a:cubicBezTo>
                  <a:pt x="3467100" y="613583"/>
                  <a:pt x="3432983" y="647700"/>
                  <a:pt x="33908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Text 42"/>
          <p:cNvSpPr/>
          <p:nvPr/>
        </p:nvSpPr>
        <p:spPr>
          <a:xfrm>
            <a:off x="8277225" y="1467092"/>
            <a:ext cx="3371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Tokens/Second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48650" y="1657471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2,400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29600" y="2152650"/>
            <a:ext cx="3467100" cy="800100"/>
          </a:xfrm>
          <a:custGeom>
            <a:avLst/>
            <a:gdLst/>
            <a:ahLst/>
            <a:cxnLst/>
            <a:rect l="l" t="t" r="r" b="b"/>
            <a:pathLst>
              <a:path w="3467100" h="800100">
                <a:moveTo>
                  <a:pt x="76202" y="0"/>
                </a:moveTo>
                <a:lnTo>
                  <a:pt x="3390898" y="0"/>
                </a:lnTo>
                <a:cubicBezTo>
                  <a:pt x="3432983" y="0"/>
                  <a:pt x="3467100" y="34117"/>
                  <a:pt x="3467100" y="76202"/>
                </a:cubicBezTo>
                <a:lnTo>
                  <a:pt x="3467100" y="723898"/>
                </a:lnTo>
                <a:cubicBezTo>
                  <a:pt x="3467100" y="765983"/>
                  <a:pt x="3432983" y="800100"/>
                  <a:pt x="33908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7" name="Text 45"/>
          <p:cNvSpPr/>
          <p:nvPr/>
        </p:nvSpPr>
        <p:spPr>
          <a:xfrm>
            <a:off x="8277225" y="2228850"/>
            <a:ext cx="3371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kern="0" spc="45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48650" y="2419238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</a:t>
            </a:r>
            <a:r>
              <a:rPr lang="en-US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</a:t>
            </a:r>
            <a:r>
              <a:rPr lang="en-US" sz="18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77225" y="2723917"/>
            <a:ext cx="3371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vs. naive approach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1000" y="3257550"/>
            <a:ext cx="11430000" cy="2495550"/>
          </a:xfrm>
          <a:custGeom>
            <a:avLst/>
            <a:gdLst/>
            <a:ahLst/>
            <a:cxnLst/>
            <a:rect l="l" t="t" r="r" b="b"/>
            <a:pathLst>
              <a:path w="11430000" h="2495550">
                <a:moveTo>
                  <a:pt x="0" y="0"/>
                </a:moveTo>
                <a:lnTo>
                  <a:pt x="11430000" y="0"/>
                </a:lnTo>
                <a:lnTo>
                  <a:pt x="11430000" y="2419361"/>
                </a:lnTo>
                <a:cubicBezTo>
                  <a:pt x="11430000" y="2461439"/>
                  <a:pt x="11395889" y="2495550"/>
                  <a:pt x="11353811" y="2495550"/>
                </a:cubicBezTo>
                <a:lnTo>
                  <a:pt x="76189" y="2495550"/>
                </a:lnTo>
                <a:cubicBezTo>
                  <a:pt x="34139" y="2495550"/>
                  <a:pt x="0" y="2461411"/>
                  <a:pt x="0" y="2419361"/>
                </a:cubicBezTo>
                <a:lnTo>
                  <a:pt x="0" y="0"/>
                </a:lnTo>
                <a:close/>
              </a:path>
            </a:pathLst>
          </a:custGeom>
          <a:solidFill>
            <a:srgbClr val="2A2F35"/>
          </a:solidFill>
          <a:ln/>
        </p:spPr>
      </p:sp>
      <p:sp>
        <p:nvSpPr>
          <p:cNvPr id="51" name="Shape 49"/>
          <p:cNvSpPr/>
          <p:nvPr/>
        </p:nvSpPr>
        <p:spPr>
          <a:xfrm>
            <a:off x="381000" y="3257550"/>
            <a:ext cx="11430000" cy="38100"/>
          </a:xfrm>
          <a:custGeom>
            <a:avLst/>
            <a:gdLst/>
            <a:ahLst/>
            <a:cxnLst/>
            <a:rect l="l" t="t" r="r" b="b"/>
            <a:pathLst>
              <a:path w="11430000" h="38100">
                <a:moveTo>
                  <a:pt x="0" y="0"/>
                </a:moveTo>
                <a:lnTo>
                  <a:pt x="11430000" y="0"/>
                </a:lnTo>
                <a:lnTo>
                  <a:pt x="11430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2" name="Shape 50"/>
          <p:cNvSpPr/>
          <p:nvPr/>
        </p:nvSpPr>
        <p:spPr>
          <a:xfrm>
            <a:off x="529828" y="34385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56257" y="10716"/>
                </a:moveTo>
                <a:lnTo>
                  <a:pt x="8037" y="10716"/>
                </a:lnTo>
                <a:cubicBezTo>
                  <a:pt x="3583" y="10716"/>
                  <a:pt x="0" y="14299"/>
                  <a:pt x="0" y="18752"/>
                </a:cubicBezTo>
                <a:lnTo>
                  <a:pt x="0" y="66973"/>
                </a:lnTo>
                <a:cubicBezTo>
                  <a:pt x="0" y="70221"/>
                  <a:pt x="1942" y="73168"/>
                  <a:pt x="4956" y="74407"/>
                </a:cubicBezTo>
                <a:cubicBezTo>
                  <a:pt x="7970" y="75646"/>
                  <a:pt x="11419" y="74942"/>
                  <a:pt x="13729" y="72665"/>
                </a:cubicBezTo>
                <a:lnTo>
                  <a:pt x="27124" y="59271"/>
                </a:lnTo>
                <a:lnTo>
                  <a:pt x="53578" y="85725"/>
                </a:lnTo>
                <a:lnTo>
                  <a:pt x="27124" y="112179"/>
                </a:lnTo>
                <a:lnTo>
                  <a:pt x="13729" y="98785"/>
                </a:lnTo>
                <a:cubicBezTo>
                  <a:pt x="11419" y="96474"/>
                  <a:pt x="7970" y="95804"/>
                  <a:pt x="4956" y="97043"/>
                </a:cubicBezTo>
                <a:cubicBezTo>
                  <a:pt x="1942" y="98282"/>
                  <a:pt x="0" y="101229"/>
                  <a:pt x="0" y="104477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lnTo>
                  <a:pt x="56257" y="160734"/>
                </a:lnTo>
                <a:cubicBezTo>
                  <a:pt x="59505" y="160734"/>
                  <a:pt x="62452" y="158792"/>
                  <a:pt x="63691" y="155778"/>
                </a:cubicBezTo>
                <a:cubicBezTo>
                  <a:pt x="64930" y="152765"/>
                  <a:pt x="64260" y="149316"/>
                  <a:pt x="61950" y="147005"/>
                </a:cubicBezTo>
                <a:lnTo>
                  <a:pt x="48555" y="133610"/>
                </a:lnTo>
                <a:lnTo>
                  <a:pt x="75009" y="107156"/>
                </a:lnTo>
                <a:lnTo>
                  <a:pt x="101464" y="133610"/>
                </a:lnTo>
                <a:lnTo>
                  <a:pt x="88069" y="147005"/>
                </a:lnTo>
                <a:cubicBezTo>
                  <a:pt x="85758" y="149316"/>
                  <a:pt x="85089" y="152765"/>
                  <a:pt x="86328" y="155778"/>
                </a:cubicBezTo>
                <a:cubicBezTo>
                  <a:pt x="87567" y="158792"/>
                  <a:pt x="90514" y="160734"/>
                  <a:pt x="93762" y="160734"/>
                </a:cubicBezTo>
                <a:lnTo>
                  <a:pt x="141982" y="160734"/>
                </a:lnTo>
                <a:cubicBezTo>
                  <a:pt x="146436" y="160734"/>
                  <a:pt x="150019" y="157151"/>
                  <a:pt x="150019" y="152698"/>
                </a:cubicBezTo>
                <a:lnTo>
                  <a:pt x="150019" y="104477"/>
                </a:lnTo>
                <a:cubicBezTo>
                  <a:pt x="150019" y="101229"/>
                  <a:pt x="148077" y="98282"/>
                  <a:pt x="145063" y="97043"/>
                </a:cubicBezTo>
                <a:cubicBezTo>
                  <a:pt x="142049" y="95804"/>
                  <a:pt x="138600" y="96474"/>
                  <a:pt x="136289" y="98785"/>
                </a:cubicBezTo>
                <a:lnTo>
                  <a:pt x="122895" y="112179"/>
                </a:lnTo>
                <a:lnTo>
                  <a:pt x="96441" y="85725"/>
                </a:lnTo>
                <a:lnTo>
                  <a:pt x="122895" y="59271"/>
                </a:lnTo>
                <a:lnTo>
                  <a:pt x="136289" y="72665"/>
                </a:lnTo>
                <a:cubicBezTo>
                  <a:pt x="138600" y="74976"/>
                  <a:pt x="142049" y="75646"/>
                  <a:pt x="145063" y="74407"/>
                </a:cubicBezTo>
                <a:cubicBezTo>
                  <a:pt x="148077" y="73168"/>
                  <a:pt x="150019" y="70221"/>
                  <a:pt x="150019" y="66973"/>
                </a:cubicBezTo>
                <a:lnTo>
                  <a:pt x="150019" y="18752"/>
                </a:lnTo>
                <a:cubicBezTo>
                  <a:pt x="150019" y="14299"/>
                  <a:pt x="146436" y="10716"/>
                  <a:pt x="141982" y="10716"/>
                </a:cubicBezTo>
                <a:lnTo>
                  <a:pt x="93762" y="10716"/>
                </a:lnTo>
                <a:cubicBezTo>
                  <a:pt x="90514" y="10716"/>
                  <a:pt x="87567" y="12658"/>
                  <a:pt x="86328" y="15672"/>
                </a:cubicBezTo>
                <a:cubicBezTo>
                  <a:pt x="85089" y="18685"/>
                  <a:pt x="85792" y="22134"/>
                  <a:pt x="88069" y="24445"/>
                </a:cubicBezTo>
                <a:lnTo>
                  <a:pt x="101464" y="37840"/>
                </a:lnTo>
                <a:lnTo>
                  <a:pt x="75009" y="64294"/>
                </a:lnTo>
                <a:lnTo>
                  <a:pt x="48555" y="37840"/>
                </a:lnTo>
                <a:lnTo>
                  <a:pt x="61950" y="24445"/>
                </a:lnTo>
                <a:cubicBezTo>
                  <a:pt x="64260" y="22134"/>
                  <a:pt x="64930" y="18685"/>
                  <a:pt x="63691" y="15672"/>
                </a:cubicBezTo>
                <a:cubicBezTo>
                  <a:pt x="62452" y="12658"/>
                  <a:pt x="59505" y="10716"/>
                  <a:pt x="56257" y="1071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3" name="Text 51"/>
          <p:cNvSpPr/>
          <p:nvPr/>
        </p:nvSpPr>
        <p:spPr>
          <a:xfrm>
            <a:off x="714375" y="3390900"/>
            <a:ext cx="1106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 Across Narrative Lengths</a:t>
            </a:r>
            <a:endParaRPr lang="en-US" sz="1600" dirty="0"/>
          </a:p>
        </p:txBody>
      </p:sp>
      <p:pic>
        <p:nvPicPr>
          <p:cNvPr id="54" name="Image 0" descr="https://kimi-img.moonshot.cn/pub/slides/26-01-17-07:37:32-d5lcnf7hq49vqm3t5on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5300" y="3733800"/>
            <a:ext cx="11201400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55" name="Shape 52"/>
          <p:cNvSpPr/>
          <p:nvPr/>
        </p:nvSpPr>
        <p:spPr>
          <a:xfrm>
            <a:off x="400050" y="5829300"/>
            <a:ext cx="11410950" cy="590550"/>
          </a:xfrm>
          <a:custGeom>
            <a:avLst/>
            <a:gdLst/>
            <a:ahLst/>
            <a:cxnLst/>
            <a:rect l="l" t="t" r="r" b="b"/>
            <a:pathLst>
              <a:path w="11410950" h="590550">
                <a:moveTo>
                  <a:pt x="38100" y="0"/>
                </a:moveTo>
                <a:lnTo>
                  <a:pt x="11334751" y="0"/>
                </a:lnTo>
                <a:cubicBezTo>
                  <a:pt x="11376835" y="0"/>
                  <a:pt x="11410950" y="34115"/>
                  <a:pt x="11410950" y="76199"/>
                </a:cubicBezTo>
                <a:lnTo>
                  <a:pt x="11410950" y="514351"/>
                </a:lnTo>
                <a:cubicBezTo>
                  <a:pt x="11410950" y="556435"/>
                  <a:pt x="11376835" y="590550"/>
                  <a:pt x="11334751" y="590550"/>
                </a:cubicBez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50000">
                <a:srgbClr val="C5A57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6" name="Shape 53"/>
          <p:cNvSpPr/>
          <p:nvPr/>
        </p:nvSpPr>
        <p:spPr>
          <a:xfrm>
            <a:off x="400050" y="5829300"/>
            <a:ext cx="38100" cy="590550"/>
          </a:xfrm>
          <a:custGeom>
            <a:avLst/>
            <a:gdLst/>
            <a:ahLst/>
            <a:cxnLst/>
            <a:rect l="l" t="t" r="r" b="b"/>
            <a:pathLst>
              <a:path w="38100" h="590550">
                <a:moveTo>
                  <a:pt x="38100" y="0"/>
                </a:moveTo>
                <a:lnTo>
                  <a:pt x="38100" y="0"/>
                </a:lnTo>
                <a:lnTo>
                  <a:pt x="38100" y="590550"/>
                </a:ln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7" name="Shape 54"/>
          <p:cNvSpPr/>
          <p:nvPr/>
        </p:nvSpPr>
        <p:spPr>
          <a:xfrm>
            <a:off x="514350" y="5943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8" name="Text 55"/>
          <p:cNvSpPr/>
          <p:nvPr/>
        </p:nvSpPr>
        <p:spPr>
          <a:xfrm>
            <a:off x="723900" y="5905500"/>
            <a:ext cx="11077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Summary:</a:t>
            </a: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Causal Reasoning Engine achieves 89% accuracy (27% improvement over baseline) while reducing computational cost by 30% through staged verification. Performance remains stable across 10K-100K+ token narratives, demonstrating robust scalability for real-world applications.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c57af351e5a2b033dea38adc967592dcef25722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026" b="7026"/>
          <a:stretch/>
        </p:blipFill>
        <p:spPr>
          <a:xfrm>
            <a:off x="0" y="0"/>
            <a:ext cx="12192000" cy="6980224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980224"/>
          </a:xfrm>
          <a:custGeom>
            <a:avLst/>
            <a:gdLst/>
            <a:ahLst/>
            <a:cxnLst/>
            <a:rect l="l" t="t" r="r" b="b"/>
            <a:pathLst>
              <a:path w="12192000" h="6980224">
                <a:moveTo>
                  <a:pt x="0" y="0"/>
                </a:moveTo>
                <a:lnTo>
                  <a:pt x="12192000" y="0"/>
                </a:lnTo>
                <a:lnTo>
                  <a:pt x="12192000" y="6980224"/>
                </a:lnTo>
                <a:lnTo>
                  <a:pt x="0" y="698022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D8F8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73061" y="3862"/>
            <a:ext cx="2047283" cy="381760"/>
          </a:xfrm>
          <a:custGeom>
            <a:avLst/>
            <a:gdLst/>
            <a:ahLst/>
            <a:cxnLst/>
            <a:rect l="l" t="t" r="r" b="b"/>
            <a:pathLst>
              <a:path w="2047283" h="381760">
                <a:moveTo>
                  <a:pt x="37428" y="0"/>
                </a:moveTo>
                <a:lnTo>
                  <a:pt x="2009855" y="0"/>
                </a:lnTo>
                <a:cubicBezTo>
                  <a:pt x="2030526" y="0"/>
                  <a:pt x="2047283" y="16757"/>
                  <a:pt x="2047283" y="37428"/>
                </a:cubicBezTo>
                <a:lnTo>
                  <a:pt x="2047283" y="344332"/>
                </a:lnTo>
                <a:cubicBezTo>
                  <a:pt x="2047283" y="364989"/>
                  <a:pt x="2030512" y="381760"/>
                  <a:pt x="2009855" y="381760"/>
                </a:cubicBezTo>
                <a:lnTo>
                  <a:pt x="37428" y="381760"/>
                </a:lnTo>
                <a:cubicBezTo>
                  <a:pt x="16757" y="381760"/>
                  <a:pt x="0" y="365003"/>
                  <a:pt x="0" y="344332"/>
                </a:cubicBezTo>
                <a:lnTo>
                  <a:pt x="0" y="37428"/>
                </a:lnTo>
                <a:cubicBezTo>
                  <a:pt x="0" y="16757"/>
                  <a:pt x="16757" y="0"/>
                  <a:pt x="37428" y="0"/>
                </a:cubicBezTo>
                <a:close/>
              </a:path>
            </a:pathLst>
          </a:custGeom>
          <a:solidFill>
            <a:srgbClr val="3D8F8A">
              <a:alpha val="14902"/>
            </a:srgbClr>
          </a:solidFill>
          <a:ln w="10160">
            <a:solidFill>
              <a:srgbClr val="3D8F8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31192" y="127378"/>
            <a:ext cx="1730553" cy="14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1" b="1" kern="0" spc="206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Path Forward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983219" y="838500"/>
            <a:ext cx="4229305" cy="1403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2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Prediction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42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Reasoning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97628" y="2466595"/>
            <a:ext cx="1197679" cy="0"/>
          </a:xfrm>
          <a:custGeom>
            <a:avLst/>
            <a:gdLst/>
            <a:ahLst/>
            <a:cxnLst/>
            <a:rect l="l" t="t" r="r" b="b"/>
            <a:pathLst>
              <a:path w="1197679">
                <a:moveTo>
                  <a:pt x="0" y="0"/>
                </a:moveTo>
                <a:lnTo>
                  <a:pt x="1197679" y="0"/>
                </a:lnTo>
                <a:lnTo>
                  <a:pt x="1197679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8" name="Text 5"/>
          <p:cNvSpPr/>
          <p:nvPr/>
        </p:nvSpPr>
        <p:spPr>
          <a:xfrm>
            <a:off x="1857806" y="2691160"/>
            <a:ext cx="8477323" cy="91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Causal Reasoning Engine demonstrates that </a:t>
            </a:r>
            <a:r>
              <a:rPr lang="en-US" sz="1474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 without modifying foundation models</a:t>
            </a:r>
            <a:r>
              <a:rPr lang="en-US" sz="14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we can architect systems that enhance LLM reasoning capabilities through structured knowledge extraction, multi-modal verification, and constraint-aware processing.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57806" y="3753164"/>
            <a:ext cx="8477323" cy="60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approach </a:t>
            </a:r>
            <a:r>
              <a:rPr lang="en-US" sz="1474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bridges the gap between pattern matching and true causal understanding</a:t>
            </a:r>
            <a:r>
              <a:rPr lang="en-US" sz="14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—one step at a time.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063205" y="4679494"/>
            <a:ext cx="1871374" cy="1066683"/>
          </a:xfrm>
          <a:custGeom>
            <a:avLst/>
            <a:gdLst/>
            <a:ahLst/>
            <a:cxnLst/>
            <a:rect l="l" t="t" r="r" b="b"/>
            <a:pathLst>
              <a:path w="1871374" h="1066683">
                <a:moveTo>
                  <a:pt x="37427" y="0"/>
                </a:moveTo>
                <a:lnTo>
                  <a:pt x="1833946" y="0"/>
                </a:lnTo>
                <a:cubicBezTo>
                  <a:pt x="1854617" y="0"/>
                  <a:pt x="1871374" y="16757"/>
                  <a:pt x="1871374" y="37427"/>
                </a:cubicBezTo>
                <a:lnTo>
                  <a:pt x="1871374" y="991823"/>
                </a:lnTo>
                <a:cubicBezTo>
                  <a:pt x="1871374" y="1033167"/>
                  <a:pt x="1837858" y="1066683"/>
                  <a:pt x="1796514" y="1066683"/>
                </a:cubicBezTo>
                <a:lnTo>
                  <a:pt x="74860" y="1066683"/>
                </a:lnTo>
                <a:cubicBezTo>
                  <a:pt x="33516" y="1066683"/>
                  <a:pt x="0" y="1033167"/>
                  <a:pt x="0" y="991823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2A2F35">
              <a:alpha val="8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063205" y="4679494"/>
            <a:ext cx="1871374" cy="37427"/>
          </a:xfrm>
          <a:custGeom>
            <a:avLst/>
            <a:gdLst/>
            <a:ahLst/>
            <a:cxnLst/>
            <a:rect l="l" t="t" r="r" b="b"/>
            <a:pathLst>
              <a:path w="1871374" h="37427">
                <a:moveTo>
                  <a:pt x="37427" y="0"/>
                </a:moveTo>
                <a:lnTo>
                  <a:pt x="1833946" y="0"/>
                </a:lnTo>
                <a:cubicBezTo>
                  <a:pt x="1854617" y="0"/>
                  <a:pt x="1871374" y="16757"/>
                  <a:pt x="1871374" y="37427"/>
                </a:cubicBezTo>
                <a:lnTo>
                  <a:pt x="1871374" y="37427"/>
                </a:lnTo>
                <a:lnTo>
                  <a:pt x="0" y="37427"/>
                </a:ln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2" name="Text 9"/>
          <p:cNvSpPr/>
          <p:nvPr/>
        </p:nvSpPr>
        <p:spPr>
          <a:xfrm>
            <a:off x="3166130" y="4885345"/>
            <a:ext cx="1665523" cy="374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52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212915" y="5334475"/>
            <a:ext cx="1571954" cy="22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9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Achievement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60196" y="4679494"/>
            <a:ext cx="1871374" cy="1066683"/>
          </a:xfrm>
          <a:custGeom>
            <a:avLst/>
            <a:gdLst/>
            <a:ahLst/>
            <a:cxnLst/>
            <a:rect l="l" t="t" r="r" b="b"/>
            <a:pathLst>
              <a:path w="1871374" h="1066683">
                <a:moveTo>
                  <a:pt x="37427" y="0"/>
                </a:moveTo>
                <a:lnTo>
                  <a:pt x="1833946" y="0"/>
                </a:lnTo>
                <a:cubicBezTo>
                  <a:pt x="1854617" y="0"/>
                  <a:pt x="1871374" y="16757"/>
                  <a:pt x="1871374" y="37427"/>
                </a:cubicBezTo>
                <a:lnTo>
                  <a:pt x="1871374" y="991823"/>
                </a:lnTo>
                <a:cubicBezTo>
                  <a:pt x="1871374" y="1033167"/>
                  <a:pt x="1837858" y="1066683"/>
                  <a:pt x="1796514" y="1066683"/>
                </a:cubicBezTo>
                <a:lnTo>
                  <a:pt x="74860" y="1066683"/>
                </a:lnTo>
                <a:cubicBezTo>
                  <a:pt x="33516" y="1066683"/>
                  <a:pt x="0" y="1033167"/>
                  <a:pt x="0" y="991823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2A2F35">
              <a:alpha val="8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160196" y="4679494"/>
            <a:ext cx="1871374" cy="37427"/>
          </a:xfrm>
          <a:custGeom>
            <a:avLst/>
            <a:gdLst/>
            <a:ahLst/>
            <a:cxnLst/>
            <a:rect l="l" t="t" r="r" b="b"/>
            <a:pathLst>
              <a:path w="1871374" h="37427">
                <a:moveTo>
                  <a:pt x="37427" y="0"/>
                </a:moveTo>
                <a:lnTo>
                  <a:pt x="1833946" y="0"/>
                </a:lnTo>
                <a:cubicBezTo>
                  <a:pt x="1854617" y="0"/>
                  <a:pt x="1871374" y="16757"/>
                  <a:pt x="1871374" y="37427"/>
                </a:cubicBezTo>
                <a:lnTo>
                  <a:pt x="1871374" y="37427"/>
                </a:lnTo>
                <a:lnTo>
                  <a:pt x="0" y="37427"/>
                </a:ln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6" name="Text 13"/>
          <p:cNvSpPr/>
          <p:nvPr/>
        </p:nvSpPr>
        <p:spPr>
          <a:xfrm>
            <a:off x="5263122" y="4885345"/>
            <a:ext cx="1665523" cy="374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52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-30%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09906" y="5334475"/>
            <a:ext cx="1571954" cy="22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9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257188" y="4679494"/>
            <a:ext cx="1871374" cy="1066683"/>
          </a:xfrm>
          <a:custGeom>
            <a:avLst/>
            <a:gdLst/>
            <a:ahLst/>
            <a:cxnLst/>
            <a:rect l="l" t="t" r="r" b="b"/>
            <a:pathLst>
              <a:path w="1871374" h="1066683">
                <a:moveTo>
                  <a:pt x="37427" y="0"/>
                </a:moveTo>
                <a:lnTo>
                  <a:pt x="1833946" y="0"/>
                </a:lnTo>
                <a:cubicBezTo>
                  <a:pt x="1854617" y="0"/>
                  <a:pt x="1871374" y="16757"/>
                  <a:pt x="1871374" y="37427"/>
                </a:cubicBezTo>
                <a:lnTo>
                  <a:pt x="1871374" y="991823"/>
                </a:lnTo>
                <a:cubicBezTo>
                  <a:pt x="1871374" y="1033167"/>
                  <a:pt x="1837858" y="1066683"/>
                  <a:pt x="1796514" y="1066683"/>
                </a:cubicBezTo>
                <a:lnTo>
                  <a:pt x="74860" y="1066683"/>
                </a:lnTo>
                <a:cubicBezTo>
                  <a:pt x="33516" y="1066683"/>
                  <a:pt x="0" y="1033167"/>
                  <a:pt x="0" y="991823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2A2F35">
              <a:alpha val="8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257188" y="4679494"/>
            <a:ext cx="1871374" cy="37427"/>
          </a:xfrm>
          <a:custGeom>
            <a:avLst/>
            <a:gdLst/>
            <a:ahLst/>
            <a:cxnLst/>
            <a:rect l="l" t="t" r="r" b="b"/>
            <a:pathLst>
              <a:path w="1871374" h="37427">
                <a:moveTo>
                  <a:pt x="37427" y="0"/>
                </a:moveTo>
                <a:lnTo>
                  <a:pt x="1833946" y="0"/>
                </a:lnTo>
                <a:cubicBezTo>
                  <a:pt x="1854617" y="0"/>
                  <a:pt x="1871374" y="16757"/>
                  <a:pt x="1871374" y="37427"/>
                </a:cubicBezTo>
                <a:lnTo>
                  <a:pt x="1871374" y="37427"/>
                </a:lnTo>
                <a:lnTo>
                  <a:pt x="0" y="37427"/>
                </a:ln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0" name="Text 17"/>
          <p:cNvSpPr/>
          <p:nvPr/>
        </p:nvSpPr>
        <p:spPr>
          <a:xfrm>
            <a:off x="7360113" y="4885345"/>
            <a:ext cx="1665523" cy="374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52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100K+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406898" y="5334475"/>
            <a:ext cx="1571954" cy="22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9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 Scale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908333" y="6049340"/>
            <a:ext cx="8372526" cy="933816"/>
          </a:xfrm>
          <a:custGeom>
            <a:avLst/>
            <a:gdLst/>
            <a:ahLst/>
            <a:cxnLst/>
            <a:rect l="l" t="t" r="r" b="b"/>
            <a:pathLst>
              <a:path w="8372526" h="933816">
                <a:moveTo>
                  <a:pt x="74855" y="0"/>
                </a:moveTo>
                <a:lnTo>
                  <a:pt x="8297672" y="0"/>
                </a:lnTo>
                <a:cubicBezTo>
                  <a:pt x="8339013" y="0"/>
                  <a:pt x="8372526" y="33514"/>
                  <a:pt x="8372526" y="74855"/>
                </a:cubicBezTo>
                <a:lnTo>
                  <a:pt x="8372526" y="858961"/>
                </a:lnTo>
                <a:cubicBezTo>
                  <a:pt x="8372526" y="900302"/>
                  <a:pt x="8339013" y="933816"/>
                  <a:pt x="8297672" y="933816"/>
                </a:cubicBezTo>
                <a:lnTo>
                  <a:pt x="74855" y="933816"/>
                </a:lnTo>
                <a:cubicBezTo>
                  <a:pt x="33514" y="933816"/>
                  <a:pt x="0" y="900302"/>
                  <a:pt x="0" y="858961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50000">
                <a:srgbClr val="C5A57A">
                  <a:alpha val="20000"/>
                </a:srgbClr>
              </a:gs>
              <a:gs pos="100000">
                <a:srgbClr val="3D8F8A">
                  <a:alpha val="20000"/>
                </a:srgbClr>
              </a:gs>
            </a:gsLst>
            <a:lin ang="0" scaled="1"/>
          </a:gradFill>
          <a:ln w="1016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57108" y="6240218"/>
            <a:ext cx="8074978" cy="552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26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question is not whether LLMs can think, but how we can architect systems that make them reason—</a:t>
            </a:r>
            <a:r>
              <a:rPr lang="en-US" sz="1326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reliably, verifiably, and at scale.</a:t>
            </a:r>
            <a:r>
              <a:rPr lang="en-US" sz="1326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325</TotalTime>
  <Words>2250</Words>
  <Application>Microsoft Office PowerPoint</Application>
  <PresentationFormat>Widescreen</PresentationFormat>
  <Paragraphs>437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Quattrocento Sans</vt:lpstr>
      <vt:lpstr>Arial</vt:lpstr>
      <vt:lpstr>Century Gothic</vt:lpstr>
      <vt:lpstr>Liter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 Reasoning Engine</dc:title>
  <dc:subject>Causal Reasoning Engine</dc:subject>
  <dc:creator>Kimi</dc:creator>
  <cp:lastModifiedBy>Soumya Ranjan Das</cp:lastModifiedBy>
  <cp:revision>9</cp:revision>
  <dcterms:created xsi:type="dcterms:W3CDTF">2026-01-16T23:40:19Z</dcterms:created>
  <dcterms:modified xsi:type="dcterms:W3CDTF">2026-01-17T05:11:08Z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{"Label":"Causal Reasoning Engine","ContentProducer":"001191110108MACG2KBH8F10000","ProduceID":"19bc9282-d102-8e9d-8000-0000fc216600","ReservedCode1":"","ContentPropagator":"001191110108MACG2KBH8F20000","PropagateID":"19bc9282-d102-8e9d-8000-0000fc216600","ReservedCode2":""}</vt:lpwstr>
  </property>
</Properties>
</file>